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93" r:id="rId2"/>
    <p:sldId id="29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90" r:id="rId26"/>
    <p:sldId id="291" r:id="rId27"/>
    <p:sldId id="29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A"/>
    <a:srgbClr val="FFFFFF"/>
    <a:srgbClr val="4472C4"/>
    <a:srgbClr val="0000FF"/>
    <a:srgbClr val="F5FCFC"/>
    <a:srgbClr val="37D0E2"/>
    <a:srgbClr val="36C7D7"/>
    <a:srgbClr val="18C3D6"/>
    <a:srgbClr val="22D3EF"/>
    <a:srgbClr val="2D3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79567" autoAdjust="0"/>
  </p:normalViewPr>
  <p:slideViewPr>
    <p:cSldViewPr snapToGrid="0">
      <p:cViewPr varScale="1">
        <p:scale>
          <a:sx n="88" d="100"/>
          <a:sy n="88" d="100"/>
        </p:scale>
        <p:origin x="1500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22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D4B29-400F-4285-9793-B47B16C71FF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ACCE3-0533-47BF-BD7F-1911409AB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AFF34-85D7-4EB3-877C-EC34D622615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021AA-CC5A-4C02-BCCC-FFFB3AB36B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8" name="文本占位符 27"/>
          <p:cNvSpPr>
            <a:spLocks noGrp="1"/>
          </p:cNvSpPr>
          <p:nvPr>
            <p:ph type="body" sz="quarter" idx="10" hasCustomPrompt="1"/>
          </p:nvPr>
        </p:nvSpPr>
        <p:spPr>
          <a:xfrm>
            <a:off x="4932793" y="2537392"/>
            <a:ext cx="67512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400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一级标题</a:t>
            </a:r>
            <a:endParaRPr lang="en-US" altLang="zh-CN" dirty="0"/>
          </a:p>
        </p:txBody>
      </p:sp>
      <p:sp>
        <p:nvSpPr>
          <p:cNvPr id="30" name="文本占位符 27"/>
          <p:cNvSpPr>
            <a:spLocks noGrp="1"/>
          </p:cNvSpPr>
          <p:nvPr>
            <p:ph type="body" sz="quarter" idx="11" hasCustomPrompt="1"/>
          </p:nvPr>
        </p:nvSpPr>
        <p:spPr>
          <a:xfrm>
            <a:off x="4932793" y="3296705"/>
            <a:ext cx="675120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en-US" altLang="zh-CN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8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1" name="文本占位符 56"/>
          <p:cNvSpPr>
            <a:spLocks noGrp="1"/>
          </p:cNvSpPr>
          <p:nvPr>
            <p:ph type="body" sz="quarter" idx="13" hasCustomPrompt="1"/>
          </p:nvPr>
        </p:nvSpPr>
        <p:spPr>
          <a:xfrm>
            <a:off x="432934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2" name="文本占位符 56"/>
          <p:cNvSpPr>
            <a:spLocks noGrp="1"/>
          </p:cNvSpPr>
          <p:nvPr>
            <p:ph type="body" sz="quarter" idx="14" hasCustomPrompt="1"/>
          </p:nvPr>
        </p:nvSpPr>
        <p:spPr>
          <a:xfrm>
            <a:off x="432934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7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8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9" name="文本占位符 56"/>
          <p:cNvSpPr>
            <a:spLocks noGrp="1"/>
          </p:cNvSpPr>
          <p:nvPr>
            <p:ph type="body" sz="quarter" idx="17" hasCustomPrompt="1"/>
          </p:nvPr>
        </p:nvSpPr>
        <p:spPr>
          <a:xfrm>
            <a:off x="432934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7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432934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1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72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3" name="文本占位符 56"/>
          <p:cNvSpPr>
            <a:spLocks noGrp="1"/>
          </p:cNvSpPr>
          <p:nvPr>
            <p:ph type="body" sz="quarter" idx="21" hasCustomPrompt="1"/>
          </p:nvPr>
        </p:nvSpPr>
        <p:spPr>
          <a:xfrm>
            <a:off x="432934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74" name="文本占位符 56"/>
          <p:cNvSpPr>
            <a:spLocks noGrp="1"/>
          </p:cNvSpPr>
          <p:nvPr>
            <p:ph type="body" sz="quarter" idx="22" hasCustomPrompt="1"/>
          </p:nvPr>
        </p:nvSpPr>
        <p:spPr>
          <a:xfrm>
            <a:off x="432934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5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76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7" name="文本占位符 56"/>
          <p:cNvSpPr>
            <a:spLocks noGrp="1"/>
          </p:cNvSpPr>
          <p:nvPr>
            <p:ph type="body" sz="quarter" idx="25" hasCustomPrompt="1"/>
          </p:nvPr>
        </p:nvSpPr>
        <p:spPr>
          <a:xfrm>
            <a:off x="432934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78" name="文本占位符 56"/>
          <p:cNvSpPr>
            <a:spLocks noGrp="1"/>
          </p:cNvSpPr>
          <p:nvPr>
            <p:ph type="body" sz="quarter" idx="26" hasCustomPrompt="1"/>
          </p:nvPr>
        </p:nvSpPr>
        <p:spPr>
          <a:xfrm>
            <a:off x="432934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3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1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3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3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5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块介绍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/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6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2535018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endParaRPr lang="en-US" altLang="zh-CN" dirty="0"/>
          </a:p>
        </p:txBody>
      </p:sp>
      <p:sp>
        <p:nvSpPr>
          <p:cNvPr id="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19" y="3280114"/>
            <a:ext cx="940459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文版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5"/>
          <p:cNvSpPr>
            <a:spLocks noGrp="1" noChangeAspect="1"/>
          </p:cNvSpPr>
          <p:nvPr>
            <p:ph type="pic" sz="quarter" idx="21"/>
          </p:nvPr>
        </p:nvSpPr>
        <p:spPr>
          <a:xfrm>
            <a:off x="552053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27744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3" hasCustomPrompt="1"/>
          </p:nvPr>
        </p:nvSpPr>
        <p:spPr>
          <a:xfrm>
            <a:off x="527744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452231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188579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64270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164270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88757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19" name="图片占位符 5"/>
          <p:cNvSpPr>
            <a:spLocks noGrp="1" noChangeAspect="1"/>
          </p:cNvSpPr>
          <p:nvPr>
            <p:ph type="pic" sz="quarter" idx="29"/>
          </p:nvPr>
        </p:nvSpPr>
        <p:spPr>
          <a:xfrm>
            <a:off x="915527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891218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1" hasCustomPrompt="1"/>
          </p:nvPr>
        </p:nvSpPr>
        <p:spPr>
          <a:xfrm>
            <a:off x="891218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5705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297404"/>
            <a:ext cx="6188400" cy="46404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636602" y="1834974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6636602" y="2185482"/>
            <a:ext cx="48150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200" kern="120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70016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5"/>
          <p:cNvSpPr txBox="1"/>
          <p:nvPr/>
        </p:nvSpPr>
        <p:spPr>
          <a:xfrm>
            <a:off x="6982160" y="4586034"/>
            <a:ext cx="470742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</a:p>
        </p:txBody>
      </p:sp>
      <p:sp>
        <p:nvSpPr>
          <p:cNvPr id="18" name="标题 15"/>
          <p:cNvSpPr txBox="1"/>
          <p:nvPr userDrawn="1"/>
        </p:nvSpPr>
        <p:spPr>
          <a:xfrm>
            <a:off x="6370016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02414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114558" y="4586034"/>
            <a:ext cx="473023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</a:p>
        </p:txBody>
      </p:sp>
      <p:sp>
        <p:nvSpPr>
          <p:cNvPr id="22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</a:p>
        </p:txBody>
      </p:sp>
      <p:sp>
        <p:nvSpPr>
          <p:cNvPr id="2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标题 15"/>
          <p:cNvSpPr txBox="1"/>
          <p:nvPr userDrawn="1"/>
        </p:nvSpPr>
        <p:spPr>
          <a:xfrm>
            <a:off x="502414" y="4586034"/>
            <a:ext cx="531957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</a:p>
        </p:txBody>
      </p:sp>
      <p:sp>
        <p:nvSpPr>
          <p:cNvPr id="9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</a:p>
        </p:txBody>
      </p:sp>
      <p:sp>
        <p:nvSpPr>
          <p:cNvPr id="10" name="标题 15"/>
          <p:cNvSpPr txBox="1"/>
          <p:nvPr userDrawn="1"/>
        </p:nvSpPr>
        <p:spPr>
          <a:xfrm>
            <a:off x="6562858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11" name="标题 15"/>
          <p:cNvSpPr txBox="1"/>
          <p:nvPr userDrawn="1"/>
        </p:nvSpPr>
        <p:spPr>
          <a:xfrm>
            <a:off x="65587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3" name="标题 15"/>
          <p:cNvSpPr txBox="1"/>
          <p:nvPr userDrawn="1"/>
        </p:nvSpPr>
        <p:spPr>
          <a:xfrm>
            <a:off x="84256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5" name="标题 15"/>
          <p:cNvSpPr txBox="1"/>
          <p:nvPr userDrawn="1"/>
        </p:nvSpPr>
        <p:spPr>
          <a:xfrm>
            <a:off x="10284469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6" name="标题 15"/>
          <p:cNvSpPr txBox="1"/>
          <p:nvPr userDrawn="1"/>
        </p:nvSpPr>
        <p:spPr>
          <a:xfrm>
            <a:off x="6562858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17" name="标题 15"/>
          <p:cNvSpPr txBox="1"/>
          <p:nvPr userDrawn="1"/>
        </p:nvSpPr>
        <p:spPr>
          <a:xfrm>
            <a:off x="65587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19" name="标题 15"/>
          <p:cNvSpPr txBox="1"/>
          <p:nvPr userDrawn="1"/>
        </p:nvSpPr>
        <p:spPr>
          <a:xfrm>
            <a:off x="84256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21" name="标题 15"/>
          <p:cNvSpPr txBox="1"/>
          <p:nvPr userDrawn="1"/>
        </p:nvSpPr>
        <p:spPr>
          <a:xfrm>
            <a:off x="10284469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2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标题 15"/>
          <p:cNvSpPr txBox="1"/>
          <p:nvPr userDrawn="1"/>
        </p:nvSpPr>
        <p:spPr>
          <a:xfrm>
            <a:off x="842569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3" name="标题 15"/>
          <p:cNvSpPr txBox="1"/>
          <p:nvPr userDrawn="1"/>
        </p:nvSpPr>
        <p:spPr>
          <a:xfrm>
            <a:off x="842569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7" name="标题 15"/>
          <p:cNvSpPr txBox="1"/>
          <p:nvPr userDrawn="1"/>
        </p:nvSpPr>
        <p:spPr>
          <a:xfrm>
            <a:off x="1027837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23" name="标题 15"/>
          <p:cNvSpPr txBox="1"/>
          <p:nvPr userDrawn="1"/>
        </p:nvSpPr>
        <p:spPr>
          <a:xfrm>
            <a:off x="1027837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740320" y="3042936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740321" y="2736018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40320" y="4116478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740321" y="3809560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740319" y="5190020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740320" y="4883102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72000" y="0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32"/>
          </p:nvPr>
        </p:nvSpPr>
        <p:spPr>
          <a:xfrm>
            <a:off x="6072000" y="3486625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0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152228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517651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4869597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1" y="1466229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410959" y="2844262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04001" y="4685756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5" y="4869597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259086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6410960" y="1455823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7023104" y="1639664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6410959" y="2029153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4"/>
          <p:cNvSpPr>
            <a:spLocks noGrp="1"/>
          </p:cNvSpPr>
          <p:nvPr>
            <p:ph type="pic" sz="quarter" idx="32"/>
          </p:nvPr>
        </p:nvSpPr>
        <p:spPr>
          <a:xfrm>
            <a:off x="4407394" y="3800616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图片占位符 4"/>
          <p:cNvSpPr>
            <a:spLocks noGrp="1"/>
          </p:cNvSpPr>
          <p:nvPr>
            <p:ph type="pic" sz="quarter" idx="33"/>
          </p:nvPr>
        </p:nvSpPr>
        <p:spPr>
          <a:xfrm>
            <a:off x="8310787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8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04000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4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4407392" y="1468850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5019536" y="1652691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407391" y="2042180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8310789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8922933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8310788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0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3464453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3464453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3464453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图片占位符 4"/>
          <p:cNvSpPr>
            <a:spLocks noGrp="1"/>
          </p:cNvSpPr>
          <p:nvPr>
            <p:ph type="pic" sz="quarter" idx="38"/>
          </p:nvPr>
        </p:nvSpPr>
        <p:spPr>
          <a:xfrm>
            <a:off x="642784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42784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42784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图片占位符 4"/>
          <p:cNvSpPr>
            <a:spLocks noGrp="1"/>
          </p:cNvSpPr>
          <p:nvPr>
            <p:ph type="pic" sz="quarter" idx="41"/>
          </p:nvPr>
        </p:nvSpPr>
        <p:spPr>
          <a:xfrm>
            <a:off x="938535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938535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938535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9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2882237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882237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6479105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57342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8857342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5" name="图片占位符 4"/>
          <p:cNvSpPr>
            <a:spLocks noGrp="1"/>
          </p:cNvSpPr>
          <p:nvPr>
            <p:ph type="pic" sz="quarter" idx="38"/>
          </p:nvPr>
        </p:nvSpPr>
        <p:spPr>
          <a:xfrm>
            <a:off x="504000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2882237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2882237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8" name="图片占位符 4"/>
          <p:cNvSpPr>
            <a:spLocks noGrp="1"/>
          </p:cNvSpPr>
          <p:nvPr>
            <p:ph type="pic" sz="quarter" idx="41"/>
          </p:nvPr>
        </p:nvSpPr>
        <p:spPr>
          <a:xfrm>
            <a:off x="6479105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8857342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5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8857342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4"/>
          <p:cNvSpPr>
            <a:spLocks noGrp="1"/>
          </p:cNvSpPr>
          <p:nvPr>
            <p:ph type="pic" sz="quarter" idx="34"/>
          </p:nvPr>
        </p:nvSpPr>
        <p:spPr>
          <a:xfrm>
            <a:off x="-702" y="4224090"/>
            <a:ext cx="12192701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1666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1150620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50620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751919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400873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400873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01666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50620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50620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751919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400873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400873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6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1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1556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5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4253632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6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253632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7" name="图片占位符 4"/>
          <p:cNvSpPr>
            <a:spLocks noGrp="1"/>
          </p:cNvSpPr>
          <p:nvPr>
            <p:ph type="pic" sz="quarter" idx="37"/>
          </p:nvPr>
        </p:nvSpPr>
        <p:spPr>
          <a:xfrm>
            <a:off x="4253632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8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8032837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9" name="文本占位符 21"/>
          <p:cNvSpPr>
            <a:spLocks noGrp="1"/>
          </p:cNvSpPr>
          <p:nvPr>
            <p:ph type="body" sz="quarter" idx="39" hasCustomPrompt="1"/>
          </p:nvPr>
        </p:nvSpPr>
        <p:spPr>
          <a:xfrm>
            <a:off x="8032837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1" name="图片占位符 4"/>
          <p:cNvSpPr>
            <a:spLocks noGrp="1"/>
          </p:cNvSpPr>
          <p:nvPr>
            <p:ph type="pic" sz="quarter" idx="40"/>
          </p:nvPr>
        </p:nvSpPr>
        <p:spPr>
          <a:xfrm>
            <a:off x="8032837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1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1556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501556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3" name="图片占位符 4"/>
          <p:cNvSpPr>
            <a:spLocks noGrp="1"/>
          </p:cNvSpPr>
          <p:nvPr>
            <p:ph type="pic" sz="quarter" idx="43"/>
          </p:nvPr>
        </p:nvSpPr>
        <p:spPr>
          <a:xfrm>
            <a:off x="501556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4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253632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5" name="文本占位符 21"/>
          <p:cNvSpPr>
            <a:spLocks noGrp="1"/>
          </p:cNvSpPr>
          <p:nvPr>
            <p:ph type="body" sz="quarter" idx="45" hasCustomPrompt="1"/>
          </p:nvPr>
        </p:nvSpPr>
        <p:spPr>
          <a:xfrm>
            <a:off x="4253632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6" name="图片占位符 4"/>
          <p:cNvSpPr>
            <a:spLocks noGrp="1"/>
          </p:cNvSpPr>
          <p:nvPr>
            <p:ph type="pic" sz="quarter" idx="46"/>
          </p:nvPr>
        </p:nvSpPr>
        <p:spPr>
          <a:xfrm>
            <a:off x="4253632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8032837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8" name="文本占位符 21"/>
          <p:cNvSpPr>
            <a:spLocks noGrp="1"/>
          </p:cNvSpPr>
          <p:nvPr>
            <p:ph type="body" sz="quarter" idx="48" hasCustomPrompt="1"/>
          </p:nvPr>
        </p:nvSpPr>
        <p:spPr>
          <a:xfrm>
            <a:off x="8032837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9" name="图片占位符 4"/>
          <p:cNvSpPr>
            <a:spLocks noGrp="1"/>
          </p:cNvSpPr>
          <p:nvPr>
            <p:ph type="pic" sz="quarter" idx="49"/>
          </p:nvPr>
        </p:nvSpPr>
        <p:spPr>
          <a:xfrm>
            <a:off x="8032837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821106" y="2684381"/>
            <a:ext cx="2868149" cy="286419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5"/>
          <p:cNvSpPr>
            <a:spLocks noGrp="1" noChangeAspect="1"/>
          </p:cNvSpPr>
          <p:nvPr>
            <p:ph type="pic" sz="quarter" idx="26"/>
          </p:nvPr>
        </p:nvSpPr>
        <p:spPr>
          <a:xfrm>
            <a:off x="2686429" y="1563330"/>
            <a:ext cx="1350187" cy="134832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5"/>
          <p:cNvSpPr>
            <a:spLocks noGrp="1" noChangeAspect="1"/>
          </p:cNvSpPr>
          <p:nvPr>
            <p:ph type="pic" sz="quarter" idx="27"/>
          </p:nvPr>
        </p:nvSpPr>
        <p:spPr>
          <a:xfrm>
            <a:off x="3419704" y="486791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5"/>
          <p:cNvSpPr>
            <a:spLocks noGrp="1" noChangeAspect="1"/>
          </p:cNvSpPr>
          <p:nvPr>
            <p:ph type="pic" sz="quarter" idx="28"/>
          </p:nvPr>
        </p:nvSpPr>
        <p:spPr>
          <a:xfrm>
            <a:off x="743286" y="219202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6151656" y="2069417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6151658" y="1762499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6151656" y="3142959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6151658" y="2836041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6151656" y="4216501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6151658" y="3909583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6151655" y="5290043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6151657" y="4983125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9" name="SmartArt 占位符 8"/>
          <p:cNvSpPr>
            <a:spLocks noGrp="1"/>
          </p:cNvSpPr>
          <p:nvPr>
            <p:ph type="dgm" sz="quarter" idx="10"/>
          </p:nvPr>
        </p:nvSpPr>
        <p:spPr>
          <a:xfrm>
            <a:off x="7022625" y="1590223"/>
            <a:ext cx="4591360" cy="4591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4" name="矩形 3"/>
          <p:cNvSpPr/>
          <p:nvPr userDrawn="1"/>
        </p:nvSpPr>
        <p:spPr>
          <a:xfrm rot="10800000">
            <a:off x="889037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330163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097308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04000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91161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91161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cxnSp>
        <p:nvCxnSpPr>
          <p:cNvPr id="12" name="Straight Connector 5"/>
          <p:cNvCxnSpPr/>
          <p:nvPr userDrawn="1"/>
        </p:nvCxnSpPr>
        <p:spPr>
          <a:xfrm>
            <a:off x="91161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91161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91161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370271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370271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cxnSp>
        <p:nvCxnSpPr>
          <p:cNvPr id="18" name="Straight Connector 5"/>
          <p:cNvCxnSpPr/>
          <p:nvPr userDrawn="1"/>
        </p:nvCxnSpPr>
        <p:spPr>
          <a:xfrm>
            <a:off x="370271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370271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370271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650687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50687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cxnSp>
        <p:nvCxnSpPr>
          <p:cNvPr id="23" name="Straight Connector 5"/>
          <p:cNvCxnSpPr/>
          <p:nvPr userDrawn="1"/>
        </p:nvCxnSpPr>
        <p:spPr>
          <a:xfrm>
            <a:off x="650687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50687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650687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930254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43" hasCustomPrompt="1"/>
          </p:nvPr>
        </p:nvSpPr>
        <p:spPr>
          <a:xfrm>
            <a:off x="930254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930254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1"/>
          <p:cNvSpPr>
            <a:spLocks noGrp="1"/>
          </p:cNvSpPr>
          <p:nvPr>
            <p:ph type="body" sz="quarter" idx="44" hasCustomPrompt="1"/>
          </p:nvPr>
        </p:nvSpPr>
        <p:spPr>
          <a:xfrm>
            <a:off x="930254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930254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2" descr="preencoded.png"/>
          <p:cNvSpPr/>
          <p:nvPr/>
        </p:nvSpPr>
        <p:spPr>
          <a:xfrm>
            <a:off x="338455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956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5" name="Image 0" descr="preencoded.png"/>
          <p:cNvSpPr/>
          <p:nvPr/>
        </p:nvSpPr>
        <p:spPr>
          <a:xfrm>
            <a:off x="4616450" y="1009875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540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14" name="Image 4" descr="preencoded.png"/>
          <p:cNvSpPr/>
          <p:nvPr/>
        </p:nvSpPr>
        <p:spPr>
          <a:xfrm>
            <a:off x="584200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3440000" scaled="0"/>
          </a:gra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102749" y="2349742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387566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633311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pic>
        <p:nvPicPr>
          <p:cNvPr id="19" name="图形 1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80299" y="1939772"/>
            <a:ext cx="1209675" cy="1219200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4631" y="5504253"/>
            <a:ext cx="1209675" cy="1219200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1292" y="3363112"/>
            <a:ext cx="1209675" cy="1219200"/>
          </a:xfrm>
          <a:prstGeom prst="rect">
            <a:avLst/>
          </a:prstGeom>
        </p:spPr>
      </p:pic>
      <p:sp>
        <p:nvSpPr>
          <p:cNvPr id="32" name="Image 6" descr="preencoded.png"/>
          <p:cNvSpPr/>
          <p:nvPr userDrawn="1"/>
        </p:nvSpPr>
        <p:spPr>
          <a:xfrm>
            <a:off x="2354281" y="4890434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2354281" y="5028930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Image 6" descr="preencoded.png"/>
          <p:cNvSpPr/>
          <p:nvPr userDrawn="1"/>
        </p:nvSpPr>
        <p:spPr>
          <a:xfrm>
            <a:off x="1784874" y="2141875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1784874" y="2280371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Image 6" descr="preencoded.png"/>
          <p:cNvSpPr/>
          <p:nvPr userDrawn="1"/>
        </p:nvSpPr>
        <p:spPr>
          <a:xfrm>
            <a:off x="8763630" y="3029147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8763630" y="3167643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grpSp>
        <p:nvGrpSpPr>
          <p:cNvPr id="6" name="组合 5"/>
          <p:cNvGrpSpPr/>
          <p:nvPr userDrawn="1"/>
        </p:nvGrpSpPr>
        <p:grpSpPr>
          <a:xfrm flipV="1">
            <a:off x="3987021" y="4525385"/>
            <a:ext cx="1051944" cy="492442"/>
            <a:chOff x="3994675" y="2246302"/>
            <a:chExt cx="1051944" cy="492442"/>
          </a:xfrm>
        </p:grpSpPr>
        <p:cxnSp>
          <p:nvCxnSpPr>
            <p:cNvPr id="7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 userDrawn="1"/>
        </p:nvGrpSpPr>
        <p:grpSpPr>
          <a:xfrm rot="10800000">
            <a:off x="7253121" y="4525385"/>
            <a:ext cx="1051944" cy="492442"/>
            <a:chOff x="3994675" y="2246302"/>
            <a:chExt cx="1051944" cy="492442"/>
          </a:xfrm>
        </p:grpSpPr>
        <p:cxnSp>
          <p:nvCxnSpPr>
            <p:cNvPr id="10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 userDrawn="1"/>
        </p:nvGrpSpPr>
        <p:grpSpPr>
          <a:xfrm>
            <a:off x="3994675" y="2246302"/>
            <a:ext cx="1051944" cy="492442"/>
            <a:chOff x="3994675" y="2246302"/>
            <a:chExt cx="1051944" cy="492442"/>
          </a:xfrm>
        </p:grpSpPr>
        <p:cxnSp>
          <p:nvCxnSpPr>
            <p:cNvPr id="13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 userDrawn="1"/>
        </p:nvGrpSpPr>
        <p:grpSpPr>
          <a:xfrm>
            <a:off x="4178282" y="1825051"/>
            <a:ext cx="3835435" cy="3861041"/>
            <a:chOff x="4336726" y="1927485"/>
            <a:chExt cx="3835435" cy="3861041"/>
          </a:xfrm>
        </p:grpSpPr>
        <p:sp>
          <p:nvSpPr>
            <p:cNvPr id="16" name="Freeform 5"/>
            <p:cNvSpPr/>
            <p:nvPr/>
          </p:nvSpPr>
          <p:spPr bwMode="auto">
            <a:xfrm>
              <a:off x="4336726" y="3259811"/>
              <a:ext cx="1914459" cy="2297350"/>
            </a:xfrm>
            <a:custGeom>
              <a:avLst/>
              <a:gdLst/>
              <a:ahLst/>
              <a:cxnLst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  <a:cxn ang="0">
                  <a:pos x="321" y="335"/>
                </a:cxn>
                <a:cxn ang="0">
                  <a:pos x="437" y="401"/>
                </a:cxn>
                <a:cxn ang="0">
                  <a:pos x="496" y="408"/>
                </a:cxn>
                <a:cxn ang="0">
                  <a:pos x="496" y="595"/>
                </a:cxn>
                <a:cxn ang="0">
                  <a:pos x="430" y="591"/>
                </a:cxn>
                <a:cxn ang="0">
                  <a:pos x="189" y="468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</a:cxnLst>
              <a:rect l="0" t="0" r="r" b="b"/>
              <a:pathLst>
                <a:path w="496" h="595">
                  <a:moveTo>
                    <a:pt x="248" y="158"/>
                  </a:move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ubicBezTo>
                    <a:pt x="257" y="247"/>
                    <a:pt x="281" y="295"/>
                    <a:pt x="321" y="335"/>
                  </a:cubicBezTo>
                  <a:cubicBezTo>
                    <a:pt x="355" y="369"/>
                    <a:pt x="393" y="391"/>
                    <a:pt x="437" y="401"/>
                  </a:cubicBezTo>
                  <a:cubicBezTo>
                    <a:pt x="456" y="406"/>
                    <a:pt x="475" y="408"/>
                    <a:pt x="496" y="408"/>
                  </a:cubicBezTo>
                  <a:cubicBezTo>
                    <a:pt x="496" y="595"/>
                    <a:pt x="496" y="595"/>
                    <a:pt x="496" y="595"/>
                  </a:cubicBezTo>
                  <a:cubicBezTo>
                    <a:pt x="474" y="595"/>
                    <a:pt x="452" y="594"/>
                    <a:pt x="430" y="591"/>
                  </a:cubicBezTo>
                  <a:cubicBezTo>
                    <a:pt x="338" y="578"/>
                    <a:pt x="258" y="537"/>
                    <a:pt x="189" y="468"/>
                  </a:cubicBezTo>
                  <a:cubicBezTo>
                    <a:pt x="112" y="390"/>
                    <a:pt x="69" y="299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lnTo>
                    <a:pt x="248" y="158"/>
                  </a:ln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"/>
            <p:cNvSpPr/>
            <p:nvPr/>
          </p:nvSpPr>
          <p:spPr bwMode="auto">
            <a:xfrm>
              <a:off x="5633669" y="3869180"/>
              <a:ext cx="2303868" cy="1919346"/>
            </a:xfrm>
            <a:custGeom>
              <a:avLst/>
              <a:gdLst/>
              <a:ahLst/>
              <a:cxnLst>
                <a:cxn ang="0">
                  <a:pos x="403" y="61"/>
                </a:cxn>
                <a:cxn ang="0">
                  <a:pos x="410" y="2"/>
                </a:cxn>
                <a:cxn ang="0">
                  <a:pos x="410" y="0"/>
                </a:cxn>
                <a:cxn ang="0">
                  <a:pos x="597" y="0"/>
                </a:cxn>
                <a:cxn ang="0">
                  <a:pos x="597" y="2"/>
                </a:cxn>
                <a:cxn ang="0">
                  <a:pos x="592" y="68"/>
                </a:cxn>
                <a:cxn ang="0">
                  <a:pos x="469" y="310"/>
                </a:cxn>
                <a:cxn ang="0">
                  <a:pos x="161" y="437"/>
                </a:cxn>
                <a:cxn ang="0">
                  <a:pos x="160" y="437"/>
                </a:cxn>
                <a:cxn ang="0">
                  <a:pos x="160" y="497"/>
                </a:cxn>
                <a:cxn ang="0">
                  <a:pos x="0" y="341"/>
                </a:cxn>
                <a:cxn ang="0">
                  <a:pos x="160" y="185"/>
                </a:cxn>
                <a:cxn ang="0">
                  <a:pos x="160" y="250"/>
                </a:cxn>
                <a:cxn ang="0">
                  <a:pos x="161" y="250"/>
                </a:cxn>
                <a:cxn ang="0">
                  <a:pos x="337" y="177"/>
                </a:cxn>
                <a:cxn ang="0">
                  <a:pos x="403" y="61"/>
                </a:cxn>
              </a:cxnLst>
              <a:rect l="0" t="0" r="r" b="b"/>
              <a:pathLst>
                <a:path w="597" h="497">
                  <a:moveTo>
                    <a:pt x="403" y="61"/>
                  </a:moveTo>
                  <a:cubicBezTo>
                    <a:pt x="408" y="42"/>
                    <a:pt x="410" y="22"/>
                    <a:pt x="410" y="2"/>
                  </a:cubicBezTo>
                  <a:cubicBezTo>
                    <a:pt x="410" y="1"/>
                    <a:pt x="410" y="0"/>
                    <a:pt x="41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597" y="0"/>
                    <a:pt x="597" y="1"/>
                    <a:pt x="597" y="2"/>
                  </a:cubicBezTo>
                  <a:cubicBezTo>
                    <a:pt x="597" y="24"/>
                    <a:pt x="595" y="46"/>
                    <a:pt x="592" y="68"/>
                  </a:cubicBezTo>
                  <a:cubicBezTo>
                    <a:pt x="579" y="160"/>
                    <a:pt x="538" y="241"/>
                    <a:pt x="469" y="310"/>
                  </a:cubicBezTo>
                  <a:cubicBezTo>
                    <a:pt x="384" y="395"/>
                    <a:pt x="281" y="437"/>
                    <a:pt x="161" y="437"/>
                  </a:cubicBezTo>
                  <a:cubicBezTo>
                    <a:pt x="161" y="437"/>
                    <a:pt x="160" y="437"/>
                    <a:pt x="160" y="437"/>
                  </a:cubicBezTo>
                  <a:cubicBezTo>
                    <a:pt x="160" y="497"/>
                    <a:pt x="160" y="497"/>
                    <a:pt x="160" y="497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160" y="185"/>
                    <a:pt x="160" y="185"/>
                    <a:pt x="160" y="185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60" y="250"/>
                    <a:pt x="161" y="250"/>
                    <a:pt x="161" y="250"/>
                  </a:cubicBezTo>
                  <a:cubicBezTo>
                    <a:pt x="230" y="250"/>
                    <a:pt x="288" y="226"/>
                    <a:pt x="337" y="177"/>
                  </a:cubicBezTo>
                  <a:cubicBezTo>
                    <a:pt x="371" y="143"/>
                    <a:pt x="393" y="104"/>
                    <a:pt x="403" y="61"/>
                  </a:cubicBezTo>
                  <a:close/>
                </a:path>
              </a:pathLst>
            </a:custGeom>
            <a:solidFill>
              <a:srgbClr val="008FA3"/>
            </a:solidFill>
            <a:ln w="9525">
              <a:noFill/>
              <a:round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6251185" y="2189344"/>
              <a:ext cx="1920976" cy="230549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09" y="129"/>
                </a:cxn>
                <a:cxn ang="0">
                  <a:pos x="437" y="435"/>
                </a:cxn>
                <a:cxn ang="0">
                  <a:pos x="498" y="435"/>
                </a:cxn>
                <a:cxn ang="0">
                  <a:pos x="341" y="597"/>
                </a:cxn>
                <a:cxn ang="0">
                  <a:pos x="184" y="435"/>
                </a:cxn>
                <a:cxn ang="0">
                  <a:pos x="250" y="435"/>
                </a:cxn>
                <a:cxn ang="0">
                  <a:pos x="177" y="261"/>
                </a:cxn>
                <a:cxn ang="0">
                  <a:pos x="60" y="194"/>
                </a:cxn>
                <a:cxn ang="0">
                  <a:pos x="1" y="188"/>
                </a:cxn>
                <a:cxn ang="0">
                  <a:pos x="0" y="18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7" y="5"/>
                </a:cxn>
              </a:cxnLst>
              <a:rect l="0" t="0" r="r" b="b"/>
              <a:pathLst>
                <a:path w="498" h="597">
                  <a:moveTo>
                    <a:pt x="67" y="5"/>
                  </a:moveTo>
                  <a:cubicBezTo>
                    <a:pt x="159" y="18"/>
                    <a:pt x="240" y="59"/>
                    <a:pt x="309" y="129"/>
                  </a:cubicBezTo>
                  <a:cubicBezTo>
                    <a:pt x="394" y="213"/>
                    <a:pt x="436" y="315"/>
                    <a:pt x="437" y="435"/>
                  </a:cubicBezTo>
                  <a:cubicBezTo>
                    <a:pt x="498" y="435"/>
                    <a:pt x="498" y="435"/>
                    <a:pt x="498" y="435"/>
                  </a:cubicBezTo>
                  <a:cubicBezTo>
                    <a:pt x="341" y="597"/>
                    <a:pt x="341" y="597"/>
                    <a:pt x="341" y="597"/>
                  </a:cubicBezTo>
                  <a:cubicBezTo>
                    <a:pt x="184" y="435"/>
                    <a:pt x="184" y="435"/>
                    <a:pt x="184" y="435"/>
                  </a:cubicBezTo>
                  <a:cubicBezTo>
                    <a:pt x="250" y="435"/>
                    <a:pt x="250" y="435"/>
                    <a:pt x="250" y="435"/>
                  </a:cubicBezTo>
                  <a:cubicBezTo>
                    <a:pt x="249" y="367"/>
                    <a:pt x="225" y="309"/>
                    <a:pt x="177" y="261"/>
                  </a:cubicBezTo>
                  <a:cubicBezTo>
                    <a:pt x="143" y="227"/>
                    <a:pt x="104" y="205"/>
                    <a:pt x="60" y="194"/>
                  </a:cubicBezTo>
                  <a:cubicBezTo>
                    <a:pt x="41" y="190"/>
                    <a:pt x="21" y="188"/>
                    <a:pt x="1" y="188"/>
                  </a:cubicBezTo>
                  <a:cubicBezTo>
                    <a:pt x="1" y="188"/>
                    <a:pt x="0" y="188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4" y="0"/>
                    <a:pt x="46" y="2"/>
                    <a:pt x="67" y="5"/>
                  </a:cubicBezTo>
                  <a:close/>
                </a:path>
              </a:pathLst>
            </a:custGeom>
            <a:solidFill>
              <a:srgbClr val="006B7A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8"/>
            <p:cNvSpPr>
              <a:spLocks noEditPoints="1"/>
            </p:cNvSpPr>
            <p:nvPr/>
          </p:nvSpPr>
          <p:spPr bwMode="auto">
            <a:xfrm>
              <a:off x="4558836" y="1927485"/>
              <a:ext cx="2297350" cy="1914458"/>
            </a:xfrm>
            <a:custGeom>
              <a:avLst/>
              <a:gdLst/>
              <a:ahLst/>
              <a:cxnLst>
                <a:cxn ang="0">
                  <a:pos x="96" y="338"/>
                </a:cxn>
                <a:cxn ang="0">
                  <a:pos x="95" y="338"/>
                </a:cxn>
                <a:cxn ang="0">
                  <a:pos x="96" y="338"/>
                </a:cxn>
                <a:cxn ang="0">
                  <a:pos x="435" y="0"/>
                </a:cxn>
                <a:cxn ang="0">
                  <a:pos x="595" y="157"/>
                </a:cxn>
                <a:cxn ang="0">
                  <a:pos x="435" y="314"/>
                </a:cxn>
                <a:cxn ang="0">
                  <a:pos x="435" y="249"/>
                </a:cxn>
                <a:cxn ang="0">
                  <a:pos x="260" y="322"/>
                </a:cxn>
                <a:cxn ang="0">
                  <a:pos x="194" y="437"/>
                </a:cxn>
                <a:cxn ang="0">
                  <a:pos x="187" y="496"/>
                </a:cxn>
                <a:cxn ang="0">
                  <a:pos x="0" y="496"/>
                </a:cxn>
                <a:cxn ang="0">
                  <a:pos x="5" y="429"/>
                </a:cxn>
                <a:cxn ang="0">
                  <a:pos x="128" y="190"/>
                </a:cxn>
                <a:cxn ang="0">
                  <a:pos x="435" y="61"/>
                </a:cxn>
                <a:cxn ang="0">
                  <a:pos x="435" y="0"/>
                </a:cxn>
              </a:cxnLst>
              <a:rect l="0" t="0" r="r" b="b"/>
              <a:pathLst>
                <a:path w="595" h="496">
                  <a:moveTo>
                    <a:pt x="96" y="338"/>
                  </a:moveTo>
                  <a:cubicBezTo>
                    <a:pt x="96" y="338"/>
                    <a:pt x="95" y="338"/>
                    <a:pt x="95" y="338"/>
                  </a:cubicBezTo>
                  <a:cubicBezTo>
                    <a:pt x="96" y="338"/>
                    <a:pt x="96" y="338"/>
                    <a:pt x="96" y="338"/>
                  </a:cubicBezTo>
                  <a:close/>
                  <a:moveTo>
                    <a:pt x="435" y="0"/>
                  </a:moveTo>
                  <a:cubicBezTo>
                    <a:pt x="595" y="157"/>
                    <a:pt x="595" y="157"/>
                    <a:pt x="595" y="157"/>
                  </a:cubicBezTo>
                  <a:cubicBezTo>
                    <a:pt x="435" y="314"/>
                    <a:pt x="435" y="314"/>
                    <a:pt x="435" y="314"/>
                  </a:cubicBezTo>
                  <a:cubicBezTo>
                    <a:pt x="435" y="249"/>
                    <a:pt x="435" y="249"/>
                    <a:pt x="435" y="249"/>
                  </a:cubicBezTo>
                  <a:cubicBezTo>
                    <a:pt x="367" y="249"/>
                    <a:pt x="309" y="273"/>
                    <a:pt x="260" y="322"/>
                  </a:cubicBezTo>
                  <a:cubicBezTo>
                    <a:pt x="227" y="356"/>
                    <a:pt x="204" y="394"/>
                    <a:pt x="194" y="437"/>
                  </a:cubicBezTo>
                  <a:cubicBezTo>
                    <a:pt x="190" y="456"/>
                    <a:pt x="187" y="475"/>
                    <a:pt x="187" y="496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0" y="473"/>
                    <a:pt x="2" y="451"/>
                    <a:pt x="5" y="429"/>
                  </a:cubicBezTo>
                  <a:cubicBezTo>
                    <a:pt x="18" y="338"/>
                    <a:pt x="59" y="258"/>
                    <a:pt x="128" y="190"/>
                  </a:cubicBezTo>
                  <a:cubicBezTo>
                    <a:pt x="213" y="104"/>
                    <a:pt x="315" y="62"/>
                    <a:pt x="435" y="61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004852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Text Placeholder 3"/>
            <p:cNvSpPr txBox="1"/>
            <p:nvPr/>
          </p:nvSpPr>
          <p:spPr>
            <a:xfrm>
              <a:off x="6120243" y="2353088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200">
                <a:spcBef>
                  <a:spcPct val="20000"/>
                </a:spcBef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</a:p>
          </p:txBody>
        </p:sp>
        <p:sp>
          <p:nvSpPr>
            <p:cNvPr id="21" name="Text Placeholder 3"/>
            <p:cNvSpPr txBox="1"/>
            <p:nvPr/>
          </p:nvSpPr>
          <p:spPr>
            <a:xfrm>
              <a:off x="7367955" y="388861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6020689" y="501943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</a:p>
          </p:txBody>
        </p:sp>
        <p:sp>
          <p:nvSpPr>
            <p:cNvPr id="23" name="Freeform 9"/>
            <p:cNvSpPr/>
            <p:nvPr userDrawn="1"/>
          </p:nvSpPr>
          <p:spPr bwMode="auto">
            <a:xfrm>
              <a:off x="4338271" y="3264133"/>
              <a:ext cx="1207332" cy="739714"/>
            </a:xfrm>
            <a:custGeom>
              <a:avLst/>
              <a:gdLst/>
              <a:ahLst/>
              <a:cxnLst>
                <a:cxn ang="0">
                  <a:pos x="250" y="192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</a:cxnLst>
              <a:rect l="0" t="0" r="r" b="b"/>
              <a:pathLst>
                <a:path w="313" h="192">
                  <a:moveTo>
                    <a:pt x="25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248" y="158"/>
                    <a:pt x="248" y="158"/>
                    <a:pt x="248" y="158"/>
                  </a:cubicBez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srgbClr val="DCE4F4">
                  <a:alpha val="24000"/>
                </a:srgb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Text Placeholder 3"/>
            <p:cNvSpPr txBox="1"/>
            <p:nvPr/>
          </p:nvSpPr>
          <p:spPr>
            <a:xfrm>
              <a:off x="4753105" y="3616259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 rot="10800000" flipV="1">
            <a:off x="7136876" y="2246302"/>
            <a:ext cx="1051944" cy="492442"/>
            <a:chOff x="3994675" y="2246302"/>
            <a:chExt cx="1051944" cy="492442"/>
          </a:xfrm>
        </p:grpSpPr>
        <p:cxnSp>
          <p:nvCxnSpPr>
            <p:cNvPr id="26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7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01557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501556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396610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8396609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8396610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8396609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pic>
        <p:nvPicPr>
          <p:cNvPr id="25" name="图片 7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0800000">
            <a:off x="4996187" y="3951171"/>
            <a:ext cx="2196439" cy="2649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997780" y="1233488"/>
            <a:ext cx="2196439" cy="2649775"/>
          </a:xfrm>
          <a:prstGeom prst="rect">
            <a:avLst/>
          </a:prstGeom>
        </p:spPr>
      </p:pic>
      <p:pic>
        <p:nvPicPr>
          <p:cNvPr id="31" name="图片 7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6200000" flipH="1" flipV="1">
            <a:off x="6356218" y="2592435"/>
            <a:ext cx="2196439" cy="2649775"/>
          </a:xfrm>
          <a:prstGeom prst="rect">
            <a:avLst/>
          </a:prstGeom>
        </p:spPr>
      </p:pic>
      <p:pic>
        <p:nvPicPr>
          <p:cNvPr id="28" name="图片 7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6200000">
            <a:off x="3641250" y="2590692"/>
            <a:ext cx="2196439" cy="2649775"/>
          </a:xfrm>
          <a:prstGeom prst="rect">
            <a:avLst/>
          </a:prstGeom>
        </p:spPr>
      </p:pic>
      <p:sp>
        <p:nvSpPr>
          <p:cNvPr id="11" name="文本占位符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81600" y="2167805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81600" y="1789240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181600" y="5334227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181600" y="495566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5" name="文本占位符 21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638427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638427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7" name="文本占位符 2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754220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754220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3"/>
          <p:cNvSpPr/>
          <p:nvPr/>
        </p:nvSpPr>
        <p:spPr>
          <a:xfrm>
            <a:off x="6550911" y="1906318"/>
            <a:ext cx="2351648" cy="2351648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14"/>
          <p:cNvSpPr/>
          <p:nvPr/>
        </p:nvSpPr>
        <p:spPr>
          <a:xfrm>
            <a:off x="8582535" y="2085415"/>
            <a:ext cx="2172551" cy="2172551"/>
          </a:xfrm>
          <a:prstGeom prst="ellipse">
            <a:avLst/>
          </a:prstGeom>
          <a:solidFill>
            <a:srgbClr val="00B3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7"/>
          <p:cNvSpPr/>
          <p:nvPr/>
        </p:nvSpPr>
        <p:spPr>
          <a:xfrm>
            <a:off x="2962471" y="1656141"/>
            <a:ext cx="2601825" cy="2601826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20"/>
          <p:cNvSpPr/>
          <p:nvPr/>
        </p:nvSpPr>
        <p:spPr>
          <a:xfrm>
            <a:off x="5244272" y="2631304"/>
            <a:ext cx="1626662" cy="162666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id-ID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Oval 2"/>
          <p:cNvSpPr/>
          <p:nvPr/>
        </p:nvSpPr>
        <p:spPr>
          <a:xfrm>
            <a:off x="1436914" y="2412384"/>
            <a:ext cx="1845582" cy="184558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6"/>
          <p:cNvSpPr/>
          <p:nvPr userDrawn="1"/>
        </p:nvSpPr>
        <p:spPr>
          <a:xfrm>
            <a:off x="0" y="3279454"/>
            <a:ext cx="12192000" cy="3578546"/>
          </a:xfrm>
          <a:prstGeom prst="rect">
            <a:avLst/>
          </a:prstGeom>
          <a:solidFill>
            <a:srgbClr val="E6F7FA"/>
          </a:solidFill>
          <a:ln>
            <a:noFill/>
          </a:ln>
          <a:effectLst>
            <a:outerShdw blurRad="622300" dist="292100" dir="16200000" sx="94000" sy="94000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14554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031E2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3818155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420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343257" y="258349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6812335" y="26313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1702586" y="2857758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06387" y="2866522"/>
            <a:ext cx="976566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9014754" y="2866522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788526" y="2103880"/>
            <a:ext cx="8742314" cy="3217422"/>
            <a:chOff x="2175241" y="2429082"/>
            <a:chExt cx="7968884" cy="2932778"/>
          </a:xfrm>
        </p:grpSpPr>
        <p:sp>
          <p:nvSpPr>
            <p:cNvPr id="7" name="Freeform 5"/>
            <p:cNvSpPr/>
            <p:nvPr/>
          </p:nvSpPr>
          <p:spPr bwMode="auto">
            <a:xfrm>
              <a:off x="7715206" y="2985075"/>
              <a:ext cx="1832616" cy="1822284"/>
            </a:xfrm>
            <a:custGeom>
              <a:avLst/>
              <a:gdLst>
                <a:gd name="T0" fmla="*/ 0 w 320"/>
                <a:gd name="T1" fmla="*/ 189 h 316"/>
                <a:gd name="T2" fmla="*/ 200 w 320"/>
                <a:gd name="T3" fmla="*/ 0 h 316"/>
                <a:gd name="T4" fmla="*/ 320 w 320"/>
                <a:gd name="T5" fmla="*/ 127 h 316"/>
                <a:gd name="T6" fmla="*/ 120 w 320"/>
                <a:gd name="T7" fmla="*/ 316 h 316"/>
                <a:gd name="T8" fmla="*/ 0 w 320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6">
                  <a:moveTo>
                    <a:pt x="0" y="189"/>
                  </a:moveTo>
                  <a:cubicBezTo>
                    <a:pt x="102" y="179"/>
                    <a:pt x="185" y="101"/>
                    <a:pt x="200" y="0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218" y="137"/>
                    <a:pt x="135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731814" y="2991272"/>
              <a:ext cx="1799559" cy="1816087"/>
            </a:xfrm>
            <a:custGeom>
              <a:avLst/>
              <a:gdLst>
                <a:gd name="T0" fmla="*/ 127 w 314"/>
                <a:gd name="T1" fmla="*/ 0 h 315"/>
                <a:gd name="T2" fmla="*/ 314 w 314"/>
                <a:gd name="T3" fmla="*/ 189 h 315"/>
                <a:gd name="T4" fmla="*/ 187 w 314"/>
                <a:gd name="T5" fmla="*/ 315 h 315"/>
                <a:gd name="T6" fmla="*/ 0 w 314"/>
                <a:gd name="T7" fmla="*/ 125 h 315"/>
                <a:gd name="T8" fmla="*/ 127 w 314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315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370219" y="2985075"/>
              <a:ext cx="1838814" cy="1822284"/>
            </a:xfrm>
            <a:custGeom>
              <a:avLst/>
              <a:gdLst>
                <a:gd name="T0" fmla="*/ 0 w 321"/>
                <a:gd name="T1" fmla="*/ 189 h 316"/>
                <a:gd name="T2" fmla="*/ 201 w 321"/>
                <a:gd name="T3" fmla="*/ 0 h 316"/>
                <a:gd name="T4" fmla="*/ 321 w 321"/>
                <a:gd name="T5" fmla="*/ 127 h 316"/>
                <a:gd name="T6" fmla="*/ 120 w 321"/>
                <a:gd name="T7" fmla="*/ 316 h 316"/>
                <a:gd name="T8" fmla="*/ 0 w 321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316">
                  <a:moveTo>
                    <a:pt x="0" y="189"/>
                  </a:moveTo>
                  <a:cubicBezTo>
                    <a:pt x="102" y="179"/>
                    <a:pt x="185" y="101"/>
                    <a:pt x="201" y="0"/>
                  </a:cubicBezTo>
                  <a:cubicBezTo>
                    <a:pt x="321" y="127"/>
                    <a:pt x="321" y="127"/>
                    <a:pt x="321" y="127"/>
                  </a:cubicBezTo>
                  <a:cubicBezTo>
                    <a:pt x="218" y="137"/>
                    <a:pt x="136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054075" y="2985075"/>
              <a:ext cx="1809888" cy="1822284"/>
            </a:xfrm>
            <a:custGeom>
              <a:avLst/>
              <a:gdLst>
                <a:gd name="T0" fmla="*/ 126 w 316"/>
                <a:gd name="T1" fmla="*/ 0 h 316"/>
                <a:gd name="T2" fmla="*/ 316 w 316"/>
                <a:gd name="T3" fmla="*/ 190 h 316"/>
                <a:gd name="T4" fmla="*/ 191 w 316"/>
                <a:gd name="T5" fmla="*/ 316 h 316"/>
                <a:gd name="T6" fmla="*/ 0 w 316"/>
                <a:gd name="T7" fmla="*/ 126 h 316"/>
                <a:gd name="T8" fmla="*/ 126 w 316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126" y="0"/>
                  </a:moveTo>
                  <a:cubicBezTo>
                    <a:pt x="140" y="99"/>
                    <a:pt x="218" y="176"/>
                    <a:pt x="316" y="190"/>
                  </a:cubicBezTo>
                  <a:cubicBezTo>
                    <a:pt x="191" y="316"/>
                    <a:pt x="191" y="316"/>
                    <a:pt x="191" y="316"/>
                  </a:cubicBezTo>
                  <a:cubicBezTo>
                    <a:pt x="176" y="217"/>
                    <a:pt x="99" y="140"/>
                    <a:pt x="0" y="126"/>
                  </a:cubicBezTo>
                  <a:lnTo>
                    <a:pt x="12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1" name="Oval 36"/>
            <p:cNvSpPr/>
            <p:nvPr/>
          </p:nvSpPr>
          <p:spPr>
            <a:xfrm>
              <a:off x="2175241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2" name="Oval 37"/>
            <p:cNvSpPr/>
            <p:nvPr/>
          </p:nvSpPr>
          <p:spPr>
            <a:xfrm>
              <a:off x="549130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3" name="Oval 39"/>
            <p:cNvSpPr/>
            <p:nvPr/>
          </p:nvSpPr>
          <p:spPr>
            <a:xfrm>
              <a:off x="885202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4" name="Oval 42"/>
            <p:cNvSpPr/>
            <p:nvPr/>
          </p:nvSpPr>
          <p:spPr>
            <a:xfrm>
              <a:off x="7140833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defTabSz="457200" fontAlgn="auto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6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</a:endParaRPr>
            </a:p>
          </p:txBody>
        </p:sp>
        <p:sp>
          <p:nvSpPr>
            <p:cNvPr id="15" name="Oval 43"/>
            <p:cNvSpPr/>
            <p:nvPr/>
          </p:nvSpPr>
          <p:spPr>
            <a:xfrm>
              <a:off x="3786312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</p:grpSp>
      <p:sp>
        <p:nvSpPr>
          <p:cNvPr id="1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3401833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3401833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063141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063141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5196513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196513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459409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59409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8904638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8904638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9" name="图形 28" descr="网络 纯色填充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22" y="2441383"/>
            <a:ext cx="720000" cy="720000"/>
          </a:xfrm>
          <a:prstGeom prst="rect">
            <a:avLst/>
          </a:prstGeom>
        </p:spPr>
      </p:pic>
      <p:pic>
        <p:nvPicPr>
          <p:cNvPr id="31" name="图形 30" descr="循环流程图 纯色填充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332" y="4226611"/>
            <a:ext cx="720000" cy="720000"/>
          </a:xfrm>
          <a:prstGeom prst="rect">
            <a:avLst/>
          </a:prstGeom>
        </p:spPr>
      </p:pic>
      <p:pic>
        <p:nvPicPr>
          <p:cNvPr id="34" name="图形 33" descr="网络 纯色填充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50913" y="2441383"/>
            <a:ext cx="720000" cy="720000"/>
          </a:xfrm>
          <a:prstGeom prst="rect">
            <a:avLst/>
          </a:prstGeom>
        </p:spPr>
      </p:pic>
      <p:pic>
        <p:nvPicPr>
          <p:cNvPr id="35" name="图形 34" descr="网络 纯色填充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9038" y="2441383"/>
            <a:ext cx="720000" cy="720000"/>
          </a:xfrm>
          <a:prstGeom prst="rect">
            <a:avLst/>
          </a:prstGeom>
        </p:spPr>
      </p:pic>
      <p:pic>
        <p:nvPicPr>
          <p:cNvPr id="36" name="图形 35" descr="循环流程图 纯色填充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598" y="4226611"/>
            <a:ext cx="720000" cy="720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6" name="Freeform 5"/>
          <p:cNvSpPr/>
          <p:nvPr userDrawn="1"/>
        </p:nvSpPr>
        <p:spPr bwMode="auto">
          <a:xfrm rot="16200000">
            <a:off x="4020967" y="619313"/>
            <a:ext cx="4148975" cy="8427602"/>
          </a:xfrm>
          <a:custGeom>
            <a:avLst/>
            <a:gdLst>
              <a:gd name="T0" fmla="*/ 0 w 483"/>
              <a:gd name="T1" fmla="*/ 965 h 965"/>
              <a:gd name="T2" fmla="*/ 483 w 483"/>
              <a:gd name="T3" fmla="*/ 482 h 965"/>
              <a:gd name="T4" fmla="*/ 0 w 483"/>
              <a:gd name="T5" fmla="*/ 0 h 965"/>
              <a:gd name="T6" fmla="*/ 0 w 483"/>
              <a:gd name="T7" fmla="*/ 965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3" h="965">
                <a:moveTo>
                  <a:pt x="0" y="965"/>
                </a:moveTo>
                <a:cubicBezTo>
                  <a:pt x="267" y="965"/>
                  <a:pt x="483" y="749"/>
                  <a:pt x="483" y="482"/>
                </a:cubicBezTo>
                <a:cubicBezTo>
                  <a:pt x="483" y="216"/>
                  <a:pt x="267" y="0"/>
                  <a:pt x="0" y="0"/>
                </a:cubicBezTo>
                <a:lnTo>
                  <a:pt x="0" y="965"/>
                </a:lnTo>
                <a:close/>
              </a:path>
            </a:pathLst>
          </a:custGeom>
          <a:noFill/>
          <a:ln>
            <a:solidFill>
              <a:schemeClr val="tx1">
                <a:alpha val="2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8"/>
          <p:cNvSpPr/>
          <p:nvPr userDrawn="1"/>
        </p:nvSpPr>
        <p:spPr>
          <a:xfrm rot="10800000">
            <a:off x="1981273" y="562696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Oval 9"/>
          <p:cNvSpPr/>
          <p:nvPr userDrawn="1"/>
        </p:nvSpPr>
        <p:spPr>
          <a:xfrm rot="10800000">
            <a:off x="2916705" y="3988990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10"/>
          <p:cNvSpPr/>
          <p:nvPr userDrawn="1"/>
        </p:nvSpPr>
        <p:spPr>
          <a:xfrm rot="10800000">
            <a:off x="9118454" y="4035733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Oval 11"/>
          <p:cNvSpPr/>
          <p:nvPr userDrawn="1"/>
        </p:nvSpPr>
        <p:spPr>
          <a:xfrm rot="10800000">
            <a:off x="10046573" y="562558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Oval 12"/>
          <p:cNvSpPr/>
          <p:nvPr userDrawn="1"/>
        </p:nvSpPr>
        <p:spPr>
          <a:xfrm rot="10800000">
            <a:off x="6004158" y="2651289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2269812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2269812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3184212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184212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181600" y="3326110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181600" y="2947545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7178990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7178990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118153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18153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424798" y="2126861"/>
            <a:ext cx="3240000" cy="3240000"/>
            <a:chOff x="4388172" y="2235404"/>
            <a:chExt cx="3240000" cy="3240000"/>
          </a:xfrm>
        </p:grpSpPr>
        <p:sp>
          <p:nvSpPr>
            <p:cNvPr id="7" name="图形"/>
            <p:cNvSpPr>
              <a:spLocks noChangeArrowheads="1"/>
            </p:cNvSpPr>
            <p:nvPr/>
          </p:nvSpPr>
          <p:spPr bwMode="auto">
            <a:xfrm>
              <a:off x="4748172" y="2595404"/>
              <a:ext cx="2520000" cy="2520000"/>
            </a:xfrm>
            <a:prstGeom prst="ellipse">
              <a:avLst/>
            </a:prstGeom>
            <a:noFill/>
            <a:ln w="9525">
              <a:solidFill>
                <a:srgbClr val="00B3CC">
                  <a:alpha val="5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5097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8" name="图形"/>
            <p:cNvSpPr>
              <a:spLocks noChangeArrowheads="1"/>
            </p:cNvSpPr>
            <p:nvPr/>
          </p:nvSpPr>
          <p:spPr bwMode="auto">
            <a:xfrm>
              <a:off x="4388172" y="2235404"/>
              <a:ext cx="3240000" cy="3240000"/>
            </a:xfrm>
            <a:prstGeom prst="ellipse">
              <a:avLst/>
            </a:prstGeom>
            <a:noFill/>
            <a:ln w="6350">
              <a:solidFill>
                <a:srgbClr val="00B3CC">
                  <a:alpha val="4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9" name="图形"/>
            <p:cNvSpPr>
              <a:spLocks noChangeArrowheads="1"/>
            </p:cNvSpPr>
            <p:nvPr/>
          </p:nvSpPr>
          <p:spPr bwMode="auto">
            <a:xfrm>
              <a:off x="5108172" y="2955404"/>
              <a:ext cx="1800000" cy="1800000"/>
            </a:xfrm>
            <a:prstGeom prst="ellipse">
              <a:avLst/>
            </a:prstGeom>
            <a:noFill/>
            <a:ln w="12700">
              <a:solidFill>
                <a:srgbClr val="00B3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10" name="图形"/>
            <p:cNvSpPr>
              <a:spLocks noChangeArrowheads="1"/>
            </p:cNvSpPr>
            <p:nvPr/>
          </p:nvSpPr>
          <p:spPr bwMode="auto">
            <a:xfrm>
              <a:off x="5468172" y="3315404"/>
              <a:ext cx="1080000" cy="1080000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 sz="2800" b="1" dirty="0">
                <a:solidFill>
                  <a:srgbClr val="FFFFFF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</p:grpSp>
      <p:cxnSp>
        <p:nvCxnSpPr>
          <p:cNvPr id="35" name="图形"/>
          <p:cNvCxnSpPr/>
          <p:nvPr/>
        </p:nvCxnSpPr>
        <p:spPr>
          <a:xfrm flipH="1">
            <a:off x="504000" y="283696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448050" y="1861555"/>
            <a:ext cx="715010" cy="715010"/>
            <a:chOff x="3448050" y="2005330"/>
            <a:chExt cx="715010" cy="715010"/>
          </a:xfrm>
        </p:grpSpPr>
        <p:sp>
          <p:nvSpPr>
            <p:cNvPr id="37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38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9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40" name="图形"/>
              <p:cNvCxnSpPr>
                <a:stCxn id="39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图形"/>
          <p:cNvCxnSpPr/>
          <p:nvPr/>
        </p:nvCxnSpPr>
        <p:spPr>
          <a:xfrm flipH="1">
            <a:off x="504000" y="430523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448050" y="3329825"/>
            <a:ext cx="715010" cy="715010"/>
            <a:chOff x="3448050" y="2005330"/>
            <a:chExt cx="715010" cy="715010"/>
          </a:xfrm>
        </p:grpSpPr>
        <p:sp>
          <p:nvSpPr>
            <p:cNvPr id="2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31" name="图形"/>
              <p:cNvCxnSpPr>
                <a:stCxn id="3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图形"/>
          <p:cNvCxnSpPr/>
          <p:nvPr/>
        </p:nvCxnSpPr>
        <p:spPr>
          <a:xfrm flipH="1">
            <a:off x="504000" y="577350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448050" y="4798095"/>
            <a:ext cx="715010" cy="715010"/>
            <a:chOff x="3448050" y="2005330"/>
            <a:chExt cx="715010" cy="715010"/>
          </a:xfrm>
        </p:grpSpPr>
        <p:sp>
          <p:nvSpPr>
            <p:cNvPr id="1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2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22" name="图形"/>
              <p:cNvCxnSpPr>
                <a:stCxn id="2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6" name="图形"/>
          <p:cNvCxnSpPr/>
          <p:nvPr/>
        </p:nvCxnSpPr>
        <p:spPr>
          <a:xfrm flipH="1">
            <a:off x="7926536" y="280545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 rot="10800000">
            <a:off x="8024116" y="1830042"/>
            <a:ext cx="715010" cy="715010"/>
            <a:chOff x="3448050" y="2005330"/>
            <a:chExt cx="715010" cy="715010"/>
          </a:xfrm>
        </p:grpSpPr>
        <p:sp>
          <p:nvSpPr>
            <p:cNvPr id="6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7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71" name="图形"/>
              <p:cNvCxnSpPr>
                <a:stCxn id="7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图形"/>
          <p:cNvCxnSpPr/>
          <p:nvPr/>
        </p:nvCxnSpPr>
        <p:spPr>
          <a:xfrm flipH="1">
            <a:off x="7926536" y="427372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rot="10800000">
            <a:off x="8024116" y="3298312"/>
            <a:ext cx="715010" cy="715010"/>
            <a:chOff x="3448050" y="2005330"/>
            <a:chExt cx="715010" cy="715010"/>
          </a:xfrm>
        </p:grpSpPr>
        <p:sp>
          <p:nvSpPr>
            <p:cNvPr id="5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6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62" name="图形"/>
              <p:cNvCxnSpPr>
                <a:stCxn id="6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图形"/>
          <p:cNvCxnSpPr/>
          <p:nvPr/>
        </p:nvCxnSpPr>
        <p:spPr>
          <a:xfrm flipH="1">
            <a:off x="7926536" y="574199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 rot="10800000">
            <a:off x="8024116" y="4766582"/>
            <a:ext cx="715010" cy="715010"/>
            <a:chOff x="3448050" y="2005330"/>
            <a:chExt cx="715010" cy="715010"/>
          </a:xfrm>
        </p:grpSpPr>
        <p:sp>
          <p:nvSpPr>
            <p:cNvPr id="50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51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52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53" name="图形"/>
              <p:cNvCxnSpPr>
                <a:stCxn id="52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622452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22452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7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622452" y="3681668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622452" y="3303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0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622452" y="514993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622452" y="477137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2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987345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987345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4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8987345" y="3682481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5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8987345" y="3303916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6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8987345" y="514514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987345" y="476658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0070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85994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5996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552573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178497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178499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60070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85994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85996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2573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178497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178499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60070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185994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185996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6552573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7178497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7178499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33800" y="0"/>
            <a:ext cx="8458200" cy="6858000"/>
          </a:xfrm>
          <a:custGeom>
            <a:avLst/>
            <a:gdLst>
              <a:gd name="connsiteX0" fmla="*/ 0 w 12687300"/>
              <a:gd name="connsiteY0" fmla="*/ 0 h 5829300"/>
              <a:gd name="connsiteX1" fmla="*/ 12687300 w 12687300"/>
              <a:gd name="connsiteY1" fmla="*/ 0 h 5829300"/>
              <a:gd name="connsiteX2" fmla="*/ 12687300 w 12687300"/>
              <a:gd name="connsiteY2" fmla="*/ 5829300 h 5829300"/>
              <a:gd name="connsiteX3" fmla="*/ 0 w 12687300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300" h="5829300">
                <a:moveTo>
                  <a:pt x="0" y="0"/>
                </a:moveTo>
                <a:lnTo>
                  <a:pt x="12687300" y="0"/>
                </a:lnTo>
                <a:lnTo>
                  <a:pt x="12687300" y="5829300"/>
                </a:lnTo>
                <a:lnTo>
                  <a:pt x="0" y="5829300"/>
                </a:lnTo>
                <a:close/>
              </a:path>
            </a:pathLst>
          </a:custGeom>
          <a:solidFill>
            <a:srgbClr val="DAEE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 dirty="0"/>
          </a:p>
        </p:txBody>
      </p:sp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" name="Image 0" descr="preencoded.png"/>
          <p:cNvSpPr/>
          <p:nvPr userDrawn="1"/>
        </p:nvSpPr>
        <p:spPr>
          <a:xfrm>
            <a:off x="508000" y="1962150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07999" y="2044260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508000" y="1577985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6" name="Image 0" descr="preencoded.png"/>
          <p:cNvSpPr/>
          <p:nvPr userDrawn="1"/>
        </p:nvSpPr>
        <p:spPr>
          <a:xfrm>
            <a:off x="508000" y="3966955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07999" y="4049065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3582790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4178300" y="2969154"/>
            <a:ext cx="7505700" cy="6350"/>
            <a:chOff x="6267450" y="5972175"/>
            <a:chExt cx="11258550" cy="9525"/>
          </a:xfrm>
        </p:grpSpPr>
        <p:sp>
          <p:nvSpPr>
            <p:cNvPr id="48" name="任意多边形: 形状 47"/>
            <p:cNvSpPr/>
            <p:nvPr/>
          </p:nvSpPr>
          <p:spPr>
            <a:xfrm>
              <a:off x="6267450" y="5972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8448675" y="5972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4178300" y="3982508"/>
            <a:ext cx="7505700" cy="6350"/>
            <a:chOff x="6267450" y="7115175"/>
            <a:chExt cx="11258550" cy="9525"/>
          </a:xfrm>
        </p:grpSpPr>
        <p:sp>
          <p:nvSpPr>
            <p:cNvPr id="51" name="任意多边形: 形状 50"/>
            <p:cNvSpPr/>
            <p:nvPr/>
          </p:nvSpPr>
          <p:spPr>
            <a:xfrm>
              <a:off x="6267450" y="7115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8448675" y="7115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 userDrawn="1"/>
        </p:nvGrpSpPr>
        <p:grpSpPr>
          <a:xfrm>
            <a:off x="4178300" y="4995862"/>
            <a:ext cx="7505700" cy="6350"/>
            <a:chOff x="6267450" y="8258175"/>
            <a:chExt cx="11258550" cy="9525"/>
          </a:xfrm>
        </p:grpSpPr>
        <p:sp>
          <p:nvSpPr>
            <p:cNvPr id="54" name="任意多边形: 形状 53"/>
            <p:cNvSpPr/>
            <p:nvPr/>
          </p:nvSpPr>
          <p:spPr>
            <a:xfrm>
              <a:off x="6267450" y="8258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8448675" y="8258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 userDrawn="1"/>
        </p:nvGrpSpPr>
        <p:grpSpPr>
          <a:xfrm>
            <a:off x="4178300" y="6009217"/>
            <a:ext cx="7505700" cy="6350"/>
            <a:chOff x="6267450" y="9401175"/>
            <a:chExt cx="11258550" cy="9525"/>
          </a:xfrm>
        </p:grpSpPr>
        <p:sp>
          <p:nvSpPr>
            <p:cNvPr id="57" name="任意多边形: 形状 56"/>
            <p:cNvSpPr/>
            <p:nvPr/>
          </p:nvSpPr>
          <p:spPr>
            <a:xfrm>
              <a:off x="6267450" y="9401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8448675" y="9401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</p:grpSp>
      <p:cxnSp>
        <p:nvCxnSpPr>
          <p:cNvPr id="59" name="直接连接符 58"/>
          <p:cNvCxnSpPr/>
          <p:nvPr userDrawn="1"/>
        </p:nvCxnSpPr>
        <p:spPr>
          <a:xfrm>
            <a:off x="4178300" y="1962150"/>
            <a:ext cx="7505669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32388" y="21301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5632388" y="3096501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21578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3124201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4178300" y="211634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4178300" y="3082651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5632388" y="410187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412957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4178300" y="408802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5632388" y="513155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515925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178300" y="511770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1958150" y="188638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1958150" y="28136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188638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28136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504062" y="188638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504062" y="281369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1958150" y="3753987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3753987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4062" y="3753987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en-US" altLang="zh-CN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1961740" y="4674454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4674454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507652" y="4674454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04000" y="1746555"/>
            <a:ext cx="11184000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/>
          <p:cNvSpPr/>
          <p:nvPr userDrawn="1"/>
        </p:nvSpPr>
        <p:spPr>
          <a:xfrm>
            <a:off x="504000" y="267257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958150" y="267257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504000" y="359528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958150" y="359528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504000" y="4522501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1958150" y="4522501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504000" y="5449722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958150" y="5449722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1961740" y="5606905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46" hasCustomPrompt="1"/>
          </p:nvPr>
        </p:nvSpPr>
        <p:spPr>
          <a:xfrm>
            <a:off x="7755400" y="5606905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507652" y="5606905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109644" y="6308090"/>
            <a:ext cx="1726755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en-US" altLang="zh-CN" sz="935" kern="0" dirty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North Valley Research, INC</a:t>
            </a:r>
            <a:endParaRPr lang="zh-CN" altLang="en-US" sz="935" kern="0" dirty="0">
              <a:solidFill>
                <a:srgbClr val="0E3C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图表占位符 8"/>
          <p:cNvSpPr>
            <a:spLocks noGrp="1"/>
          </p:cNvSpPr>
          <p:nvPr>
            <p:ph type="chart" sz="quarter" idx="10"/>
          </p:nvPr>
        </p:nvSpPr>
        <p:spPr>
          <a:xfrm>
            <a:off x="501650" y="1477963"/>
            <a:ext cx="11080750" cy="22256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0" name="矩形: 圆角 9"/>
          <p:cNvSpPr/>
          <p:nvPr userDrawn="1"/>
        </p:nvSpPr>
        <p:spPr>
          <a:xfrm>
            <a:off x="0" y="4030980"/>
            <a:ext cx="12192000" cy="282702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01557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2192563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2192565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图表占位符 11"/>
          <p:cNvSpPr>
            <a:spLocks noGrp="1"/>
          </p:cNvSpPr>
          <p:nvPr>
            <p:ph type="chart" sz="quarter" idx="23"/>
          </p:nvPr>
        </p:nvSpPr>
        <p:spPr>
          <a:xfrm>
            <a:off x="4347209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6038215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6038217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7" name="图表占位符 11"/>
          <p:cNvSpPr>
            <a:spLocks noGrp="1"/>
          </p:cNvSpPr>
          <p:nvPr>
            <p:ph type="chart" sz="quarter" idx="26"/>
          </p:nvPr>
        </p:nvSpPr>
        <p:spPr>
          <a:xfrm>
            <a:off x="8192861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9883867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9883869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866037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1017590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9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802317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5866037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866038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5866037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5866038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802317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02317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802317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22" hasCustomPrompt="1"/>
          </p:nvPr>
        </p:nvSpPr>
        <p:spPr>
          <a:xfrm>
            <a:off x="802317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任意多边形: 形状 19"/>
          <p:cNvSpPr/>
          <p:nvPr userDrawn="1"/>
        </p:nvSpPr>
        <p:spPr>
          <a:xfrm>
            <a:off x="1017590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017590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1017590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17590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86603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802317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17590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3988399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7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9282170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663805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3988400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663805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9282171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133874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33874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7022625" y="1590222"/>
            <a:ext cx="4591360" cy="45913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Line"/>
          <p:cNvSpPr/>
          <p:nvPr/>
        </p:nvSpPr>
        <p:spPr>
          <a:xfrm>
            <a:off x="495300" y="4636415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495300" y="4322893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285744" y="4322893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</a:p>
        </p:txBody>
      </p:sp>
      <p:sp>
        <p:nvSpPr>
          <p:cNvPr id="29" name="Line"/>
          <p:cNvSpPr/>
          <p:nvPr userDrawn="1"/>
        </p:nvSpPr>
        <p:spPr>
          <a:xfrm>
            <a:off x="495300" y="5075327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0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495300" y="4761805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3285744" y="4761805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</a:p>
        </p:txBody>
      </p:sp>
      <p:sp>
        <p:nvSpPr>
          <p:cNvPr id="32" name="Line"/>
          <p:cNvSpPr/>
          <p:nvPr userDrawn="1"/>
        </p:nvSpPr>
        <p:spPr>
          <a:xfrm>
            <a:off x="495300" y="5514238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495300" y="5200716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3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3285744" y="5200716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: 圆角 248"/>
          <p:cNvSpPr/>
          <p:nvPr userDrawn="1"/>
        </p:nvSpPr>
        <p:spPr>
          <a:xfrm>
            <a:off x="5318760" y="0"/>
            <a:ext cx="6873240" cy="685800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25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</a:p>
        </p:txBody>
      </p:sp>
      <p:sp>
        <p:nvSpPr>
          <p:cNvPr id="25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5996387" y="1590223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3" name="图表占位符 11"/>
          <p:cNvSpPr>
            <a:spLocks noGrp="1"/>
          </p:cNvSpPr>
          <p:nvPr>
            <p:ph type="chart" sz="quarter" idx="25"/>
          </p:nvPr>
        </p:nvSpPr>
        <p:spPr>
          <a:xfrm>
            <a:off x="5996387" y="4019015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4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56" name="标题 15"/>
          <p:cNvSpPr txBox="1"/>
          <p:nvPr userDrawn="1"/>
        </p:nvSpPr>
        <p:spPr>
          <a:xfrm>
            <a:off x="501556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257" name="标题 15"/>
          <p:cNvSpPr txBox="1"/>
          <p:nvPr userDrawn="1"/>
        </p:nvSpPr>
        <p:spPr>
          <a:xfrm>
            <a:off x="497493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cxnSp>
        <p:nvCxnSpPr>
          <p:cNvPr id="258" name="直接连接符 257"/>
          <p:cNvCxnSpPr/>
          <p:nvPr userDrawn="1"/>
        </p:nvCxnSpPr>
        <p:spPr>
          <a:xfrm flipV="1">
            <a:off x="2169658" y="4664759"/>
            <a:ext cx="0" cy="4094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标题 15"/>
          <p:cNvSpPr txBox="1"/>
          <p:nvPr userDrawn="1"/>
        </p:nvSpPr>
        <p:spPr>
          <a:xfrm>
            <a:off x="2731849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</a:p>
        </p:txBody>
      </p:sp>
      <p:sp>
        <p:nvSpPr>
          <p:cNvPr id="260" name="标题 15"/>
          <p:cNvSpPr txBox="1"/>
          <p:nvPr userDrawn="1"/>
        </p:nvSpPr>
        <p:spPr>
          <a:xfrm>
            <a:off x="2763268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</a:p>
        </p:txBody>
      </p:sp>
      <p:pic>
        <p:nvPicPr>
          <p:cNvPr id="6" name="图片 5" descr="蓝色的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黑暗里有星球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010400" y="22262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OPPOSans L" panose="00020600040101010101" pitchFamily="18" charset="-122"/>
                <a:ea typeface="OPPOSans L" panose="00020600040101010101" pitchFamily="18" charset="-122"/>
                <a:cs typeface="OPPOSans L" panose="00020600040101010101" pitchFamily="18" charset="-122"/>
              </a:rPr>
              <a:t>感谢观看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81071" y="1711098"/>
            <a:ext cx="10290016" cy="701731"/>
          </a:xfrm>
        </p:spPr>
        <p:txBody>
          <a:bodyPr/>
          <a:lstStyle/>
          <a:p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【A</a:t>
            </a:r>
            <a:r>
              <a:rPr lang="en-GB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I+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嵌入式</a:t>
            </a:r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】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：让单片机学会思考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52140" y="5175931"/>
            <a:ext cx="1211901" cy="1418432"/>
            <a:chOff x="2156460" y="2537392"/>
            <a:chExt cx="2161540" cy="2529908"/>
          </a:xfrm>
        </p:grpSpPr>
        <p:sp>
          <p:nvSpPr>
            <p:cNvPr id="16" name="矩形 15"/>
            <p:cNvSpPr/>
            <p:nvPr/>
          </p:nvSpPr>
          <p:spPr>
            <a:xfrm>
              <a:off x="2156460" y="2537392"/>
              <a:ext cx="2161540" cy="2529908"/>
            </a:xfrm>
            <a:prstGeom prst="rect">
              <a:avLst/>
            </a:prstGeom>
            <a:solidFill>
              <a:srgbClr val="344054"/>
            </a:solidFill>
            <a:ln>
              <a:noFill/>
            </a:ln>
            <a:effectLst>
              <a:glow rad="76200">
                <a:schemeClr val="bg2">
                  <a:lumMod val="9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>
                <a:ln w="22225">
                  <a:solidFill>
                    <a:srgbClr val="E6FAFB"/>
                  </a:solidFill>
                  <a:prstDash val="solid"/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224773" y="4661884"/>
              <a:ext cx="1970498" cy="329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solidFill>
                    <a:srgbClr val="2B869D"/>
                  </a:solidFill>
                </a:rPr>
                <a:t>扫码关注，获取更多</a:t>
              </a:r>
              <a:r>
                <a:rPr lang="en-US" altLang="zh-CN" sz="600" b="1" dirty="0">
                  <a:solidFill>
                    <a:srgbClr val="2B869D"/>
                  </a:solidFill>
                </a:rPr>
                <a:t>AI</a:t>
              </a:r>
              <a:r>
                <a:rPr lang="zh-CN" altLang="en-US" sz="600" b="1" dirty="0">
                  <a:solidFill>
                    <a:srgbClr val="2B869D"/>
                  </a:solidFill>
                </a:rPr>
                <a:t>秘籍</a:t>
              </a:r>
            </a:p>
          </p:txBody>
        </p:sp>
      </p:grpSp>
      <p:sp>
        <p:nvSpPr>
          <p:cNvPr id="26" name="矩形: 圆角 25"/>
          <p:cNvSpPr/>
          <p:nvPr/>
        </p:nvSpPr>
        <p:spPr>
          <a:xfrm>
            <a:off x="1759067" y="5175931"/>
            <a:ext cx="5587884" cy="1431724"/>
          </a:xfrm>
          <a:prstGeom prst="roundRect">
            <a:avLst/>
          </a:prstGeom>
          <a:solidFill>
            <a:srgbClr val="2D3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拆解 </a:t>
            </a:r>
            <a:r>
              <a:rPr lang="en-US" altLang="zh-CN" sz="1000" dirty="0"/>
              <a:t>AI </a:t>
            </a:r>
            <a:r>
              <a:rPr lang="zh-CN" altLang="en-US" sz="1000" dirty="0"/>
              <a:t>与嵌入式的融合逻辑，让 “单片机 </a:t>
            </a:r>
            <a:r>
              <a:rPr lang="en-US" altLang="zh-CN" sz="1000" dirty="0"/>
              <a:t>+ </a:t>
            </a:r>
            <a:r>
              <a:rPr lang="zh-CN" altLang="en-US" sz="1000" dirty="0"/>
              <a:t>智能” 的复杂原理变清晰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手把手带练从硬件选型到 </a:t>
            </a:r>
            <a:r>
              <a:rPr lang="en-US" altLang="zh-CN" sz="1000" dirty="0"/>
              <a:t>AI </a:t>
            </a:r>
            <a:r>
              <a:rPr lang="zh-CN" altLang="en-US" sz="1000" dirty="0"/>
              <a:t>模型部署，实现单片机 “思考能力” 从 </a:t>
            </a:r>
            <a:r>
              <a:rPr lang="en-US" altLang="zh-CN" sz="1000" dirty="0"/>
              <a:t>0 </a:t>
            </a:r>
            <a:r>
              <a:rPr lang="zh-CN" altLang="en-US" sz="1000" dirty="0"/>
              <a:t>到 </a:t>
            </a:r>
            <a:r>
              <a:rPr lang="en-US" altLang="zh-CN" sz="1000" dirty="0"/>
              <a:t>1 </a:t>
            </a:r>
            <a:r>
              <a:rPr lang="zh-CN" altLang="en-US" sz="1000" dirty="0"/>
              <a:t>落地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让 </a:t>
            </a:r>
            <a:r>
              <a:rPr lang="en-US" altLang="zh-CN" sz="1000" dirty="0"/>
              <a:t>AI </a:t>
            </a:r>
            <a:r>
              <a:rPr lang="zh-CN" altLang="en-US" sz="1000" dirty="0"/>
              <a:t>不再是遥远的技术概念，成为你操控单片机、开发智能硬件的生产力工具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专注普通人能听懂、能上手的实战教学，拒绝堆砌理论，只讲能直接用的技术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759067" y="4069788"/>
            <a:ext cx="3260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22D3EF"/>
                </a:solidFill>
              </a:rPr>
              <a:t>贺老师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759067" y="4746279"/>
            <a:ext cx="2878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22D3EF"/>
                </a:solidFill>
              </a:rPr>
              <a:t>嵌入式 </a:t>
            </a:r>
            <a:r>
              <a:rPr lang="en-US" altLang="zh-CN" sz="1400" b="1" dirty="0">
                <a:solidFill>
                  <a:srgbClr val="22D3EF"/>
                </a:solidFill>
              </a:rPr>
              <a:t>AI </a:t>
            </a:r>
            <a:r>
              <a:rPr lang="zh-CN" altLang="en-US" sz="1400" b="1" dirty="0">
                <a:solidFill>
                  <a:srgbClr val="22D3EF"/>
                </a:solidFill>
              </a:rPr>
              <a:t>落地开发专家</a:t>
            </a:r>
          </a:p>
        </p:txBody>
      </p:sp>
      <p:pic>
        <p:nvPicPr>
          <p:cNvPr id="4" name="图片 3" descr="QR 代码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7" y="5266595"/>
            <a:ext cx="1055298" cy="1055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27"/>
          </p:nvPr>
        </p:nvSpPr>
        <p:spPr>
          <a:xfrm>
            <a:off x="740320" y="2535018"/>
            <a:ext cx="9404590" cy="645160"/>
          </a:xfrm>
        </p:spPr>
        <p:txBody>
          <a:bodyPr/>
          <a:lstStyle/>
          <a:p>
            <a:r>
              <a:rPr lang="en-US" altLang="zh-CN" b="1" dirty="0"/>
              <a:t>Day11</a:t>
            </a:r>
            <a:r>
              <a:rPr lang="zh-CN" altLang="en-US" b="1" dirty="0"/>
              <a:t>：数据采集与清洗</a:t>
            </a:r>
            <a:endParaRPr lang="en-US" altLang="en-US" b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740319" y="3280115"/>
            <a:ext cx="8274589" cy="313932"/>
          </a:xfrm>
        </p:spPr>
        <p:txBody>
          <a:bodyPr/>
          <a:lstStyle/>
          <a:p>
            <a:r>
              <a:rPr lang="zh-CN" altLang="en-US" dirty="0"/>
              <a:t>运行效率 </a:t>
            </a:r>
            <a:r>
              <a:rPr lang="en-US" altLang="zh-CN" dirty="0"/>
              <a:t>|</a:t>
            </a:r>
            <a:r>
              <a:rPr lang="zh-CN" altLang="en-US" dirty="0"/>
              <a:t>输出质量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7417741C-8A8D-4630-901D-22A281666097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9202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微软雅黑" panose="020B0503020204020204" pitchFamily="34" charset="-122"/>
              </a:rPr>
              <a:t>Day11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64008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4100" b="1">
                <a:solidFill>
                  <a:srgbClr val="1F4E79"/>
                </a:solidFill>
                <a:latin typeface="微软雅黑" panose="020B0503020204020204" pitchFamily="34" charset="-122"/>
              </a:rPr>
              <a:t>数据采集与清洗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93392"/>
            <a:ext cx="66751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0">
                <a:solidFill>
                  <a:srgbClr val="2B3442"/>
                </a:solidFill>
                <a:latin typeface="微软雅黑" panose="020B0503020204020204" pitchFamily="34" charset="-122"/>
              </a:rPr>
              <a:t>STM32N647 + QMI8658A 动作识别项目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59152"/>
            <a:ext cx="69494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2B3442"/>
                </a:solidFill>
                <a:latin typeface="微软雅黑" panose="020B0503020204020204" pitchFamily="34" charset="-122"/>
              </a:rPr>
              <a:t>从“串口上的数字”到“可训练的数据集”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52928"/>
            <a:ext cx="649224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0">
                <a:solidFill>
                  <a:srgbClr val="5F6B7A"/>
                </a:solidFill>
                <a:latin typeface="微软雅黑" panose="020B0503020204020204" pitchFamily="34" charset="-122"/>
              </a:rPr>
              <a:t>面向零 AI 基础的嵌入式工程师：先把数据采对、洗干净、存规范，后续模型训练才有意义。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51560"/>
            <a:ext cx="2926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44968" y="1197863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RAW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9368" y="1380743"/>
            <a:ext cx="59436" cy="6423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18804" y="1444979"/>
            <a:ext cx="59436" cy="51190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1496169"/>
            <a:ext cx="59436" cy="27750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837676" y="1522593"/>
            <a:ext cx="59436" cy="132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897112" y="1492461"/>
            <a:ext cx="59436" cy="30132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956548" y="1439641"/>
            <a:ext cx="59436" cy="52820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15984" y="1374860"/>
            <a:ext cx="59436" cy="64781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075420" y="1311274"/>
            <a:ext cx="59436" cy="6358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134856" y="1261796"/>
            <a:ext cx="59436" cy="49478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94292" y="1236473"/>
            <a:ext cx="59436" cy="25323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53728" y="1236473"/>
            <a:ext cx="59436" cy="397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313164" y="1240449"/>
            <a:ext cx="59436" cy="32467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72600" y="1272916"/>
            <a:ext cx="59436" cy="54364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32036" y="1327280"/>
            <a:ext cx="59436" cy="65221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91472" y="1392501"/>
            <a:ext cx="59436" cy="62834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50908" y="1455335"/>
            <a:ext cx="59436" cy="4768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10344" y="1503021"/>
            <a:ext cx="59436" cy="22854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669780" y="1519256"/>
            <a:ext cx="59436" cy="6619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729216" y="1484508"/>
            <a:ext cx="59436" cy="34748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788652" y="1428687"/>
            <a:ext cx="59436" cy="55821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848088" y="1363131"/>
            <a:ext cx="59436" cy="6555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907524" y="1301151"/>
            <a:ext cx="59436" cy="61980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966960" y="1255335"/>
            <a:ext cx="59436" cy="4581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026396" y="1234986"/>
            <a:ext cx="59436" cy="20349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85832" y="1234986"/>
            <a:ext cx="59436" cy="9252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145268" y="1244238"/>
            <a:ext cx="59436" cy="36973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04704" y="1281211"/>
            <a:ext cx="59436" cy="57186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543800" y="2194560"/>
            <a:ext cx="2926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44968" y="2340863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4472C4"/>
                </a:solidFill>
                <a:latin typeface="微软雅黑" panose="020B0503020204020204" pitchFamily="34" charset="-122"/>
              </a:rPr>
              <a:t>CLEAN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59368" y="2523744"/>
            <a:ext cx="59436" cy="36132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18804" y="2559876"/>
            <a:ext cx="59436" cy="28795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78240" y="2588671"/>
            <a:ext cx="59436" cy="15609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837676" y="2603534"/>
            <a:ext cx="59436" cy="746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97112" y="2586584"/>
            <a:ext cx="59436" cy="16950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956548" y="2556873"/>
            <a:ext cx="59436" cy="29711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015984" y="2520434"/>
            <a:ext cx="59436" cy="36439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075420" y="2484667"/>
            <a:ext cx="59436" cy="35767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134856" y="2456835"/>
            <a:ext cx="59436" cy="27832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194292" y="2442592"/>
            <a:ext cx="59436" cy="14243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53728" y="2442592"/>
            <a:ext cx="59436" cy="2236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13164" y="2444828"/>
            <a:ext cx="59436" cy="18262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372600" y="2463090"/>
            <a:ext cx="59436" cy="30580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432036" y="2493670"/>
            <a:ext cx="59436" cy="36687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491472" y="2530357"/>
            <a:ext cx="59436" cy="35344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50908" y="2565701"/>
            <a:ext cx="59436" cy="26823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610344" y="2592524"/>
            <a:ext cx="59436" cy="12856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669780" y="2601657"/>
            <a:ext cx="59436" cy="3723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729216" y="2582111"/>
            <a:ext cx="59436" cy="19546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788652" y="2550712"/>
            <a:ext cx="59436" cy="31399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848088" y="2513836"/>
            <a:ext cx="59436" cy="36876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907524" y="2478973"/>
            <a:ext cx="59436" cy="34863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966960" y="2453201"/>
            <a:ext cx="59436" cy="25772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026396" y="2441755"/>
            <a:ext cx="59436" cy="11446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085832" y="2441755"/>
            <a:ext cx="59436" cy="5204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145268" y="2446959"/>
            <a:ext cx="59436" cy="20798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204704" y="2467757"/>
            <a:ext cx="59436" cy="32167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543800" y="3337560"/>
            <a:ext cx="2926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44968" y="3483863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70AD47"/>
                </a:solidFill>
                <a:latin typeface="微软雅黑" panose="020B0503020204020204" pitchFamily="34" charset="-122"/>
              </a:rPr>
              <a:t>WINDOW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659368" y="3666744"/>
            <a:ext cx="59436" cy="20073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718804" y="3686817"/>
            <a:ext cx="59436" cy="15997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778240" y="3702814"/>
            <a:ext cx="59436" cy="867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837676" y="3711072"/>
            <a:ext cx="59436" cy="414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897112" y="3701655"/>
            <a:ext cx="59436" cy="9417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956548" y="3685149"/>
            <a:ext cx="59436" cy="16506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015984" y="3664905"/>
            <a:ext cx="59436" cy="20244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075420" y="3645034"/>
            <a:ext cx="59436" cy="19871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134856" y="3629572"/>
            <a:ext cx="59436" cy="1546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194292" y="3621659"/>
            <a:ext cx="59436" cy="7913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253728" y="3621659"/>
            <a:ext cx="59436" cy="124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313164" y="3622901"/>
            <a:ext cx="59436" cy="10146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372600" y="3633047"/>
            <a:ext cx="59436" cy="16989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432036" y="3650036"/>
            <a:ext cx="59436" cy="2038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491472" y="3670418"/>
            <a:ext cx="59436" cy="19635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550908" y="3690053"/>
            <a:ext cx="59436" cy="1490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610344" y="3704955"/>
            <a:ext cx="59436" cy="714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669780" y="3710029"/>
            <a:ext cx="59436" cy="2068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729216" y="3699170"/>
            <a:ext cx="59436" cy="10859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788652" y="3681726"/>
            <a:ext cx="59436" cy="17444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848088" y="3661240"/>
            <a:ext cx="59436" cy="20486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907524" y="3641871"/>
            <a:ext cx="59436" cy="19369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966960" y="3627553"/>
            <a:ext cx="59436" cy="14318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026396" y="3621194"/>
            <a:ext cx="59436" cy="6359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085832" y="3621194"/>
            <a:ext cx="59436" cy="289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145268" y="3624086"/>
            <a:ext cx="59436" cy="11554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204704" y="3635640"/>
            <a:ext cx="59436" cy="17870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859536" y="6053328"/>
            <a:ext cx="38404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微软雅黑" panose="020B0503020204020204" pitchFamily="34" charset="-122"/>
              </a:rPr>
              <a:t>贺老师 | 嵌入式 AI 落地开发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43800" y="6053328"/>
            <a:ext cx="31089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1050" b="0">
                <a:solidFill>
                  <a:srgbClr val="5F6B7A"/>
                </a:solidFill>
                <a:latin typeface="微软雅黑" panose="020B0503020204020204" pitchFamily="34" charset="-122"/>
              </a:rPr>
              <a:t>课程阶段：第二阶段动作识别项目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本次课要交付什么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5836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658368" y="1353312"/>
            <a:ext cx="3063240" cy="822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896112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微软雅黑" panose="020B0503020204020204" pitchFamily="34" charset="-122"/>
              </a:rPr>
              <a:t>知识目标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87782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理解动作识别项目为什么先做数据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理解原始数据、清洗数据、窗口特征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知道采样率、标签、窗口长度如何影响模型</a:t>
            </a: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422452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4224528" y="1353312"/>
            <a:ext cx="3063240" cy="8229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4462272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4472C4"/>
                </a:solidFill>
                <a:latin typeface="微软雅黑" panose="020B0503020204020204" pitchFamily="34" charset="-122"/>
              </a:rPr>
              <a:t>技能目标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444398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会下载 STM32N647 采集程序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会用 PC GUI 按动作保存 CSV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会用离线脚本验证清洗流程</a:t>
            </a: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779068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7790688" y="1353312"/>
            <a:ext cx="3063240" cy="8229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028431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微软雅黑" panose="020B0503020204020204" pitchFamily="34" charset="-122"/>
              </a:rPr>
              <a:t>成果输出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01014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idle / walk / stairs 三类数据文件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clean / raw / window 三种数据视角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为 Day12 训练动作识别模型准备数据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Day11 在动作识别项目中的位置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传感器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QMI8658A 输出三轴加速度和三轴陀螺仪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0864" y="2743200"/>
            <a:ext cx="201168" cy="0"/>
          </a:xfrm>
          <a:prstGeom prst="line">
            <a:avLst/>
          </a:prstGeom>
          <a:ln w="1778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7860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4472C4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采集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固定频率读取，给每段动作贴标签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61104" y="2743200"/>
            <a:ext cx="201168" cy="0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9884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70AD47"/>
                </a:solidFill>
                <a:latin typeface="微软雅黑" panose="020B0503020204020204" pitchFamily="34" charset="-122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清洗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限幅、滤波、重力估计、有效性检查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81344" y="2743200"/>
            <a:ext cx="201168" cy="0"/>
          </a:xfrm>
          <a:prstGeom prst="line">
            <a:avLst/>
          </a:prstGeom>
          <a:ln w="1778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1908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 panose="020B0503020204020204" pitchFamily="34" charset="-122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成窗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把连续时序切成固定长度样本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01583" y="2743200"/>
            <a:ext cx="201169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3932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8068A8"/>
                </a:solidFill>
                <a:latin typeface="微软雅黑" panose="020B0503020204020204" pitchFamily="34" charset="-122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训练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Day12 用窗口数据训练分类模型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21824" y="2743200"/>
            <a:ext cx="201168" cy="0"/>
          </a:xfrm>
          <a:prstGeom prst="line">
            <a:avLst/>
          </a:prstGeom>
          <a:ln w="17780">
            <a:solidFill>
              <a:srgbClr val="80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5956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2416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4F81BD"/>
                </a:solidFill>
                <a:latin typeface="微软雅黑" panose="020B0503020204020204" pitchFamily="34" charset="-122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后续把模型放回 STM32N647 推理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572000"/>
            <a:ext cx="9875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注意：采集和清洗不是模型训练的附属工作，而是动作识别项目的第一层工程质量。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为什么嵌入式 AI 第一件事是数据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模型不是凭空学会动作，模型只能从你给它的数据里学习规律。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采集方式不稳定，模型学到的往往是噪声、姿态或设备摆放方式，而不是动作本身。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嵌入式设备资源有限，后续模型越小，越依赖前面数据和特征设计足够规范。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数据清洗不是为了把曲线变好看，而是为了让训练集更接近 MCU 实际运行时看到的数据。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一句话：先把数据工程做好，再谈模型训练。否则模型调参会变成猜谜。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656" y="914400"/>
            <a:ext cx="164592" cy="5029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868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1499616"/>
            <a:ext cx="7772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pitchFamily="34" charset="-122"/>
              </a:rPr>
              <a:t>第一部分：采什么数据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95728"/>
            <a:ext cx="758952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0">
                <a:solidFill>
                  <a:srgbClr val="E7E6E6"/>
                </a:solidFill>
                <a:latin typeface="微软雅黑" panose="020B0503020204020204" pitchFamily="34" charset="-122"/>
              </a:rPr>
              <a:t>先理解 QMI8658A 输出的数字代表什么，再设计采集规则。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907024"/>
            <a:ext cx="3657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907024"/>
            <a:ext cx="3383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公众号：玩转单片机与嵌入式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QMI8658A 给我们的六个通道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5836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658368" y="1353312"/>
            <a:ext cx="3063240" cy="822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896112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微软雅黑" panose="020B0503020204020204" pitchFamily="34" charset="-122"/>
              </a:rPr>
              <a:t>加速度计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87782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ax / ay / az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单位：m/s²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静止时会看到重力分量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走路时会叠加身体运动</a:t>
            </a: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422452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4224528" y="1353312"/>
            <a:ext cx="3063240" cy="8229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4462272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4472C4"/>
                </a:solidFill>
                <a:latin typeface="微软雅黑" panose="020B0503020204020204" pitchFamily="34" charset="-122"/>
              </a:rPr>
              <a:t>陀螺仪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444398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gx / gy / gz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单位：rad/s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描述角速度变化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对姿态变化很敏感</a:t>
            </a: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779068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7790688" y="1353312"/>
            <a:ext cx="3063240" cy="8229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028431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微软雅黑" panose="020B0503020204020204" pitchFamily="34" charset="-122"/>
              </a:rPr>
              <a:t>时间戳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01014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t_ms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来自 HAL_GetTick()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用于判断采样间隔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窗口切分时很重要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动作识别里的三类标签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53312"/>
          <a:ext cx="1088136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标签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动作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采集建议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常见问题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idle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静止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开发板平放或佩戴后保持不动 10 到 20 秒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不要在开始和结束时晃动板子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walk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走路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保持佩戴方式一致，连续走 30 到 60 秒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不要中途停下或换手拿板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stairs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上楼梯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保持与走路一致的固定方式，上楼 30 到 60 秒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不要混入下楼、转身、站立等待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采集规则：让数据可比较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同一轮实验里，板子固定位置尽量一致，比如手持、绑在手腕或固定在腰部，不要频繁改变。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每类动作至少采集多段，而不是只采一段很长的数据；这样后续更容易划分训练集和测试集。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动作切换时先暂停保存或切换标签，避免 walk 文件里混入 idle 或 stairs 的过渡动作。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采集环境不追求完美，但要记录清楚：人、板子位置、采样方式、是否有异常。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零基础同学要记住：标签错了，比噪声还可怕。噪声还能过滤，错误标签会直接误导模型。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RAW、CLEAN、WINDOW 三种数据视角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53312"/>
          <a:ext cx="1088136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保存内容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主要用途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是否适合直接训练</a:t>
                      </a:r>
                    </a:p>
                  </a:txBody>
                  <a:tcPr marL="64008" marR="45720"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RAW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原始加速度和陀螺仪，放大 1000 倍后串口输出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保留现场证据，后续可重新清洗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一般不直接用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CLEAN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线性加速度、滤波后陀螺仪、模长、valid、clipped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观察清洗效果，也可作为时序模型输入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可以</a:t>
                      </a:r>
                    </a:p>
                  </a:txBody>
                  <a:tcPr marL="64008" marR="45720" marT="36576" marB="36576" anchor="ctr"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WINDOW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64 个样本形成一个窗口，输出均值和 RMS 特征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传统机器学习或小型神经网络的第一版输入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推荐第一版使用</a:t>
                      </a:r>
                    </a:p>
                  </a:txBody>
                  <a:tcPr marL="64008" marR="4572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656" y="914400"/>
            <a:ext cx="164592" cy="5029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868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1499616"/>
            <a:ext cx="7772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pitchFamily="34" charset="-122"/>
              </a:rPr>
              <a:t>第二部分：怎么清洗数据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95728"/>
            <a:ext cx="758952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0">
                <a:solidFill>
                  <a:srgbClr val="E7E6E6"/>
                </a:solidFill>
                <a:latin typeface="微软雅黑" panose="020B0503020204020204" pitchFamily="34" charset="-122"/>
              </a:rPr>
              <a:t>把嵌入式工程里的传感器读数，整理成模型更容易学习的样本。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907024"/>
            <a:ext cx="3657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907024"/>
            <a:ext cx="3383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公众号：玩转单片机与嵌入式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板端清洗流程总览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定时采样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20ms 一次，约 50Hz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0864" y="2743200"/>
            <a:ext cx="201168" cy="0"/>
          </a:xfrm>
          <a:prstGeom prst="line">
            <a:avLst/>
          </a:prstGeom>
          <a:ln w="1778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7860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4472C4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物理限幅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过滤明显不合理尖峰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61104" y="2743200"/>
            <a:ext cx="201168" cy="0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9884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70AD47"/>
                </a:solidFill>
                <a:latin typeface="微软雅黑" panose="020B0503020204020204" pitchFamily="34" charset="-122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低通滤波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平滑高频抖动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81344" y="2743200"/>
            <a:ext cx="201168" cy="0"/>
          </a:xfrm>
          <a:prstGeom prst="line">
            <a:avLst/>
          </a:prstGeom>
          <a:ln w="1778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1908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 panose="020B0503020204020204" pitchFamily="34" charset="-122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重力估计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慢速滤波估计重力方向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01583" y="2743200"/>
            <a:ext cx="201169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3932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8068A8"/>
                </a:solidFill>
                <a:latin typeface="微软雅黑" panose="020B0503020204020204" pitchFamily="34" charset="-122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线性加速度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加速度减去重力分量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21824" y="2743200"/>
            <a:ext cx="201168" cy="0"/>
          </a:xfrm>
          <a:prstGeom prst="line">
            <a:avLst/>
          </a:prstGeom>
          <a:ln w="17780">
            <a:solidFill>
              <a:srgbClr val="80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59568" y="1828800"/>
            <a:ext cx="16642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24160" y="1975104"/>
            <a:ext cx="3840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4F81BD"/>
                </a:solidFill>
                <a:latin typeface="微软雅黑" panose="020B0503020204020204" pitchFamily="34" charset="-122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2304288"/>
            <a:ext cx="13716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2B3442"/>
                </a:solidFill>
                <a:latin typeface="微软雅黑" panose="020B0503020204020204" pitchFamily="34" charset="-122"/>
              </a:rPr>
              <a:t>窗口统计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2761488"/>
            <a:ext cx="13716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sz="1160" b="0">
                <a:solidFill>
                  <a:srgbClr val="5F6B7A"/>
                </a:solidFill>
                <a:latin typeface="微软雅黑" panose="020B0503020204020204" pitchFamily="34" charset="-122"/>
              </a:rPr>
              <a:t>64 点输出均值和 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572000"/>
            <a:ext cx="9875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注意：采集和清洗不是模型训练的附属工作，而是动作识别项目的第一层工程质量。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 dirty="0" err="1">
                <a:solidFill>
                  <a:srgbClr val="1F4E79"/>
                </a:solidFill>
                <a:latin typeface="微软雅黑" panose="020B0503020204020204" pitchFamily="34" charset="-122"/>
              </a:rPr>
              <a:t>固定采样率：为什么是</a:t>
            </a:r>
            <a:r>
              <a:rPr sz="2500" b="1" dirty="0">
                <a:solidFill>
                  <a:srgbClr val="1F4E79"/>
                </a:solidFill>
                <a:latin typeface="微软雅黑" panose="020B0503020204020204" pitchFamily="34" charset="-122"/>
              </a:rPr>
              <a:t> 20ms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代码中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DAY11_SAMPLE_PERIOD_MS = 20，表示至少间隔 20ms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才输出一次数据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50Hz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对走路和上楼梯这类人体动作已经够用，数据量也不会把串口和文件撑得太大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如果采样间隔忽快忽慢，窗口里的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64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个点代表的时间长度就不稳定，模型会更难学习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HAL_Delay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(10)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只是主循环节拍，真正控制输出频率的是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day11_data_collect_update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里的时间判断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嵌入式 AI 里，采样率就是数据的“时间尺子”。尺子不稳，后面的模型就会歪。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代码讲解：Day11 参数区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5577840" cy="4526280"/>
          </a:xfrm>
          <a:prstGeom prst="roundRect">
            <a:avLst/>
          </a:prstGeom>
          <a:solidFill>
            <a:srgbClr val="18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8"/>
            <a:ext cx="5102352" cy="3840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020" b="0" dirty="0">
                <a:solidFill>
                  <a:srgbClr val="EAF2FF"/>
                </a:solidFill>
                <a:latin typeface="Consolas" panose="020B0609020204030204"/>
              </a:rPr>
              <a:t>#define DAY11_SAMPLE_PERIOD_MS        (20U)</a:t>
            </a:r>
          </a:p>
          <a:p>
            <a:pPr algn="l">
              <a:lnSpc>
                <a:spcPct val="95000"/>
              </a:lnSpc>
            </a:pPr>
            <a:r>
              <a:rPr lang="en-US" sz="1020" b="0" dirty="0">
                <a:solidFill>
                  <a:srgbClr val="EAF2FF"/>
                </a:solidFill>
                <a:latin typeface="Consolas" panose="020B0609020204030204"/>
              </a:rPr>
              <a:t>#define DAY11_WINDOW_SAMPLES          (64U)</a:t>
            </a:r>
          </a:p>
          <a:p>
            <a:pPr algn="l">
              <a:lnSpc>
                <a:spcPct val="95000"/>
              </a:lnSpc>
            </a:pPr>
            <a:r>
              <a:rPr lang="en-US" sz="1020" b="0" dirty="0">
                <a:solidFill>
                  <a:srgbClr val="EAF2FF"/>
                </a:solidFill>
                <a:latin typeface="Consolas" panose="020B0609020204030204"/>
              </a:rPr>
              <a:t>#define DAY11_FILTER_ALPHA_X1000      (250)</a:t>
            </a:r>
          </a:p>
          <a:p>
            <a:pPr algn="l">
              <a:lnSpc>
                <a:spcPct val="95000"/>
              </a:lnSpc>
            </a:pPr>
            <a:r>
              <a:rPr lang="en-US" sz="1020" b="0" dirty="0">
                <a:solidFill>
                  <a:srgbClr val="EAF2FF"/>
                </a:solidFill>
                <a:latin typeface="Consolas" panose="020B0609020204030204"/>
              </a:rPr>
              <a:t>#define DAY11_GRAVITY_ALPHA_X1000     (20)</a:t>
            </a:r>
          </a:p>
          <a:p>
            <a:pPr algn="l">
              <a:lnSpc>
                <a:spcPct val="95000"/>
              </a:lnSpc>
            </a:pPr>
            <a:r>
              <a:rPr lang="en-US" sz="1020" b="0" dirty="0">
                <a:solidFill>
                  <a:srgbClr val="EAF2FF"/>
                </a:solidFill>
                <a:latin typeface="Consolas" panose="020B0609020204030204"/>
              </a:rPr>
              <a:t>#define DAY11_ACC_LIMIT_MPS2_X1000    (196140L)</a:t>
            </a:r>
          </a:p>
          <a:p>
            <a:pPr algn="l">
              <a:lnSpc>
                <a:spcPct val="95000"/>
              </a:lnSpc>
            </a:pPr>
            <a:r>
              <a:rPr lang="en-US" sz="1020" b="0" dirty="0">
                <a:solidFill>
                  <a:srgbClr val="EAF2FF"/>
                </a:solidFill>
                <a:latin typeface="Consolas" panose="020B0609020204030204"/>
              </a:rPr>
              <a:t>#define DAY11_GYRO_LIMIT_RAD_X1000    (4000L)</a:t>
            </a:r>
          </a:p>
          <a:p>
            <a:pPr algn="l">
              <a:lnSpc>
                <a:spcPct val="95000"/>
              </a:lnSpc>
            </a:pPr>
            <a:r>
              <a:rPr lang="en-US" sz="1020" b="0" dirty="0">
                <a:solidFill>
                  <a:srgbClr val="EAF2FF"/>
                </a:solidFill>
                <a:latin typeface="Consolas" panose="020B0609020204030204"/>
              </a:rPr>
              <a:t>#define DAY11_PC_GUI_CAPTURE_MODE     (1U)</a:t>
            </a:r>
            <a:endParaRPr sz="1020" b="0" dirty="0">
              <a:solidFill>
                <a:srgbClr val="EAF2FF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物理限幅：先拦住明显离谱的值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限幅不是为了让数据完全正确，而是防止偶发尖峰污染整个窗口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加速度阈值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DAY11_ACC_LIMIT_MPS2_X1000 = 196140，对应约 196.140 m/s²。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陀螺仪阈值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DAY11_GYRO_LIMIT_RAD_X1000 = 4000，对应约 4.0 rad/s。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如果发生限幅，clipped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计数会增加；窗口输出里也能看到这个窗口是否发生过异常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 dirty="0" err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  <a:endParaRPr sz="1500" b="1" dirty="0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限幅后的数据仍然要保留 clipped 标记，因为模型训练前需要知道这一段数据是否可靠。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代码讲解：浮点转整数与限幅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5577840" cy="4526280"/>
          </a:xfrm>
          <a:prstGeom prst="roundRect">
            <a:avLst/>
          </a:prstGeom>
          <a:solidFill>
            <a:srgbClr val="18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8"/>
            <a:ext cx="5102352" cy="3840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sz="1020" b="0">
                <a:solidFill>
                  <a:srgbClr val="EAF2FF"/>
                </a:solidFill>
                <a:latin typeface="Consolas" panose="020B0609020204030204"/>
              </a:rPr>
              <a:t>acc_raw[axis] = day11_float_to_scaled(accel[axis], 1000.0f);
gyro_raw[axis] = day11_float_to_scaled(gyro[axis], 1000.0f);
acc_clean[axis] = day11_clip_i32(acc_raw[axis],
    -DAY11_ACC_LIMIT_MPS2_X1000,
     DAY11_ACC_LIMIT_MPS2_X1000,
    &amp;clipped);
gyro_clean[axis] = day11_clip_i32(gyro_raw[axis],
    -DAY11_GYRO_LIMIT_RAD_X1000,
     DAY11_GYRO_LIMIT_RAD_X1000,
    &amp;clipped);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444752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874519"/>
            <a:ext cx="4297680" cy="37947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串口输出整数，是为了兼容 nano printf，避免 %f 浮点打印问题。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数值放大 1000 倍后，Python 仍然可以轻松还原真实物理量。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clipped 是数据质量标志，不是训练特征本身。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低通滤波：让动作趋势更清楚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一阶低通滤波公式：state = alpha * input + (1 - alpha) * state。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DAY11_FILTER_ALPHA_X1000 = 250，也就是 alpha = 0.25，新数据占 25%。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alpha 越大，响应越快，但抖动也更明显；alpha 越小，曲线更平滑，但动作变化会滞后。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课堂先用 0.25，是为了在平滑和响应之间取得一个容易观察的折中。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滤波的目的不是“消灭变化”，而是保留动作趋势、削弱高频抖动。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代码讲解：一阶低通滤波函数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5577840" cy="4526280"/>
          </a:xfrm>
          <a:prstGeom prst="roundRect">
            <a:avLst/>
          </a:prstGeom>
          <a:solidFill>
            <a:srgbClr val="18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8"/>
            <a:ext cx="5102352" cy="3840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sz="1020" b="0">
                <a:solidFill>
                  <a:srgbClr val="EAF2FF"/>
                </a:solidFill>
                <a:latin typeface="Consolas" panose="020B0609020204030204"/>
              </a:rPr>
              <a:t>static void day11_update_lowpass(float *state,
                                  const float *input,
                                  int alpha_x1000)
{
  const float alpha = (float)alpha_x1000 / 1000.0f;
  for (axis = 0U; axis &lt; 3U; axis++)
  {
    state[axis] = (alpha * input[axis])
                + ((1.0f - alpha) * state[axis]);
  }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444752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这段代码要讲清楚什么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874519"/>
            <a:ext cx="4297680" cy="37947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state 保存上一时刻的滤波结果，所以这是有记忆的处理。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同一个函数同时服务加速度、陀螺仪和重力估计。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这类处理必须和后续训练脚本保持一致，否则训练和部署会看到不同数据分布。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重力估计：把静态重力从动作里分离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加速度计测到的不只是人的运动，还包括重力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如果直接把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ax、ay、az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喂给模型，模型可能学到板子的摆放姿态，而不是动作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代码用更慢的低通滤波估计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gravity，DAY11_GRAVITY_ALPHA_X1000 = 20，也就是 alpha = 0.02。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线性加速度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linear_acc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=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acc_lp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 - </a:t>
            </a:r>
            <a:r>
              <a:rPr sz="162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gravity，它更接近“真正由动作产生的加速度</a:t>
            </a:r>
            <a:r>
              <a:rPr sz="1620" dirty="0">
                <a:solidFill>
                  <a:srgbClr val="2B3442"/>
                </a:solidFill>
                <a:latin typeface="微软雅黑" panose="020B0503020204020204" pitchFamily="34" charset="-122"/>
              </a:rPr>
              <a:t>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这是本节课最重要的 TinyML 思维：传感器读数不等于模型输入，中间需要工程解释。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代码讲解：线性加速度与模长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5577840" cy="4526280"/>
          </a:xfrm>
          <a:prstGeom prst="roundRect">
            <a:avLst/>
          </a:prstGeom>
          <a:solidFill>
            <a:srgbClr val="18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8"/>
            <a:ext cx="5102352" cy="3840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sz="1020" b="0" dirty="0">
                <a:solidFill>
                  <a:srgbClr val="EAF2FF"/>
                </a:solidFill>
                <a:latin typeface="Consolas" panose="020B0609020204030204"/>
              </a:rPr>
              <a:t>day11_update_lowpass(g_day11_clean.acc_lp,
                     </a:t>
            </a:r>
            <a:r>
              <a:rPr sz="1020" b="0" dirty="0" err="1">
                <a:solidFill>
                  <a:srgbClr val="EAF2FF"/>
                </a:solidFill>
                <a:latin typeface="Consolas" panose="020B0609020204030204"/>
              </a:rPr>
              <a:t>acc_in</a:t>
            </a:r>
            <a:r>
              <a:rPr sz="1020" b="0" dirty="0">
                <a:solidFill>
                  <a:srgbClr val="EAF2FF"/>
                </a:solidFill>
                <a:latin typeface="Consolas" panose="020B0609020204030204"/>
              </a:rPr>
              <a:t>,
                     DAY11_FILTER_ALPHA_X1000);
day11_update_lowpass(g_day11_clean.gravity,
                     g_day11_clean.acc_lp,
                     DAY11_GRAVITY_ALPHA_X1000);
</a:t>
            </a:r>
            <a:r>
              <a:rPr sz="1020" b="0" dirty="0" err="1">
                <a:solidFill>
                  <a:srgbClr val="EAF2FF"/>
                </a:solidFill>
                <a:latin typeface="Consolas" panose="020B0609020204030204"/>
              </a:rPr>
              <a:t>linear_acc</a:t>
            </a:r>
            <a:r>
              <a:rPr sz="1020" b="0" dirty="0">
                <a:solidFill>
                  <a:srgbClr val="EAF2FF"/>
                </a:solidFill>
                <a:latin typeface="Consolas" panose="020B0609020204030204"/>
              </a:rPr>
              <a:t>[axis] = g_day11_clean.acc_lp[axis]
                 - g_day11_clean.gravity[axis];
</a:t>
            </a:r>
            <a:r>
              <a:rPr sz="1020" b="0" dirty="0" err="1">
                <a:solidFill>
                  <a:srgbClr val="EAF2FF"/>
                </a:solidFill>
                <a:latin typeface="Consolas" panose="020B0609020204030204"/>
              </a:rPr>
              <a:t>acc_norm</a:t>
            </a:r>
            <a:r>
              <a:rPr sz="1020" b="0" dirty="0">
                <a:solidFill>
                  <a:srgbClr val="EAF2FF"/>
                </a:solidFill>
                <a:latin typeface="Consolas" panose="020B0609020204030204"/>
              </a:rPr>
              <a:t> = </a:t>
            </a:r>
            <a:r>
              <a:rPr sz="1020" b="0" dirty="0" err="1">
                <a:solidFill>
                  <a:srgbClr val="EAF2FF"/>
                </a:solidFill>
                <a:latin typeface="Consolas" panose="020B0609020204030204"/>
              </a:rPr>
              <a:t>sqrtf</a:t>
            </a:r>
            <a:r>
              <a:rPr sz="1020" b="0" dirty="0">
                <a:solidFill>
                  <a:srgbClr val="EAF2FF"/>
                </a:solidFill>
                <a:latin typeface="Consolas" panose="020B0609020204030204"/>
              </a:rPr>
              <a:t>(ax*ax + ay*ay + </a:t>
            </a:r>
            <a:r>
              <a:rPr sz="1020" b="0" dirty="0" err="1">
                <a:solidFill>
                  <a:srgbClr val="EAF2FF"/>
                </a:solidFill>
                <a:latin typeface="Consolas" panose="020B0609020204030204"/>
              </a:rPr>
              <a:t>az</a:t>
            </a:r>
            <a:r>
              <a:rPr sz="1020" b="0" dirty="0">
                <a:solidFill>
                  <a:srgbClr val="EAF2FF"/>
                </a:solidFill>
                <a:latin typeface="Consolas" panose="020B0609020204030204"/>
              </a:rPr>
              <a:t>*</a:t>
            </a:r>
            <a:r>
              <a:rPr sz="1020" b="0" dirty="0" err="1">
                <a:solidFill>
                  <a:srgbClr val="EAF2FF"/>
                </a:solidFill>
                <a:latin typeface="Consolas" panose="020B0609020204030204"/>
              </a:rPr>
              <a:t>az</a:t>
            </a:r>
            <a:r>
              <a:rPr sz="1020" b="0" dirty="0">
                <a:solidFill>
                  <a:srgbClr val="EAF2FF"/>
                </a:solidFill>
                <a:latin typeface="Consolas" panose="020B0609020204030204"/>
              </a:rP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444752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600" b="1" dirty="0" err="1">
                <a:solidFill>
                  <a:srgbClr val="ED7D31"/>
                </a:solidFill>
                <a:latin typeface="微软雅黑" panose="020B0503020204020204" pitchFamily="34" charset="-122"/>
              </a:rPr>
              <a:t>要讲</a:t>
            </a:r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</a:rPr>
              <a:t>重点</a:t>
            </a:r>
            <a:endParaRPr sz="1600" b="1" dirty="0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93408" y="1874519"/>
            <a:ext cx="4297680" cy="37947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45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acc_lp</a:t>
            </a: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 </a:t>
            </a:r>
            <a:r>
              <a:rPr sz="145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是平滑后的加速度，gravity</a:t>
            </a: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 </a:t>
            </a:r>
            <a:r>
              <a:rPr sz="145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是慢速变化的重力估计</a:t>
            </a: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45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两者相减后，线性加速度更能反映走路、上楼梯的动态变化</a:t>
            </a: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• </a:t>
            </a:r>
            <a:r>
              <a:rPr sz="145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acc_norm</a:t>
            </a: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 和 </a:t>
            </a:r>
            <a:r>
              <a:rPr sz="145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gyro_norm</a:t>
            </a: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 </a:t>
            </a:r>
            <a:r>
              <a:rPr sz="1450" dirty="0" err="1">
                <a:solidFill>
                  <a:srgbClr val="2B3442"/>
                </a:solidFill>
                <a:latin typeface="微软雅黑" panose="020B0503020204020204" pitchFamily="34" charset="-122"/>
              </a:rPr>
              <a:t>是把三轴合成一个强度指标，便于后续观察</a:t>
            </a:r>
            <a:r>
              <a:rPr sz="1450" dirty="0">
                <a:solidFill>
                  <a:srgbClr val="2B3442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窗口切分：把连续数据变成训练样本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神经网络训练通常需要一条一条样本，而串口输出是一条连续时间流。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DAY11_WINDOW_SAMPLES = 64，表示每 64 个有效点形成一个窗口。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在 50Hz 采样率下，一个窗口约 1.28 秒，基本覆盖走路或上楼梯的一小段动作周期。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当前课程先输出均值和 RMS 特征，后续也可以直接使用窗口内完整时序。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窗口长度没有唯一答案。它要和动作速度、采样率、模型输入形状一起设计。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代码讲解：窗口统计输出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5577840" cy="4526280"/>
          </a:xfrm>
          <a:prstGeom prst="roundRect">
            <a:avLst/>
          </a:prstGeom>
          <a:solidFill>
            <a:srgbClr val="18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8"/>
            <a:ext cx="5102352" cy="3840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sz="1020" b="0">
                <a:solidFill>
                  <a:srgbClr val="EAF2FF"/>
                </a:solidFill>
                <a:latin typeface="Consolas" panose="020B0609020204030204"/>
              </a:rPr>
              <a:t>g_day11_window.acc_sum[axis] += acc_clean[axis];
g_day11_window.gyro_sum[axis] += gyro_clean[axis];
g_day11_window.linear_acc_sum[axis] += linear_acc_scaled[axis];
g_day11_window.acc_sq_sum[axis] += acc_clean[axis] * acc_clean[axis];
g_day11_window.gyro_sq_sum[axis] += gyro_clean[axis] * gyro_clean[axis];
g_day11_window.count++;
if (g_day11_window.count &gt;= DAY11_WINDOW_SAMPLES)
{
  day11_print_window_summary();
  day11_window_reset(now);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444752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这段代码要讲清楚什么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874519"/>
            <a:ext cx="4297680" cy="37947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sum 用于计算均值，sq_sum 用于计算 RMS。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均值描述窗口整体偏移，RMS 描述动作强度。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>
                <a:solidFill>
                  <a:srgbClr val="2B3442"/>
                </a:solidFill>
                <a:latin typeface="微软雅黑" panose="020B0503020204020204" pitchFamily="34" charset="-122"/>
              </a:rPr>
              <a:t>• 窗口输出比逐点数据更短，更适合第一版小模型。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656" y="914400"/>
            <a:ext cx="164592" cy="5029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868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1499616"/>
            <a:ext cx="7772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pitchFamily="34" charset="-122"/>
              </a:rPr>
              <a:t>第三部分：如何保存数据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95728"/>
            <a:ext cx="758952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0">
                <a:solidFill>
                  <a:srgbClr val="E7E6E6"/>
                </a:solidFill>
                <a:latin typeface="微软雅黑" panose="020B0503020204020204" pitchFamily="34" charset="-122"/>
              </a:rPr>
              <a:t>通过串口和 PC GUI，把不同动作保存到不同 CSV 文件。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907024"/>
            <a:ext cx="3657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907024"/>
            <a:ext cx="3383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公众号：玩转单片机与嵌入式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Day12 会怎样使用这些数据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Day12 会把 Day11 生成的 CSV 整理成训练集、验证集和测试集。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第一版可以直接使用 WINDOW 特征训练一个轻量分类模型。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如果要做更强的时序模型，可以把 CLEAN 序列按窗口堆叠成三维张量。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训练脚本里的归一化、窗口长度、字段选择，必须和板端采集逻辑保持一致。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这就是 TinyML 的闭环：板端怎么采，Python 怎么训，最终 MCU 就要怎么推。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本节课小结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3063240" cy="822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微软雅黑" panose="020B0503020204020204" pitchFamily="34" charset="-122"/>
              </a:rPr>
              <a:t>你应该理解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模型训练之前，数据质量决定上限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QMI8658A 的六轴数据如何变成动作样本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raw / clean / window 的用途区别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4528" y="1353312"/>
            <a:ext cx="3063240" cy="8229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4472C4"/>
                </a:solidFill>
                <a:latin typeface="微软雅黑" panose="020B0503020204020204" pitchFamily="34" charset="-122"/>
              </a:rPr>
              <a:t>你应该会做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下载 STM32 数据采集程序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使用 GUI 按类别保存 CSV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用离线脚本验证清洗逻辑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353312"/>
            <a:ext cx="30632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90688" y="1353312"/>
            <a:ext cx="3063240" cy="8229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28431" y="1664208"/>
            <a:ext cx="2560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微软雅黑" panose="020B0503020204020204" pitchFamily="34" charset="-122"/>
              </a:rPr>
              <a:t>你要带走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139696"/>
            <a:ext cx="2615184" cy="31546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一套可复用的数据采集流程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三类动作数据文件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80">
                <a:solidFill>
                  <a:srgbClr val="2B3442"/>
                </a:solidFill>
                <a:latin typeface="微软雅黑" panose="020B0503020204020204" pitchFamily="34" charset="-122"/>
              </a:rPr>
              <a:t>• 为 Day12 模型训练做准备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92024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Day11 数据采集与清洗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69848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微软雅黑" panose="020B0503020204020204" pitchFamily="34" charset="-122"/>
              </a:rPr>
              <a:t>课后练习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55664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6437376"/>
            <a:ext cx="6172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75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微信：593342536  |  电话：19953129323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16736"/>
            <a:ext cx="6492240" cy="44805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每类动作至少采集 3 段，每段 30 秒以上，并记录板子固定位置。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分别打开 idle_clean.csv、walk_clean.csv、stairs_clean.csv，观察 acc_norm 和 gyro_norm 的差异。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修改离线脚本中的 FILTER_ALPHA，比较 0.1、0.25、0.5 对 clean 数据的影响。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20">
                <a:solidFill>
                  <a:srgbClr val="2B3442"/>
                </a:solidFill>
                <a:latin typeface="微软雅黑" panose="020B0503020204020204" pitchFamily="34" charset="-122"/>
              </a:rPr>
              <a:t>• 思考：如果把识别类别从两个动作扩展到四个动作，采集流程需要增加哪些约束？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73736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讲解重点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157984"/>
            <a:ext cx="2880360" cy="2999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B3442"/>
                </a:solidFill>
                <a:latin typeface="微软雅黑" panose="020B0503020204020204" pitchFamily="34" charset="-122"/>
              </a:rPr>
              <a:t>下一节课会用这些数据正式训练动作识别模型。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999999999997,&quot;left&quot;:51.839999999999996,&quot;top&quot;:106.55999999999999,&quot;width&quot;:802.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2033</Words>
  <Application>Microsoft Office PowerPoint</Application>
  <PresentationFormat>宽屏</PresentationFormat>
  <Paragraphs>312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Montserrat Bold</vt:lpstr>
      <vt:lpstr>OPPOSans L</vt:lpstr>
      <vt:lpstr>字魂58号-创中黑</vt:lpstr>
      <vt:lpstr>微软雅黑</vt:lpstr>
      <vt:lpstr>微软雅黑 Light</vt:lpstr>
      <vt:lpstr>思源黑体 CN Medium</vt:lpstr>
      <vt:lpstr>等线</vt:lpstr>
      <vt:lpstr>Arial</vt:lpstr>
      <vt:lpstr>Calibri</vt:lpstr>
      <vt:lpstr>Consolas</vt:lpstr>
      <vt:lpstr>Montserrat</vt:lpstr>
      <vt:lpstr>Open Sans</vt:lpstr>
      <vt:lpstr>Poppins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个人年度任务项规划</dc:title>
  <dc:creator>马超/Chao Ma</dc:creator>
  <cp:lastModifiedBy>Chris Green</cp:lastModifiedBy>
  <cp:revision>478</cp:revision>
  <dcterms:created xsi:type="dcterms:W3CDTF">2024-02-28T02:14:00Z</dcterms:created>
  <dcterms:modified xsi:type="dcterms:W3CDTF">2026-05-10T11:38:27Z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82CEA096E88441E683A3EECBA8E62DEA_12</vt:lpwstr>
  </property>
</Properties>
</file>