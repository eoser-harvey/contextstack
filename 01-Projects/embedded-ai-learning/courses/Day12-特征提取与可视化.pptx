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87" r:id="rId3"/>
    <p:sldMasterId id="2147483726" r:id="rId4"/>
  </p:sldMasterIdLst>
  <p:notesMasterIdLst>
    <p:notesMasterId r:id="rId6"/>
  </p:notesMasterIdLst>
  <p:handoutMasterIdLst>
    <p:handoutMasterId r:id="rId74"/>
  </p:handoutMasterIdLst>
  <p:sldIdLst>
    <p:sldId id="302" r:id="rId5"/>
    <p:sldId id="303" r:id="rId7"/>
    <p:sldId id="304" r:id="rId8"/>
    <p:sldId id="305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38"/>
    <p:sldId id="342" r:id="rId37"/>
    <p:sldId id="343" r:id="rId36"/>
    <p:sldId id="344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FA"/>
    <a:srgbClr val="FFFFFF"/>
    <a:srgbClr val="4472C4"/>
    <a:srgbClr val="0000FF"/>
    <a:srgbClr val="F5FCFC"/>
    <a:srgbClr val="37D0E2"/>
    <a:srgbClr val="36C7D7"/>
    <a:srgbClr val="18C3D6"/>
    <a:srgbClr val="22D3EF"/>
    <a:srgbClr val="2D3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6" autoAdjust="0"/>
    <p:restoredTop sz="79567" autoAdjust="0"/>
  </p:normalViewPr>
  <p:slideViewPr>
    <p:cSldViewPr snapToGrid="0">
      <p:cViewPr varScale="1">
        <p:scale>
          <a:sx n="88" d="100"/>
          <a:sy n="88" d="100"/>
        </p:scale>
        <p:origin x="1500" y="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226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68.xml"/><Relationship Id="rId36" Type="http://schemas.openxmlformats.org/officeDocument/2006/relationships/slide" Target="slides/slide67.xml"/><Relationship Id="rId37" Type="http://schemas.openxmlformats.org/officeDocument/2006/relationships/slide" Target="slides/slide66.xml"/><Relationship Id="rId38" Type="http://schemas.openxmlformats.org/officeDocument/2006/relationships/slide" Target="slides/slide65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handoutMaster" Target="handoutMasters/handout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D4B29-400F-4285-9793-B47B16C71F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ACCE3-0533-47BF-BD7F-1911409AB8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AFF34-85D7-4EB3-877C-EC34D6226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这门课不是“只会跑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，而是希望你带着工程视角，把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当成一个嵌入式软件库来理解。 所以我们会：先把机器学习的概念翻译成单片机工程师听得懂的语言，再看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是怎么在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上实现这些概念， 可以把整门课理解为“给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工程师准备的一份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系统设计评审资料”。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在上一次课我们讲解了数据采集和清洗，我们使用</a:t>
            </a:r>
            <a:r>
              <a:rPr>
                <a:solidFill>
                  <a:srgbClr val="5F6B7A"/>
                </a:solidFill>
                <a:latin typeface="微软雅黑" panose="020B0503020204020204" pitchFamily="34" charset="-122"/>
                <a:sym typeface="+mn-ea"/>
              </a:rPr>
              <a:t>QMI8658A 输出</a:t>
            </a:r>
            <a:r>
              <a:rPr lang="zh-CN">
                <a:solidFill>
                  <a:srgbClr val="5F6B7A"/>
                </a:solidFill>
                <a:latin typeface="微软雅黑" panose="020B0503020204020204" pitchFamily="34" charset="-122"/>
                <a:sym typeface="+mn-ea"/>
              </a:rPr>
              <a:t>了六轴数据，并且将数据进行了限幅、滤波、去重力的数据清洗。</a:t>
            </a:r>
            <a:endParaRPr lang="zh-CN">
              <a:solidFill>
                <a:srgbClr val="5F6B7A"/>
              </a:solidFill>
              <a:latin typeface="微软雅黑" panose="020B0503020204020204" pitchFamily="34" charset="-122"/>
              <a:sym typeface="+mn-ea"/>
            </a:endParaRPr>
          </a:p>
          <a:p>
            <a:r>
              <a:rPr lang="zh-CN" dirty="0">
                <a:solidFill>
                  <a:srgbClr val="5F6B7A"/>
                </a:solidFill>
                <a:latin typeface="微软雅黑" panose="020B0503020204020204" pitchFamily="34" charset="-122"/>
                <a:sym typeface="+mn-ea"/>
              </a:rPr>
              <a:t>在这次课，我们对数据进行窗口切片、然后对数据进行时域和频域的特征提取，然后将提取到特征的数据进行可视化的展示。最后我们已经进行特征提取好的数据，用于下一课的模型训练。</a:t>
            </a:r>
            <a:endParaRPr lang="zh-CN" dirty="0">
              <a:solidFill>
                <a:srgbClr val="5F6B7A"/>
              </a:solidFill>
              <a:latin typeface="微软雅黑" panose="020B0503020204020204" pitchFamily="34" charset="-122"/>
              <a:sym typeface="+mn-ea"/>
            </a:endParaRPr>
          </a:p>
          <a:p>
            <a:r>
              <a:rPr lang="zh-CN" dirty="0">
                <a:solidFill>
                  <a:srgbClr val="5F6B7A"/>
                </a:solidFill>
                <a:latin typeface="微软雅黑" panose="020B0503020204020204" pitchFamily="34" charset="-122"/>
                <a:sym typeface="+mn-ea"/>
              </a:rPr>
              <a:t>其中特征提取，在人工智能领域，的名字也叫特征工程。特征工程的目标是：</a:t>
            </a:r>
            <a:r>
              <a:rPr b="1">
                <a:solidFill>
                  <a:srgbClr val="1F4E79"/>
                </a:solidFill>
                <a:latin typeface="微软雅黑" panose="020B0503020204020204" pitchFamily="34" charset="-122"/>
                <a:sym typeface="+mn-ea"/>
              </a:rPr>
              <a:t>把连续传感器曲线变成一行一行可训练、可解释、可画图的特征表。</a:t>
            </a:r>
            <a:endParaRPr lang="zh-CN" dirty="0">
              <a:solidFill>
                <a:srgbClr val="5F6B7A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9.svg"/><Relationship Id="rId4" Type="http://schemas.openxmlformats.org/officeDocument/2006/relationships/image" Target="../media/image6.png"/><Relationship Id="rId5" Type="http://schemas.openxmlformats.org/officeDocument/2006/relationships/image" Target="../media/image20.svg"/><Relationship Id="rId6" Type="http://schemas.openxmlformats.org/officeDocument/2006/relationships/image" Target="../media/image8.png"/><Relationship Id="rId7" Type="http://schemas.openxmlformats.org/officeDocument/2006/relationships/image" Target="../media/image21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24.svg"/><Relationship Id="rId4" Type="http://schemas.openxmlformats.org/officeDocument/2006/relationships/image" Target="../media/image14.png"/><Relationship Id="rId5" Type="http://schemas.openxmlformats.org/officeDocument/2006/relationships/image" Target="../media/image25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Relationship Id="rId3" Type="http://schemas.openxmlformats.org/officeDocument/2006/relationships/image" Target="../media/image1.jpe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eg"/><Relationship Id="rId3" Type="http://schemas.openxmlformats.org/officeDocument/2006/relationships/image" Target="../media/image1.jpe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8" name="文本占位符 27"/>
          <p:cNvSpPr>
            <a:spLocks noGrp="1"/>
          </p:cNvSpPr>
          <p:nvPr>
            <p:ph type="body" sz="quarter" idx="10" hasCustomPrompt="1"/>
          </p:nvPr>
        </p:nvSpPr>
        <p:spPr>
          <a:xfrm>
            <a:off x="4932793" y="2537392"/>
            <a:ext cx="67512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400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一级标题</a:t>
            </a:r>
            <a:endParaRPr lang="en-US" altLang="zh-CN" dirty="0"/>
          </a:p>
        </p:txBody>
      </p:sp>
      <p:sp>
        <p:nvSpPr>
          <p:cNvPr id="30" name="文本占位符 27"/>
          <p:cNvSpPr>
            <a:spLocks noGrp="1"/>
          </p:cNvSpPr>
          <p:nvPr>
            <p:ph type="body" sz="quarter" idx="11" hasCustomPrompt="1"/>
          </p:nvPr>
        </p:nvSpPr>
        <p:spPr>
          <a:xfrm>
            <a:off x="4932793" y="3296705"/>
            <a:ext cx="6751207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en-US" altLang="zh-CN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14489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8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1" name="文本占位符 56"/>
          <p:cNvSpPr>
            <a:spLocks noGrp="1"/>
          </p:cNvSpPr>
          <p:nvPr>
            <p:ph type="body" sz="quarter" idx="13" hasCustomPrompt="1"/>
          </p:nvPr>
        </p:nvSpPr>
        <p:spPr>
          <a:xfrm>
            <a:off x="432934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2" name="文本占位符 56"/>
          <p:cNvSpPr>
            <a:spLocks noGrp="1"/>
          </p:cNvSpPr>
          <p:nvPr>
            <p:ph type="body" sz="quarter" idx="14" hasCustomPrompt="1"/>
          </p:nvPr>
        </p:nvSpPr>
        <p:spPr>
          <a:xfrm>
            <a:off x="432934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7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8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9" name="文本占位符 56"/>
          <p:cNvSpPr>
            <a:spLocks noGrp="1"/>
          </p:cNvSpPr>
          <p:nvPr>
            <p:ph type="body" sz="quarter" idx="17" hasCustomPrompt="1"/>
          </p:nvPr>
        </p:nvSpPr>
        <p:spPr>
          <a:xfrm>
            <a:off x="432934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70" name="文本占位符 56"/>
          <p:cNvSpPr>
            <a:spLocks noGrp="1"/>
          </p:cNvSpPr>
          <p:nvPr>
            <p:ph type="body" sz="quarter" idx="18" hasCustomPrompt="1"/>
          </p:nvPr>
        </p:nvSpPr>
        <p:spPr>
          <a:xfrm>
            <a:off x="432934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1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72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3" name="文本占位符 56"/>
          <p:cNvSpPr>
            <a:spLocks noGrp="1"/>
          </p:cNvSpPr>
          <p:nvPr>
            <p:ph type="body" sz="quarter" idx="21" hasCustomPrompt="1"/>
          </p:nvPr>
        </p:nvSpPr>
        <p:spPr>
          <a:xfrm>
            <a:off x="432934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74" name="文本占位符 56"/>
          <p:cNvSpPr>
            <a:spLocks noGrp="1"/>
          </p:cNvSpPr>
          <p:nvPr>
            <p:ph type="body" sz="quarter" idx="22" hasCustomPrompt="1"/>
          </p:nvPr>
        </p:nvSpPr>
        <p:spPr>
          <a:xfrm>
            <a:off x="432934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5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76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7" name="文本占位符 56"/>
          <p:cNvSpPr>
            <a:spLocks noGrp="1"/>
          </p:cNvSpPr>
          <p:nvPr>
            <p:ph type="body" sz="quarter" idx="25" hasCustomPrompt="1"/>
          </p:nvPr>
        </p:nvSpPr>
        <p:spPr>
          <a:xfrm>
            <a:off x="432934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78" name="文本占位符 56"/>
          <p:cNvSpPr>
            <a:spLocks noGrp="1"/>
          </p:cNvSpPr>
          <p:nvPr>
            <p:ph type="body" sz="quarter" idx="26" hasCustomPrompt="1"/>
          </p:nvPr>
        </p:nvSpPr>
        <p:spPr>
          <a:xfrm>
            <a:off x="432934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3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1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3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5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9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1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3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35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块介绍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preencoded.png"/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6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2535018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endParaRPr lang="en-US" altLang="zh-CN" dirty="0"/>
          </a:p>
        </p:txBody>
      </p:sp>
      <p:sp>
        <p:nvSpPr>
          <p:cNvPr id="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19" y="3280114"/>
            <a:ext cx="940459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空白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文版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5"/>
          <p:cNvSpPr>
            <a:spLocks noGrp="1" noChangeAspect="1"/>
          </p:cNvSpPr>
          <p:nvPr>
            <p:ph type="pic" sz="quarter" idx="21"/>
          </p:nvPr>
        </p:nvSpPr>
        <p:spPr>
          <a:xfrm>
            <a:off x="552053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27744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3" hasCustomPrompt="1"/>
          </p:nvPr>
        </p:nvSpPr>
        <p:spPr>
          <a:xfrm>
            <a:off x="527744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452231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188579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64270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164270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88757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9" name="图片占位符 5"/>
          <p:cNvSpPr>
            <a:spLocks noGrp="1" noChangeAspect="1"/>
          </p:cNvSpPr>
          <p:nvPr>
            <p:ph type="pic" sz="quarter" idx="29"/>
          </p:nvPr>
        </p:nvSpPr>
        <p:spPr>
          <a:xfrm>
            <a:off x="915527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891218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1" hasCustomPrompt="1"/>
          </p:nvPr>
        </p:nvSpPr>
        <p:spPr>
          <a:xfrm>
            <a:off x="891218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5705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297404"/>
            <a:ext cx="6188400" cy="46404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636602" y="1834974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6636602" y="2185482"/>
            <a:ext cx="48150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200" kern="120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370016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5"/>
          <p:cNvSpPr txBox="1"/>
          <p:nvPr userDrawn="1"/>
        </p:nvSpPr>
        <p:spPr>
          <a:xfrm>
            <a:off x="6982160" y="4586034"/>
            <a:ext cx="470742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18" name="标题 15"/>
          <p:cNvSpPr txBox="1"/>
          <p:nvPr userDrawn="1"/>
        </p:nvSpPr>
        <p:spPr>
          <a:xfrm>
            <a:off x="6370016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02414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114558" y="4586034"/>
            <a:ext cx="473023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22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标题 15"/>
          <p:cNvSpPr txBox="1"/>
          <p:nvPr userDrawn="1"/>
        </p:nvSpPr>
        <p:spPr>
          <a:xfrm>
            <a:off x="502414" y="4586034"/>
            <a:ext cx="531957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9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5"/>
          <p:cNvSpPr txBox="1"/>
          <p:nvPr userDrawn="1"/>
        </p:nvSpPr>
        <p:spPr>
          <a:xfrm>
            <a:off x="6562858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1" name="标题 15"/>
          <p:cNvSpPr txBox="1"/>
          <p:nvPr userDrawn="1"/>
        </p:nvSpPr>
        <p:spPr>
          <a:xfrm>
            <a:off x="65587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标题 15"/>
          <p:cNvSpPr txBox="1"/>
          <p:nvPr userDrawn="1"/>
        </p:nvSpPr>
        <p:spPr>
          <a:xfrm>
            <a:off x="84256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标题 15"/>
          <p:cNvSpPr txBox="1"/>
          <p:nvPr userDrawn="1"/>
        </p:nvSpPr>
        <p:spPr>
          <a:xfrm>
            <a:off x="10284469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标题 15"/>
          <p:cNvSpPr txBox="1"/>
          <p:nvPr userDrawn="1"/>
        </p:nvSpPr>
        <p:spPr>
          <a:xfrm>
            <a:off x="6562858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7" name="标题 15"/>
          <p:cNvSpPr txBox="1"/>
          <p:nvPr userDrawn="1"/>
        </p:nvSpPr>
        <p:spPr>
          <a:xfrm>
            <a:off x="65587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标题 15"/>
          <p:cNvSpPr txBox="1"/>
          <p:nvPr userDrawn="1"/>
        </p:nvSpPr>
        <p:spPr>
          <a:xfrm>
            <a:off x="84256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0284469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标题 15"/>
          <p:cNvSpPr txBox="1"/>
          <p:nvPr userDrawn="1"/>
        </p:nvSpPr>
        <p:spPr>
          <a:xfrm>
            <a:off x="842569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3" name="标题 15"/>
          <p:cNvSpPr txBox="1"/>
          <p:nvPr userDrawn="1"/>
        </p:nvSpPr>
        <p:spPr>
          <a:xfrm>
            <a:off x="842569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7" name="标题 15"/>
          <p:cNvSpPr txBox="1"/>
          <p:nvPr userDrawn="1"/>
        </p:nvSpPr>
        <p:spPr>
          <a:xfrm>
            <a:off x="1027837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3" name="标题 15"/>
          <p:cNvSpPr txBox="1"/>
          <p:nvPr userDrawn="1"/>
        </p:nvSpPr>
        <p:spPr>
          <a:xfrm>
            <a:off x="1027837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740320" y="3042936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740321" y="2736018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40320" y="4116478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740321" y="3809560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740319" y="5190020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740320" y="4883102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72000" y="0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32"/>
          </p:nvPr>
        </p:nvSpPr>
        <p:spPr>
          <a:xfrm>
            <a:off x="6072000" y="3486625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0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152228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517651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4869597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1" y="1466229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410959" y="2844262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04001" y="4685756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5" y="4869597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259086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6410960" y="1455823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7023104" y="1639664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6410959" y="2029153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4"/>
          <p:cNvSpPr>
            <a:spLocks noGrp="1"/>
          </p:cNvSpPr>
          <p:nvPr>
            <p:ph type="pic" sz="quarter" idx="32"/>
          </p:nvPr>
        </p:nvSpPr>
        <p:spPr>
          <a:xfrm>
            <a:off x="4407394" y="3800616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图片占位符 4"/>
          <p:cNvSpPr>
            <a:spLocks noGrp="1"/>
          </p:cNvSpPr>
          <p:nvPr>
            <p:ph type="pic" sz="quarter" idx="33"/>
          </p:nvPr>
        </p:nvSpPr>
        <p:spPr>
          <a:xfrm>
            <a:off x="8310787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8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504000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4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4407392" y="1468850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5019536" y="1652691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407391" y="2042180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8310789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8922933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8310788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0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3464453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3464453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3464453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图片占位符 4"/>
          <p:cNvSpPr>
            <a:spLocks noGrp="1"/>
          </p:cNvSpPr>
          <p:nvPr>
            <p:ph type="pic" sz="quarter" idx="38"/>
          </p:nvPr>
        </p:nvSpPr>
        <p:spPr>
          <a:xfrm>
            <a:off x="642784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42784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42784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图片占位符 4"/>
          <p:cNvSpPr>
            <a:spLocks noGrp="1"/>
          </p:cNvSpPr>
          <p:nvPr>
            <p:ph type="pic" sz="quarter" idx="41"/>
          </p:nvPr>
        </p:nvSpPr>
        <p:spPr>
          <a:xfrm>
            <a:off x="938535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938535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938535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9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2882237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882237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6479105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57342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8857342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5" name="图片占位符 4"/>
          <p:cNvSpPr>
            <a:spLocks noGrp="1"/>
          </p:cNvSpPr>
          <p:nvPr>
            <p:ph type="pic" sz="quarter" idx="38"/>
          </p:nvPr>
        </p:nvSpPr>
        <p:spPr>
          <a:xfrm>
            <a:off x="504000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2882237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2882237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8" name="图片占位符 4"/>
          <p:cNvSpPr>
            <a:spLocks noGrp="1"/>
          </p:cNvSpPr>
          <p:nvPr>
            <p:ph type="pic" sz="quarter" idx="41"/>
          </p:nvPr>
        </p:nvSpPr>
        <p:spPr>
          <a:xfrm>
            <a:off x="6479105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8857342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8857342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4"/>
          <p:cNvSpPr>
            <a:spLocks noGrp="1"/>
          </p:cNvSpPr>
          <p:nvPr>
            <p:ph type="pic" sz="quarter" idx="34"/>
          </p:nvPr>
        </p:nvSpPr>
        <p:spPr>
          <a:xfrm>
            <a:off x="-702" y="4224090"/>
            <a:ext cx="12192701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1666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1150620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50620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751919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400873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400873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01666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50620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50620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751919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400873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400873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6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1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1556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5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4253632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6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253632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7" name="图片占位符 4"/>
          <p:cNvSpPr>
            <a:spLocks noGrp="1"/>
          </p:cNvSpPr>
          <p:nvPr>
            <p:ph type="pic" sz="quarter" idx="37"/>
          </p:nvPr>
        </p:nvSpPr>
        <p:spPr>
          <a:xfrm>
            <a:off x="4253632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8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8032837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9" name="文本占位符 21"/>
          <p:cNvSpPr>
            <a:spLocks noGrp="1"/>
          </p:cNvSpPr>
          <p:nvPr>
            <p:ph type="body" sz="quarter" idx="39" hasCustomPrompt="1"/>
          </p:nvPr>
        </p:nvSpPr>
        <p:spPr>
          <a:xfrm>
            <a:off x="8032837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1" name="图片占位符 4"/>
          <p:cNvSpPr>
            <a:spLocks noGrp="1"/>
          </p:cNvSpPr>
          <p:nvPr>
            <p:ph type="pic" sz="quarter" idx="40"/>
          </p:nvPr>
        </p:nvSpPr>
        <p:spPr>
          <a:xfrm>
            <a:off x="8032837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1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1556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501556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3" name="图片占位符 4"/>
          <p:cNvSpPr>
            <a:spLocks noGrp="1"/>
          </p:cNvSpPr>
          <p:nvPr>
            <p:ph type="pic" sz="quarter" idx="43"/>
          </p:nvPr>
        </p:nvSpPr>
        <p:spPr>
          <a:xfrm>
            <a:off x="501556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4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253632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5" name="文本占位符 21"/>
          <p:cNvSpPr>
            <a:spLocks noGrp="1"/>
          </p:cNvSpPr>
          <p:nvPr>
            <p:ph type="body" sz="quarter" idx="45" hasCustomPrompt="1"/>
          </p:nvPr>
        </p:nvSpPr>
        <p:spPr>
          <a:xfrm>
            <a:off x="4253632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6" name="图片占位符 4"/>
          <p:cNvSpPr>
            <a:spLocks noGrp="1"/>
          </p:cNvSpPr>
          <p:nvPr>
            <p:ph type="pic" sz="quarter" idx="46"/>
          </p:nvPr>
        </p:nvSpPr>
        <p:spPr>
          <a:xfrm>
            <a:off x="4253632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8032837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8" name="文本占位符 21"/>
          <p:cNvSpPr>
            <a:spLocks noGrp="1"/>
          </p:cNvSpPr>
          <p:nvPr>
            <p:ph type="body" sz="quarter" idx="48" hasCustomPrompt="1"/>
          </p:nvPr>
        </p:nvSpPr>
        <p:spPr>
          <a:xfrm>
            <a:off x="8032837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9" name="图片占位符 4"/>
          <p:cNvSpPr>
            <a:spLocks noGrp="1"/>
          </p:cNvSpPr>
          <p:nvPr>
            <p:ph type="pic" sz="quarter" idx="49"/>
          </p:nvPr>
        </p:nvSpPr>
        <p:spPr>
          <a:xfrm>
            <a:off x="8032837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821106" y="2684381"/>
            <a:ext cx="2868149" cy="286419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5"/>
          <p:cNvSpPr>
            <a:spLocks noGrp="1" noChangeAspect="1"/>
          </p:cNvSpPr>
          <p:nvPr>
            <p:ph type="pic" sz="quarter" idx="26"/>
          </p:nvPr>
        </p:nvSpPr>
        <p:spPr>
          <a:xfrm>
            <a:off x="2686429" y="1563330"/>
            <a:ext cx="1350187" cy="134832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5"/>
          <p:cNvSpPr>
            <a:spLocks noGrp="1" noChangeAspect="1"/>
          </p:cNvSpPr>
          <p:nvPr>
            <p:ph type="pic" sz="quarter" idx="27"/>
          </p:nvPr>
        </p:nvSpPr>
        <p:spPr>
          <a:xfrm>
            <a:off x="3419704" y="486791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5"/>
          <p:cNvSpPr>
            <a:spLocks noGrp="1" noChangeAspect="1"/>
          </p:cNvSpPr>
          <p:nvPr>
            <p:ph type="pic" sz="quarter" idx="28"/>
          </p:nvPr>
        </p:nvSpPr>
        <p:spPr>
          <a:xfrm>
            <a:off x="743286" y="219202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6151656" y="2069417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6151658" y="1762499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6151656" y="3142959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6151658" y="2836041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6151656" y="4216501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6151658" y="3909583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6151655" y="5290043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6151657" y="4983125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SmartArt 占位符 8"/>
          <p:cNvSpPr>
            <a:spLocks noGrp="1"/>
          </p:cNvSpPr>
          <p:nvPr>
            <p:ph type="dgm" sz="quarter" idx="10"/>
          </p:nvPr>
        </p:nvSpPr>
        <p:spPr>
          <a:xfrm>
            <a:off x="7022625" y="1590223"/>
            <a:ext cx="4591360" cy="459136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rot="10800000">
            <a:off x="889037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330163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097308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04000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91161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91161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cxnSp>
        <p:nvCxnSpPr>
          <p:cNvPr id="12" name="Straight Connector 5"/>
          <p:cNvCxnSpPr/>
          <p:nvPr userDrawn="1"/>
        </p:nvCxnSpPr>
        <p:spPr>
          <a:xfrm>
            <a:off x="91161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91161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91161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370271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370271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cxnSp>
        <p:nvCxnSpPr>
          <p:cNvPr id="18" name="Straight Connector 5"/>
          <p:cNvCxnSpPr/>
          <p:nvPr userDrawn="1"/>
        </p:nvCxnSpPr>
        <p:spPr>
          <a:xfrm>
            <a:off x="370271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370271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370271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650687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50687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cxnSp>
        <p:nvCxnSpPr>
          <p:cNvPr id="23" name="Straight Connector 5"/>
          <p:cNvCxnSpPr/>
          <p:nvPr userDrawn="1"/>
        </p:nvCxnSpPr>
        <p:spPr>
          <a:xfrm>
            <a:off x="650687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50687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650687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930254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43" hasCustomPrompt="1"/>
          </p:nvPr>
        </p:nvSpPr>
        <p:spPr>
          <a:xfrm>
            <a:off x="930254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930254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1"/>
          <p:cNvSpPr>
            <a:spLocks noGrp="1"/>
          </p:cNvSpPr>
          <p:nvPr>
            <p:ph type="body" sz="quarter" idx="44" hasCustomPrompt="1"/>
          </p:nvPr>
        </p:nvSpPr>
        <p:spPr>
          <a:xfrm>
            <a:off x="930254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930254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2" descr="preencoded.png"/>
          <p:cNvSpPr/>
          <p:nvPr/>
        </p:nvSpPr>
        <p:spPr>
          <a:xfrm>
            <a:off x="338455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956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15" name="Image 0" descr="preencoded.png"/>
          <p:cNvSpPr/>
          <p:nvPr/>
        </p:nvSpPr>
        <p:spPr>
          <a:xfrm>
            <a:off x="4616450" y="1009875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540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14" name="Image 4" descr="preencoded.png"/>
          <p:cNvSpPr/>
          <p:nvPr/>
        </p:nvSpPr>
        <p:spPr>
          <a:xfrm>
            <a:off x="584200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3440000" scaled="0"/>
          </a:gra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102749" y="2349742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387566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633311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19" name="图形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0299" y="1939772"/>
            <a:ext cx="1209675" cy="1219200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4631" y="5504253"/>
            <a:ext cx="1209675" cy="1219200"/>
          </a:xfrm>
          <a:prstGeom prst="rect">
            <a:avLst/>
          </a:prstGeom>
        </p:spPr>
      </p:pic>
      <p:pic>
        <p:nvPicPr>
          <p:cNvPr id="25" name="图形 24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1292" y="3363112"/>
            <a:ext cx="1209675" cy="1219200"/>
          </a:xfrm>
          <a:prstGeom prst="rect">
            <a:avLst/>
          </a:prstGeom>
        </p:spPr>
      </p:pic>
      <p:sp>
        <p:nvSpPr>
          <p:cNvPr id="32" name="Image 6" descr="preencoded.png"/>
          <p:cNvSpPr/>
          <p:nvPr userDrawn="1"/>
        </p:nvSpPr>
        <p:spPr>
          <a:xfrm>
            <a:off x="2354281" y="4890434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2354281" y="5028930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Image 6" descr="preencoded.png"/>
          <p:cNvSpPr/>
          <p:nvPr userDrawn="1"/>
        </p:nvSpPr>
        <p:spPr>
          <a:xfrm>
            <a:off x="1784874" y="2141875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1784874" y="2280371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Image 6" descr="preencoded.png"/>
          <p:cNvSpPr/>
          <p:nvPr userDrawn="1"/>
        </p:nvSpPr>
        <p:spPr>
          <a:xfrm>
            <a:off x="8763630" y="3029147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8763630" y="3167643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 flipV="1">
            <a:off x="3987021" y="4525385"/>
            <a:ext cx="1051944" cy="492442"/>
            <a:chOff x="3994675" y="2246302"/>
            <a:chExt cx="1051944" cy="492442"/>
          </a:xfrm>
        </p:grpSpPr>
        <p:cxnSp>
          <p:nvCxnSpPr>
            <p:cNvPr id="7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 userDrawn="1"/>
        </p:nvGrpSpPr>
        <p:grpSpPr>
          <a:xfrm rot="10800000">
            <a:off x="7253121" y="4525385"/>
            <a:ext cx="1051944" cy="492442"/>
            <a:chOff x="3994675" y="2246302"/>
            <a:chExt cx="1051944" cy="492442"/>
          </a:xfrm>
        </p:grpSpPr>
        <p:cxnSp>
          <p:nvCxnSpPr>
            <p:cNvPr id="10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 userDrawn="1"/>
        </p:nvGrpSpPr>
        <p:grpSpPr>
          <a:xfrm>
            <a:off x="3994675" y="2246302"/>
            <a:ext cx="1051944" cy="492442"/>
            <a:chOff x="3994675" y="2246302"/>
            <a:chExt cx="1051944" cy="492442"/>
          </a:xfrm>
        </p:grpSpPr>
        <p:cxnSp>
          <p:nvCxnSpPr>
            <p:cNvPr id="13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 userDrawn="1"/>
        </p:nvGrpSpPr>
        <p:grpSpPr>
          <a:xfrm>
            <a:off x="4178282" y="1825051"/>
            <a:ext cx="3835435" cy="3861041"/>
            <a:chOff x="4336726" y="1927485"/>
            <a:chExt cx="3835435" cy="3861041"/>
          </a:xfrm>
        </p:grpSpPr>
        <p:sp>
          <p:nvSpPr>
            <p:cNvPr id="16" name="Freeform 5"/>
            <p:cNvSpPr/>
            <p:nvPr/>
          </p:nvSpPr>
          <p:spPr bwMode="auto">
            <a:xfrm>
              <a:off x="4336726" y="3259811"/>
              <a:ext cx="1914459" cy="2297350"/>
            </a:xfrm>
            <a:custGeom>
              <a:avLst/>
              <a:gdLst/>
              <a:ahLst/>
              <a:cxnLst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  <a:cxn ang="0">
                  <a:pos x="321" y="335"/>
                </a:cxn>
                <a:cxn ang="0">
                  <a:pos x="437" y="401"/>
                </a:cxn>
                <a:cxn ang="0">
                  <a:pos x="496" y="408"/>
                </a:cxn>
                <a:cxn ang="0">
                  <a:pos x="496" y="595"/>
                </a:cxn>
                <a:cxn ang="0">
                  <a:pos x="430" y="591"/>
                </a:cxn>
                <a:cxn ang="0">
                  <a:pos x="189" y="468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</a:cxnLst>
              <a:rect l="0" t="0" r="r" b="b"/>
              <a:pathLst>
                <a:path w="496" h="595">
                  <a:moveTo>
                    <a:pt x="248" y="158"/>
                  </a:move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ubicBezTo>
                    <a:pt x="257" y="247"/>
                    <a:pt x="281" y="295"/>
                    <a:pt x="321" y="335"/>
                  </a:cubicBezTo>
                  <a:cubicBezTo>
                    <a:pt x="355" y="369"/>
                    <a:pt x="393" y="391"/>
                    <a:pt x="437" y="401"/>
                  </a:cubicBezTo>
                  <a:cubicBezTo>
                    <a:pt x="456" y="406"/>
                    <a:pt x="475" y="408"/>
                    <a:pt x="496" y="408"/>
                  </a:cubicBezTo>
                  <a:cubicBezTo>
                    <a:pt x="496" y="595"/>
                    <a:pt x="496" y="595"/>
                    <a:pt x="496" y="595"/>
                  </a:cubicBezTo>
                  <a:cubicBezTo>
                    <a:pt x="474" y="595"/>
                    <a:pt x="452" y="594"/>
                    <a:pt x="430" y="591"/>
                  </a:cubicBezTo>
                  <a:cubicBezTo>
                    <a:pt x="338" y="578"/>
                    <a:pt x="258" y="537"/>
                    <a:pt x="189" y="468"/>
                  </a:cubicBezTo>
                  <a:cubicBezTo>
                    <a:pt x="112" y="390"/>
                    <a:pt x="69" y="299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lnTo>
                    <a:pt x="248" y="158"/>
                  </a:ln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6"/>
            <p:cNvSpPr/>
            <p:nvPr/>
          </p:nvSpPr>
          <p:spPr bwMode="auto">
            <a:xfrm>
              <a:off x="5633669" y="3869180"/>
              <a:ext cx="2303868" cy="1919346"/>
            </a:xfrm>
            <a:custGeom>
              <a:avLst/>
              <a:gdLst/>
              <a:ahLst/>
              <a:cxnLst>
                <a:cxn ang="0">
                  <a:pos x="403" y="61"/>
                </a:cxn>
                <a:cxn ang="0">
                  <a:pos x="410" y="2"/>
                </a:cxn>
                <a:cxn ang="0">
                  <a:pos x="410" y="0"/>
                </a:cxn>
                <a:cxn ang="0">
                  <a:pos x="597" y="0"/>
                </a:cxn>
                <a:cxn ang="0">
                  <a:pos x="597" y="2"/>
                </a:cxn>
                <a:cxn ang="0">
                  <a:pos x="592" y="68"/>
                </a:cxn>
                <a:cxn ang="0">
                  <a:pos x="469" y="310"/>
                </a:cxn>
                <a:cxn ang="0">
                  <a:pos x="161" y="437"/>
                </a:cxn>
                <a:cxn ang="0">
                  <a:pos x="160" y="437"/>
                </a:cxn>
                <a:cxn ang="0">
                  <a:pos x="160" y="497"/>
                </a:cxn>
                <a:cxn ang="0">
                  <a:pos x="0" y="341"/>
                </a:cxn>
                <a:cxn ang="0">
                  <a:pos x="160" y="185"/>
                </a:cxn>
                <a:cxn ang="0">
                  <a:pos x="160" y="250"/>
                </a:cxn>
                <a:cxn ang="0">
                  <a:pos x="161" y="250"/>
                </a:cxn>
                <a:cxn ang="0">
                  <a:pos x="337" y="177"/>
                </a:cxn>
                <a:cxn ang="0">
                  <a:pos x="403" y="61"/>
                </a:cxn>
              </a:cxnLst>
              <a:rect l="0" t="0" r="r" b="b"/>
              <a:pathLst>
                <a:path w="597" h="497">
                  <a:moveTo>
                    <a:pt x="403" y="61"/>
                  </a:moveTo>
                  <a:cubicBezTo>
                    <a:pt x="408" y="42"/>
                    <a:pt x="410" y="22"/>
                    <a:pt x="410" y="2"/>
                  </a:cubicBezTo>
                  <a:cubicBezTo>
                    <a:pt x="410" y="1"/>
                    <a:pt x="410" y="0"/>
                    <a:pt x="41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597" y="0"/>
                    <a:pt x="597" y="1"/>
                    <a:pt x="597" y="2"/>
                  </a:cubicBezTo>
                  <a:cubicBezTo>
                    <a:pt x="597" y="24"/>
                    <a:pt x="595" y="46"/>
                    <a:pt x="592" y="68"/>
                  </a:cubicBezTo>
                  <a:cubicBezTo>
                    <a:pt x="579" y="160"/>
                    <a:pt x="538" y="241"/>
                    <a:pt x="469" y="310"/>
                  </a:cubicBezTo>
                  <a:cubicBezTo>
                    <a:pt x="384" y="395"/>
                    <a:pt x="281" y="437"/>
                    <a:pt x="161" y="437"/>
                  </a:cubicBezTo>
                  <a:cubicBezTo>
                    <a:pt x="161" y="437"/>
                    <a:pt x="160" y="437"/>
                    <a:pt x="160" y="437"/>
                  </a:cubicBezTo>
                  <a:cubicBezTo>
                    <a:pt x="160" y="497"/>
                    <a:pt x="160" y="497"/>
                    <a:pt x="160" y="497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160" y="185"/>
                    <a:pt x="160" y="185"/>
                    <a:pt x="160" y="185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60" y="250"/>
                    <a:pt x="161" y="250"/>
                    <a:pt x="161" y="250"/>
                  </a:cubicBezTo>
                  <a:cubicBezTo>
                    <a:pt x="230" y="250"/>
                    <a:pt x="288" y="226"/>
                    <a:pt x="337" y="177"/>
                  </a:cubicBezTo>
                  <a:cubicBezTo>
                    <a:pt x="371" y="143"/>
                    <a:pt x="393" y="104"/>
                    <a:pt x="403" y="61"/>
                  </a:cubicBezTo>
                  <a:close/>
                </a:path>
              </a:pathLst>
            </a:custGeom>
            <a:solidFill>
              <a:srgbClr val="008FA3"/>
            </a:solidFill>
            <a:ln w="9525">
              <a:noFill/>
              <a:round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6251185" y="2189344"/>
              <a:ext cx="1920976" cy="2305496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09" y="129"/>
                </a:cxn>
                <a:cxn ang="0">
                  <a:pos x="437" y="435"/>
                </a:cxn>
                <a:cxn ang="0">
                  <a:pos x="498" y="435"/>
                </a:cxn>
                <a:cxn ang="0">
                  <a:pos x="341" y="597"/>
                </a:cxn>
                <a:cxn ang="0">
                  <a:pos x="184" y="435"/>
                </a:cxn>
                <a:cxn ang="0">
                  <a:pos x="250" y="435"/>
                </a:cxn>
                <a:cxn ang="0">
                  <a:pos x="177" y="261"/>
                </a:cxn>
                <a:cxn ang="0">
                  <a:pos x="60" y="194"/>
                </a:cxn>
                <a:cxn ang="0">
                  <a:pos x="1" y="188"/>
                </a:cxn>
                <a:cxn ang="0">
                  <a:pos x="0" y="188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67" y="5"/>
                </a:cxn>
              </a:cxnLst>
              <a:rect l="0" t="0" r="r" b="b"/>
              <a:pathLst>
                <a:path w="498" h="597">
                  <a:moveTo>
                    <a:pt x="67" y="5"/>
                  </a:moveTo>
                  <a:cubicBezTo>
                    <a:pt x="159" y="18"/>
                    <a:pt x="240" y="59"/>
                    <a:pt x="309" y="129"/>
                  </a:cubicBezTo>
                  <a:cubicBezTo>
                    <a:pt x="394" y="213"/>
                    <a:pt x="436" y="315"/>
                    <a:pt x="437" y="435"/>
                  </a:cubicBezTo>
                  <a:cubicBezTo>
                    <a:pt x="498" y="435"/>
                    <a:pt x="498" y="435"/>
                    <a:pt x="498" y="435"/>
                  </a:cubicBezTo>
                  <a:cubicBezTo>
                    <a:pt x="341" y="597"/>
                    <a:pt x="341" y="597"/>
                    <a:pt x="341" y="597"/>
                  </a:cubicBezTo>
                  <a:cubicBezTo>
                    <a:pt x="184" y="435"/>
                    <a:pt x="184" y="435"/>
                    <a:pt x="184" y="435"/>
                  </a:cubicBezTo>
                  <a:cubicBezTo>
                    <a:pt x="250" y="435"/>
                    <a:pt x="250" y="435"/>
                    <a:pt x="250" y="435"/>
                  </a:cubicBezTo>
                  <a:cubicBezTo>
                    <a:pt x="249" y="367"/>
                    <a:pt x="225" y="309"/>
                    <a:pt x="177" y="261"/>
                  </a:cubicBezTo>
                  <a:cubicBezTo>
                    <a:pt x="143" y="227"/>
                    <a:pt x="104" y="205"/>
                    <a:pt x="60" y="194"/>
                  </a:cubicBezTo>
                  <a:cubicBezTo>
                    <a:pt x="41" y="190"/>
                    <a:pt x="21" y="188"/>
                    <a:pt x="1" y="188"/>
                  </a:cubicBezTo>
                  <a:cubicBezTo>
                    <a:pt x="1" y="188"/>
                    <a:pt x="0" y="188"/>
                    <a:pt x="0" y="18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4" y="0"/>
                    <a:pt x="46" y="2"/>
                    <a:pt x="67" y="5"/>
                  </a:cubicBezTo>
                  <a:close/>
                </a:path>
              </a:pathLst>
            </a:custGeom>
            <a:solidFill>
              <a:srgbClr val="006B7A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8"/>
            <p:cNvSpPr>
              <a:spLocks noEditPoints="1"/>
            </p:cNvSpPr>
            <p:nvPr/>
          </p:nvSpPr>
          <p:spPr bwMode="auto">
            <a:xfrm>
              <a:off x="4558836" y="1927485"/>
              <a:ext cx="2297350" cy="1914458"/>
            </a:xfrm>
            <a:custGeom>
              <a:avLst/>
              <a:gdLst/>
              <a:ahLst/>
              <a:cxnLst>
                <a:cxn ang="0">
                  <a:pos x="96" y="338"/>
                </a:cxn>
                <a:cxn ang="0">
                  <a:pos x="95" y="338"/>
                </a:cxn>
                <a:cxn ang="0">
                  <a:pos x="96" y="338"/>
                </a:cxn>
                <a:cxn ang="0">
                  <a:pos x="435" y="0"/>
                </a:cxn>
                <a:cxn ang="0">
                  <a:pos x="595" y="157"/>
                </a:cxn>
                <a:cxn ang="0">
                  <a:pos x="435" y="314"/>
                </a:cxn>
                <a:cxn ang="0">
                  <a:pos x="435" y="249"/>
                </a:cxn>
                <a:cxn ang="0">
                  <a:pos x="260" y="322"/>
                </a:cxn>
                <a:cxn ang="0">
                  <a:pos x="194" y="437"/>
                </a:cxn>
                <a:cxn ang="0">
                  <a:pos x="187" y="496"/>
                </a:cxn>
                <a:cxn ang="0">
                  <a:pos x="0" y="496"/>
                </a:cxn>
                <a:cxn ang="0">
                  <a:pos x="5" y="429"/>
                </a:cxn>
                <a:cxn ang="0">
                  <a:pos x="128" y="190"/>
                </a:cxn>
                <a:cxn ang="0">
                  <a:pos x="435" y="61"/>
                </a:cxn>
                <a:cxn ang="0">
                  <a:pos x="435" y="0"/>
                </a:cxn>
              </a:cxnLst>
              <a:rect l="0" t="0" r="r" b="b"/>
              <a:pathLst>
                <a:path w="595" h="496">
                  <a:moveTo>
                    <a:pt x="96" y="338"/>
                  </a:moveTo>
                  <a:cubicBezTo>
                    <a:pt x="96" y="338"/>
                    <a:pt x="95" y="338"/>
                    <a:pt x="95" y="338"/>
                  </a:cubicBezTo>
                  <a:cubicBezTo>
                    <a:pt x="96" y="338"/>
                    <a:pt x="96" y="338"/>
                    <a:pt x="96" y="338"/>
                  </a:cubicBezTo>
                  <a:close/>
                  <a:moveTo>
                    <a:pt x="435" y="0"/>
                  </a:moveTo>
                  <a:cubicBezTo>
                    <a:pt x="595" y="157"/>
                    <a:pt x="595" y="157"/>
                    <a:pt x="595" y="157"/>
                  </a:cubicBezTo>
                  <a:cubicBezTo>
                    <a:pt x="435" y="314"/>
                    <a:pt x="435" y="314"/>
                    <a:pt x="435" y="314"/>
                  </a:cubicBezTo>
                  <a:cubicBezTo>
                    <a:pt x="435" y="249"/>
                    <a:pt x="435" y="249"/>
                    <a:pt x="435" y="249"/>
                  </a:cubicBezTo>
                  <a:cubicBezTo>
                    <a:pt x="367" y="249"/>
                    <a:pt x="309" y="273"/>
                    <a:pt x="260" y="322"/>
                  </a:cubicBezTo>
                  <a:cubicBezTo>
                    <a:pt x="227" y="356"/>
                    <a:pt x="204" y="394"/>
                    <a:pt x="194" y="437"/>
                  </a:cubicBezTo>
                  <a:cubicBezTo>
                    <a:pt x="190" y="456"/>
                    <a:pt x="187" y="475"/>
                    <a:pt x="187" y="496"/>
                  </a:cubicBezTo>
                  <a:cubicBezTo>
                    <a:pt x="0" y="496"/>
                    <a:pt x="0" y="496"/>
                    <a:pt x="0" y="496"/>
                  </a:cubicBezTo>
                  <a:cubicBezTo>
                    <a:pt x="0" y="473"/>
                    <a:pt x="2" y="451"/>
                    <a:pt x="5" y="429"/>
                  </a:cubicBezTo>
                  <a:cubicBezTo>
                    <a:pt x="18" y="338"/>
                    <a:pt x="59" y="258"/>
                    <a:pt x="128" y="190"/>
                  </a:cubicBezTo>
                  <a:cubicBezTo>
                    <a:pt x="213" y="104"/>
                    <a:pt x="315" y="62"/>
                    <a:pt x="435" y="61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004852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0" name="Text Placeholder 3"/>
            <p:cNvSpPr txBox="1"/>
            <p:nvPr/>
          </p:nvSpPr>
          <p:spPr>
            <a:xfrm>
              <a:off x="6120243" y="2353088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200">
                <a:spcBef>
                  <a:spcPct val="20000"/>
                </a:spcBef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02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1" name="Text Placeholder 3"/>
            <p:cNvSpPr txBox="1"/>
            <p:nvPr/>
          </p:nvSpPr>
          <p:spPr>
            <a:xfrm>
              <a:off x="7367955" y="388861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Placeholder 3"/>
            <p:cNvSpPr txBox="1"/>
            <p:nvPr/>
          </p:nvSpPr>
          <p:spPr>
            <a:xfrm>
              <a:off x="6020689" y="501943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9"/>
            <p:cNvSpPr/>
            <p:nvPr userDrawn="1"/>
          </p:nvSpPr>
          <p:spPr bwMode="auto">
            <a:xfrm>
              <a:off x="4338271" y="3264133"/>
              <a:ext cx="1207332" cy="739714"/>
            </a:xfrm>
            <a:custGeom>
              <a:avLst/>
              <a:gdLst/>
              <a:ahLst/>
              <a:cxnLst>
                <a:cxn ang="0">
                  <a:pos x="250" y="192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</a:cxnLst>
              <a:rect l="0" t="0" r="r" b="b"/>
              <a:pathLst>
                <a:path w="313" h="192">
                  <a:moveTo>
                    <a:pt x="25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248" y="158"/>
                    <a:pt x="248" y="158"/>
                    <a:pt x="248" y="158"/>
                  </a:cubicBez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srgbClr val="DCE4F4">
                  <a:alpha val="24000"/>
                </a:srgb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4" name="Text Placeholder 3"/>
            <p:cNvSpPr txBox="1"/>
            <p:nvPr/>
          </p:nvSpPr>
          <p:spPr>
            <a:xfrm>
              <a:off x="4753105" y="3616259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 rot="10800000" flipV="1">
            <a:off x="7136876" y="2246302"/>
            <a:ext cx="1051944" cy="492442"/>
            <a:chOff x="3994675" y="2246302"/>
            <a:chExt cx="1051944" cy="492442"/>
          </a:xfrm>
        </p:grpSpPr>
        <p:cxnSp>
          <p:nvCxnSpPr>
            <p:cNvPr id="26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7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01557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501556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396610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8396609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8396610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8396609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pic>
        <p:nvPicPr>
          <p:cNvPr id="25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996187" y="3951171"/>
            <a:ext cx="2196439" cy="2649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997780" y="1233488"/>
            <a:ext cx="2196439" cy="2649775"/>
          </a:xfrm>
          <a:prstGeom prst="rect">
            <a:avLst/>
          </a:prstGeom>
        </p:spPr>
      </p:pic>
      <p:pic>
        <p:nvPicPr>
          <p:cNvPr id="31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 flipH="1" flipV="1">
            <a:off x="6356218" y="2592435"/>
            <a:ext cx="2196439" cy="2649775"/>
          </a:xfrm>
          <a:prstGeom prst="rect">
            <a:avLst/>
          </a:prstGeom>
        </p:spPr>
      </p:pic>
      <p:pic>
        <p:nvPicPr>
          <p:cNvPr id="2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3641250" y="2590692"/>
            <a:ext cx="2196439" cy="2649775"/>
          </a:xfrm>
          <a:prstGeom prst="rect">
            <a:avLst/>
          </a:prstGeom>
        </p:spPr>
      </p:pic>
      <p:sp>
        <p:nvSpPr>
          <p:cNvPr id="11" name="文本占位符 2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81600" y="2167805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81600" y="1789240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181600" y="5334227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181600" y="495566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638427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638427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754220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754220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3"/>
          <p:cNvSpPr/>
          <p:nvPr/>
        </p:nvSpPr>
        <p:spPr>
          <a:xfrm>
            <a:off x="6550911" y="1906318"/>
            <a:ext cx="2351648" cy="2351648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14"/>
          <p:cNvSpPr/>
          <p:nvPr/>
        </p:nvSpPr>
        <p:spPr>
          <a:xfrm>
            <a:off x="8582535" y="2085415"/>
            <a:ext cx="2172551" cy="2172551"/>
          </a:xfrm>
          <a:prstGeom prst="ellipse">
            <a:avLst/>
          </a:prstGeom>
          <a:solidFill>
            <a:srgbClr val="00B3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7"/>
          <p:cNvSpPr/>
          <p:nvPr/>
        </p:nvSpPr>
        <p:spPr>
          <a:xfrm>
            <a:off x="2962471" y="1656141"/>
            <a:ext cx="2601825" cy="2601826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20"/>
          <p:cNvSpPr/>
          <p:nvPr/>
        </p:nvSpPr>
        <p:spPr>
          <a:xfrm>
            <a:off x="5244272" y="2631304"/>
            <a:ext cx="1626662" cy="162666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id-ID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Oval 2"/>
          <p:cNvSpPr/>
          <p:nvPr/>
        </p:nvSpPr>
        <p:spPr>
          <a:xfrm>
            <a:off x="1436914" y="2412384"/>
            <a:ext cx="1845582" cy="184558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26"/>
          <p:cNvSpPr/>
          <p:nvPr userDrawn="1"/>
        </p:nvSpPr>
        <p:spPr>
          <a:xfrm>
            <a:off x="0" y="3279454"/>
            <a:ext cx="12192000" cy="3578546"/>
          </a:xfrm>
          <a:prstGeom prst="rect">
            <a:avLst/>
          </a:prstGeom>
          <a:solidFill>
            <a:srgbClr val="E6F7FA"/>
          </a:solidFill>
          <a:ln>
            <a:noFill/>
          </a:ln>
          <a:effectLst>
            <a:outerShdw blurRad="622300" dist="292100" dir="16200000" sx="94000" sy="94000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14554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031E2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3818155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420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343257" y="258349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6812335" y="26313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1702586" y="2857758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06387" y="2866522"/>
            <a:ext cx="976566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9014754" y="2866522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788526" y="2103880"/>
            <a:ext cx="8742314" cy="3217422"/>
            <a:chOff x="2175241" y="2429082"/>
            <a:chExt cx="7968884" cy="2932778"/>
          </a:xfrm>
        </p:grpSpPr>
        <p:sp>
          <p:nvSpPr>
            <p:cNvPr id="7" name="Freeform 5"/>
            <p:cNvSpPr/>
            <p:nvPr/>
          </p:nvSpPr>
          <p:spPr bwMode="auto">
            <a:xfrm>
              <a:off x="7715206" y="2985075"/>
              <a:ext cx="1832616" cy="1822284"/>
            </a:xfrm>
            <a:custGeom>
              <a:avLst/>
              <a:gdLst>
                <a:gd name="T0" fmla="*/ 0 w 320"/>
                <a:gd name="T1" fmla="*/ 189 h 316"/>
                <a:gd name="T2" fmla="*/ 200 w 320"/>
                <a:gd name="T3" fmla="*/ 0 h 316"/>
                <a:gd name="T4" fmla="*/ 320 w 320"/>
                <a:gd name="T5" fmla="*/ 127 h 316"/>
                <a:gd name="T6" fmla="*/ 120 w 320"/>
                <a:gd name="T7" fmla="*/ 316 h 316"/>
                <a:gd name="T8" fmla="*/ 0 w 320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6">
                  <a:moveTo>
                    <a:pt x="0" y="189"/>
                  </a:moveTo>
                  <a:cubicBezTo>
                    <a:pt x="102" y="179"/>
                    <a:pt x="185" y="101"/>
                    <a:pt x="200" y="0"/>
                  </a:cubicBezTo>
                  <a:cubicBezTo>
                    <a:pt x="320" y="127"/>
                    <a:pt x="320" y="127"/>
                    <a:pt x="320" y="127"/>
                  </a:cubicBezTo>
                  <a:cubicBezTo>
                    <a:pt x="218" y="137"/>
                    <a:pt x="135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731814" y="2991272"/>
              <a:ext cx="1799559" cy="1816087"/>
            </a:xfrm>
            <a:custGeom>
              <a:avLst/>
              <a:gdLst>
                <a:gd name="T0" fmla="*/ 127 w 314"/>
                <a:gd name="T1" fmla="*/ 0 h 315"/>
                <a:gd name="T2" fmla="*/ 314 w 314"/>
                <a:gd name="T3" fmla="*/ 189 h 315"/>
                <a:gd name="T4" fmla="*/ 187 w 314"/>
                <a:gd name="T5" fmla="*/ 315 h 315"/>
                <a:gd name="T6" fmla="*/ 0 w 314"/>
                <a:gd name="T7" fmla="*/ 125 h 315"/>
                <a:gd name="T8" fmla="*/ 127 w 314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315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370219" y="2985075"/>
              <a:ext cx="1838814" cy="1822284"/>
            </a:xfrm>
            <a:custGeom>
              <a:avLst/>
              <a:gdLst>
                <a:gd name="T0" fmla="*/ 0 w 321"/>
                <a:gd name="T1" fmla="*/ 189 h 316"/>
                <a:gd name="T2" fmla="*/ 201 w 321"/>
                <a:gd name="T3" fmla="*/ 0 h 316"/>
                <a:gd name="T4" fmla="*/ 321 w 321"/>
                <a:gd name="T5" fmla="*/ 127 h 316"/>
                <a:gd name="T6" fmla="*/ 120 w 321"/>
                <a:gd name="T7" fmla="*/ 316 h 316"/>
                <a:gd name="T8" fmla="*/ 0 w 321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316">
                  <a:moveTo>
                    <a:pt x="0" y="189"/>
                  </a:moveTo>
                  <a:cubicBezTo>
                    <a:pt x="102" y="179"/>
                    <a:pt x="185" y="101"/>
                    <a:pt x="201" y="0"/>
                  </a:cubicBezTo>
                  <a:cubicBezTo>
                    <a:pt x="321" y="127"/>
                    <a:pt x="321" y="127"/>
                    <a:pt x="321" y="127"/>
                  </a:cubicBezTo>
                  <a:cubicBezTo>
                    <a:pt x="218" y="137"/>
                    <a:pt x="136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6054075" y="2985075"/>
              <a:ext cx="1809888" cy="1822284"/>
            </a:xfrm>
            <a:custGeom>
              <a:avLst/>
              <a:gdLst>
                <a:gd name="T0" fmla="*/ 126 w 316"/>
                <a:gd name="T1" fmla="*/ 0 h 316"/>
                <a:gd name="T2" fmla="*/ 316 w 316"/>
                <a:gd name="T3" fmla="*/ 190 h 316"/>
                <a:gd name="T4" fmla="*/ 191 w 316"/>
                <a:gd name="T5" fmla="*/ 316 h 316"/>
                <a:gd name="T6" fmla="*/ 0 w 316"/>
                <a:gd name="T7" fmla="*/ 126 h 316"/>
                <a:gd name="T8" fmla="*/ 126 w 316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6">
                  <a:moveTo>
                    <a:pt x="126" y="0"/>
                  </a:moveTo>
                  <a:cubicBezTo>
                    <a:pt x="140" y="99"/>
                    <a:pt x="218" y="176"/>
                    <a:pt x="316" y="190"/>
                  </a:cubicBezTo>
                  <a:cubicBezTo>
                    <a:pt x="191" y="316"/>
                    <a:pt x="191" y="316"/>
                    <a:pt x="191" y="316"/>
                  </a:cubicBezTo>
                  <a:cubicBezTo>
                    <a:pt x="176" y="217"/>
                    <a:pt x="99" y="140"/>
                    <a:pt x="0" y="126"/>
                  </a:cubicBezTo>
                  <a:lnTo>
                    <a:pt x="12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1" name="Oval 36"/>
            <p:cNvSpPr/>
            <p:nvPr/>
          </p:nvSpPr>
          <p:spPr>
            <a:xfrm>
              <a:off x="2175241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2" name="Oval 37"/>
            <p:cNvSpPr/>
            <p:nvPr/>
          </p:nvSpPr>
          <p:spPr>
            <a:xfrm>
              <a:off x="549130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3" name="Oval 39"/>
            <p:cNvSpPr/>
            <p:nvPr/>
          </p:nvSpPr>
          <p:spPr>
            <a:xfrm>
              <a:off x="885202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4" name="Oval 42"/>
            <p:cNvSpPr/>
            <p:nvPr/>
          </p:nvSpPr>
          <p:spPr>
            <a:xfrm>
              <a:off x="7140833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defTabSz="457200" fontAlgn="auto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6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</a:endParaRPr>
            </a:p>
          </p:txBody>
        </p:sp>
        <p:sp>
          <p:nvSpPr>
            <p:cNvPr id="15" name="Oval 43"/>
            <p:cNvSpPr/>
            <p:nvPr/>
          </p:nvSpPr>
          <p:spPr>
            <a:xfrm>
              <a:off x="3786312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</p:grpSp>
      <p:sp>
        <p:nvSpPr>
          <p:cNvPr id="1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3401833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3401833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063141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063141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5196513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196513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459409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59409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8904638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8904638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9" name="图形 28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3122" y="2441383"/>
            <a:ext cx="720000" cy="720000"/>
          </a:xfrm>
          <a:prstGeom prst="rect">
            <a:avLst/>
          </a:prstGeom>
        </p:spPr>
      </p:pic>
      <p:pic>
        <p:nvPicPr>
          <p:cNvPr id="31" name="图形 30" descr="循环流程图 纯色填充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332" y="4226611"/>
            <a:ext cx="720000" cy="720000"/>
          </a:xfrm>
          <a:prstGeom prst="rect">
            <a:avLst/>
          </a:prstGeom>
        </p:spPr>
      </p:pic>
      <p:pic>
        <p:nvPicPr>
          <p:cNvPr id="34" name="图形 33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0913" y="2441383"/>
            <a:ext cx="720000" cy="720000"/>
          </a:xfrm>
          <a:prstGeom prst="rect">
            <a:avLst/>
          </a:prstGeom>
        </p:spPr>
      </p:pic>
      <p:pic>
        <p:nvPicPr>
          <p:cNvPr id="35" name="图形 34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9038" y="2441383"/>
            <a:ext cx="720000" cy="720000"/>
          </a:xfrm>
          <a:prstGeom prst="rect">
            <a:avLst/>
          </a:prstGeom>
        </p:spPr>
      </p:pic>
      <p:pic>
        <p:nvPicPr>
          <p:cNvPr id="36" name="图形 35" descr="循环流程图 纯色填充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5598" y="4226611"/>
            <a:ext cx="720000" cy="720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Freeform 5"/>
          <p:cNvSpPr/>
          <p:nvPr userDrawn="1"/>
        </p:nvSpPr>
        <p:spPr bwMode="auto">
          <a:xfrm rot="16200000">
            <a:off x="4020967" y="619313"/>
            <a:ext cx="4148975" cy="8427602"/>
          </a:xfrm>
          <a:custGeom>
            <a:avLst/>
            <a:gdLst>
              <a:gd name="T0" fmla="*/ 0 w 483"/>
              <a:gd name="T1" fmla="*/ 965 h 965"/>
              <a:gd name="T2" fmla="*/ 483 w 483"/>
              <a:gd name="T3" fmla="*/ 482 h 965"/>
              <a:gd name="T4" fmla="*/ 0 w 483"/>
              <a:gd name="T5" fmla="*/ 0 h 965"/>
              <a:gd name="T6" fmla="*/ 0 w 483"/>
              <a:gd name="T7" fmla="*/ 965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3" h="965">
                <a:moveTo>
                  <a:pt x="0" y="965"/>
                </a:moveTo>
                <a:cubicBezTo>
                  <a:pt x="267" y="965"/>
                  <a:pt x="483" y="749"/>
                  <a:pt x="483" y="482"/>
                </a:cubicBezTo>
                <a:cubicBezTo>
                  <a:pt x="483" y="216"/>
                  <a:pt x="267" y="0"/>
                  <a:pt x="0" y="0"/>
                </a:cubicBezTo>
                <a:lnTo>
                  <a:pt x="0" y="965"/>
                </a:lnTo>
                <a:close/>
              </a:path>
            </a:pathLst>
          </a:custGeom>
          <a:noFill/>
          <a:ln>
            <a:solidFill>
              <a:schemeClr val="tx1">
                <a:alpha val="2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val 8"/>
          <p:cNvSpPr/>
          <p:nvPr userDrawn="1"/>
        </p:nvSpPr>
        <p:spPr>
          <a:xfrm rot="10800000">
            <a:off x="1981273" y="562696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Oval 9"/>
          <p:cNvSpPr/>
          <p:nvPr userDrawn="1"/>
        </p:nvSpPr>
        <p:spPr>
          <a:xfrm rot="10800000">
            <a:off x="2916705" y="3988990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Oval 10"/>
          <p:cNvSpPr/>
          <p:nvPr userDrawn="1"/>
        </p:nvSpPr>
        <p:spPr>
          <a:xfrm rot="10800000">
            <a:off x="9118454" y="4035733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Oval 11"/>
          <p:cNvSpPr/>
          <p:nvPr userDrawn="1"/>
        </p:nvSpPr>
        <p:spPr>
          <a:xfrm rot="10800000">
            <a:off x="10046573" y="562558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Oval 12"/>
          <p:cNvSpPr/>
          <p:nvPr userDrawn="1"/>
        </p:nvSpPr>
        <p:spPr>
          <a:xfrm rot="10800000">
            <a:off x="6004158" y="2651289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2269812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2269812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3184212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184212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181600" y="3326110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181600" y="2947545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7178990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7178990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118153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18153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4424798" y="2126861"/>
            <a:ext cx="3240000" cy="3240000"/>
            <a:chOff x="4388172" y="2235404"/>
            <a:chExt cx="3240000" cy="3240000"/>
          </a:xfrm>
        </p:grpSpPr>
        <p:sp>
          <p:nvSpPr>
            <p:cNvPr id="7" name="图形"/>
            <p:cNvSpPr>
              <a:spLocks noChangeArrowheads="1"/>
            </p:cNvSpPr>
            <p:nvPr/>
          </p:nvSpPr>
          <p:spPr bwMode="auto">
            <a:xfrm>
              <a:off x="4748172" y="2595404"/>
              <a:ext cx="2520000" cy="2520000"/>
            </a:xfrm>
            <a:prstGeom prst="ellipse">
              <a:avLst/>
            </a:prstGeom>
            <a:noFill/>
            <a:ln w="9525">
              <a:solidFill>
                <a:srgbClr val="00B3CC">
                  <a:alpha val="5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5097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8" name="图形"/>
            <p:cNvSpPr>
              <a:spLocks noChangeArrowheads="1"/>
            </p:cNvSpPr>
            <p:nvPr/>
          </p:nvSpPr>
          <p:spPr bwMode="auto">
            <a:xfrm>
              <a:off x="4388172" y="2235404"/>
              <a:ext cx="3240000" cy="3240000"/>
            </a:xfrm>
            <a:prstGeom prst="ellipse">
              <a:avLst/>
            </a:prstGeom>
            <a:noFill/>
            <a:ln w="6350">
              <a:solidFill>
                <a:srgbClr val="00B3CC">
                  <a:alpha val="4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9" name="图形"/>
            <p:cNvSpPr>
              <a:spLocks noChangeArrowheads="1"/>
            </p:cNvSpPr>
            <p:nvPr/>
          </p:nvSpPr>
          <p:spPr bwMode="auto">
            <a:xfrm>
              <a:off x="5108172" y="2955404"/>
              <a:ext cx="1800000" cy="1800000"/>
            </a:xfrm>
            <a:prstGeom prst="ellipse">
              <a:avLst/>
            </a:prstGeom>
            <a:noFill/>
            <a:ln w="12700">
              <a:solidFill>
                <a:srgbClr val="00B3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10" name="图形"/>
            <p:cNvSpPr>
              <a:spLocks noChangeArrowheads="1"/>
            </p:cNvSpPr>
            <p:nvPr/>
          </p:nvSpPr>
          <p:spPr bwMode="auto">
            <a:xfrm>
              <a:off x="5468172" y="3315404"/>
              <a:ext cx="1080000" cy="1080000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 sz="2800" b="1" dirty="0">
                <a:solidFill>
                  <a:srgbClr val="FFFFFF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</p:grpSp>
      <p:cxnSp>
        <p:nvCxnSpPr>
          <p:cNvPr id="35" name="图形"/>
          <p:cNvCxnSpPr/>
          <p:nvPr/>
        </p:nvCxnSpPr>
        <p:spPr>
          <a:xfrm flipH="1">
            <a:off x="504000" y="283696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448050" y="1861555"/>
            <a:ext cx="715010" cy="715010"/>
            <a:chOff x="3448050" y="2005330"/>
            <a:chExt cx="715010" cy="715010"/>
          </a:xfrm>
        </p:grpSpPr>
        <p:sp>
          <p:nvSpPr>
            <p:cNvPr id="37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38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9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40" name="图形"/>
              <p:cNvCxnSpPr>
                <a:stCxn id="39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图形"/>
          <p:cNvCxnSpPr/>
          <p:nvPr/>
        </p:nvCxnSpPr>
        <p:spPr>
          <a:xfrm flipH="1">
            <a:off x="504000" y="430523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448050" y="3329825"/>
            <a:ext cx="715010" cy="715010"/>
            <a:chOff x="3448050" y="2005330"/>
            <a:chExt cx="715010" cy="715010"/>
          </a:xfrm>
        </p:grpSpPr>
        <p:sp>
          <p:nvSpPr>
            <p:cNvPr id="2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31" name="图形"/>
              <p:cNvCxnSpPr>
                <a:stCxn id="3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图形"/>
          <p:cNvCxnSpPr/>
          <p:nvPr/>
        </p:nvCxnSpPr>
        <p:spPr>
          <a:xfrm flipH="1">
            <a:off x="504000" y="577350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448050" y="4798095"/>
            <a:ext cx="715010" cy="715010"/>
            <a:chOff x="3448050" y="2005330"/>
            <a:chExt cx="715010" cy="715010"/>
          </a:xfrm>
        </p:grpSpPr>
        <p:sp>
          <p:nvSpPr>
            <p:cNvPr id="1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2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22" name="图形"/>
              <p:cNvCxnSpPr>
                <a:stCxn id="2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6" name="图形"/>
          <p:cNvCxnSpPr/>
          <p:nvPr/>
        </p:nvCxnSpPr>
        <p:spPr>
          <a:xfrm flipH="1">
            <a:off x="7926536" y="280545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 rot="10800000">
            <a:off x="8024116" y="1830042"/>
            <a:ext cx="715010" cy="715010"/>
            <a:chOff x="3448050" y="2005330"/>
            <a:chExt cx="715010" cy="715010"/>
          </a:xfrm>
        </p:grpSpPr>
        <p:sp>
          <p:nvSpPr>
            <p:cNvPr id="6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7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71" name="图形"/>
              <p:cNvCxnSpPr>
                <a:stCxn id="7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图形"/>
          <p:cNvCxnSpPr/>
          <p:nvPr/>
        </p:nvCxnSpPr>
        <p:spPr>
          <a:xfrm flipH="1">
            <a:off x="7926536" y="427372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 rot="10800000">
            <a:off x="8024116" y="3298312"/>
            <a:ext cx="715010" cy="715010"/>
            <a:chOff x="3448050" y="2005330"/>
            <a:chExt cx="715010" cy="715010"/>
          </a:xfrm>
        </p:grpSpPr>
        <p:sp>
          <p:nvSpPr>
            <p:cNvPr id="5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6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62" name="图形"/>
              <p:cNvCxnSpPr>
                <a:stCxn id="6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8" name="图形"/>
          <p:cNvCxnSpPr/>
          <p:nvPr/>
        </p:nvCxnSpPr>
        <p:spPr>
          <a:xfrm flipH="1">
            <a:off x="7926536" y="574199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 rot="10800000">
            <a:off x="8024116" y="4766582"/>
            <a:ext cx="715010" cy="715010"/>
            <a:chOff x="3448050" y="2005330"/>
            <a:chExt cx="715010" cy="715010"/>
          </a:xfrm>
        </p:grpSpPr>
        <p:sp>
          <p:nvSpPr>
            <p:cNvPr id="50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51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52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53" name="图形"/>
              <p:cNvCxnSpPr>
                <a:stCxn id="52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622452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22452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622452" y="3681668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622452" y="3303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0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622452" y="514993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622452" y="477137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2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987345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987345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4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8987345" y="3682481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5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8987345" y="3303916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6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8987345" y="514514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987345" y="476658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0070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85994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185996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552573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178497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178499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60070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85994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85996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552573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178497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178499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560070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185994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185996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6552573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7178497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7178499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33800" y="0"/>
            <a:ext cx="8458200" cy="6858000"/>
          </a:xfrm>
          <a:custGeom>
            <a:avLst/>
            <a:gdLst>
              <a:gd name="connsiteX0" fmla="*/ 0 w 12687300"/>
              <a:gd name="connsiteY0" fmla="*/ 0 h 5829300"/>
              <a:gd name="connsiteX1" fmla="*/ 12687300 w 12687300"/>
              <a:gd name="connsiteY1" fmla="*/ 0 h 5829300"/>
              <a:gd name="connsiteX2" fmla="*/ 12687300 w 12687300"/>
              <a:gd name="connsiteY2" fmla="*/ 5829300 h 5829300"/>
              <a:gd name="connsiteX3" fmla="*/ 0 w 12687300"/>
              <a:gd name="connsiteY3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7300" h="5829300">
                <a:moveTo>
                  <a:pt x="0" y="0"/>
                </a:moveTo>
                <a:lnTo>
                  <a:pt x="12687300" y="0"/>
                </a:lnTo>
                <a:lnTo>
                  <a:pt x="12687300" y="5829300"/>
                </a:lnTo>
                <a:lnTo>
                  <a:pt x="0" y="5829300"/>
                </a:lnTo>
                <a:close/>
              </a:path>
            </a:pathLst>
          </a:custGeom>
          <a:solidFill>
            <a:srgbClr val="DAEE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 dirty="0"/>
          </a:p>
        </p:txBody>
      </p:sp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Image 0" descr="preencoded.png"/>
          <p:cNvSpPr/>
          <p:nvPr userDrawn="1"/>
        </p:nvSpPr>
        <p:spPr>
          <a:xfrm>
            <a:off x="508000" y="1962150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07999" y="2044260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508000" y="1577985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Image 0" descr="preencoded.png"/>
          <p:cNvSpPr/>
          <p:nvPr userDrawn="1"/>
        </p:nvSpPr>
        <p:spPr>
          <a:xfrm>
            <a:off x="508000" y="3966955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07999" y="4049065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3582790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4178300" y="2969154"/>
            <a:ext cx="7505700" cy="6350"/>
            <a:chOff x="6267450" y="5972175"/>
            <a:chExt cx="11258550" cy="9525"/>
          </a:xfrm>
        </p:grpSpPr>
        <p:sp>
          <p:nvSpPr>
            <p:cNvPr id="48" name="任意多边形: 形状 47"/>
            <p:cNvSpPr/>
            <p:nvPr/>
          </p:nvSpPr>
          <p:spPr>
            <a:xfrm>
              <a:off x="6267450" y="5972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8448675" y="5972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 userDrawn="1"/>
        </p:nvGrpSpPr>
        <p:grpSpPr>
          <a:xfrm>
            <a:off x="4178300" y="3982508"/>
            <a:ext cx="7505700" cy="6350"/>
            <a:chOff x="6267450" y="7115175"/>
            <a:chExt cx="11258550" cy="9525"/>
          </a:xfrm>
        </p:grpSpPr>
        <p:sp>
          <p:nvSpPr>
            <p:cNvPr id="51" name="任意多边形: 形状 50"/>
            <p:cNvSpPr/>
            <p:nvPr/>
          </p:nvSpPr>
          <p:spPr>
            <a:xfrm>
              <a:off x="6267450" y="7115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8448675" y="7115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 userDrawn="1"/>
        </p:nvGrpSpPr>
        <p:grpSpPr>
          <a:xfrm>
            <a:off x="4178300" y="4995862"/>
            <a:ext cx="7505700" cy="6350"/>
            <a:chOff x="6267450" y="8258175"/>
            <a:chExt cx="11258550" cy="9525"/>
          </a:xfrm>
        </p:grpSpPr>
        <p:sp>
          <p:nvSpPr>
            <p:cNvPr id="54" name="任意多边形: 形状 53"/>
            <p:cNvSpPr/>
            <p:nvPr/>
          </p:nvSpPr>
          <p:spPr>
            <a:xfrm>
              <a:off x="6267450" y="8258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8448675" y="8258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 userDrawn="1"/>
        </p:nvGrpSpPr>
        <p:grpSpPr>
          <a:xfrm>
            <a:off x="4178300" y="6009217"/>
            <a:ext cx="7505700" cy="6350"/>
            <a:chOff x="6267450" y="9401175"/>
            <a:chExt cx="11258550" cy="9525"/>
          </a:xfrm>
        </p:grpSpPr>
        <p:sp>
          <p:nvSpPr>
            <p:cNvPr id="57" name="任意多边形: 形状 56"/>
            <p:cNvSpPr/>
            <p:nvPr/>
          </p:nvSpPr>
          <p:spPr>
            <a:xfrm>
              <a:off x="6267450" y="9401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8448675" y="9401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</p:grpSp>
      <p:cxnSp>
        <p:nvCxnSpPr>
          <p:cNvPr id="59" name="直接连接符 58"/>
          <p:cNvCxnSpPr/>
          <p:nvPr userDrawn="1"/>
        </p:nvCxnSpPr>
        <p:spPr>
          <a:xfrm>
            <a:off x="4178300" y="1962150"/>
            <a:ext cx="7505669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32388" y="21301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5632388" y="3096501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21578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3124201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4178300" y="211634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4178300" y="3082651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5632388" y="410187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412957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4178300" y="408802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5632388" y="513155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515925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178300" y="511770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1958150" y="188638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1958150" y="28136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188638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28136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504062" y="188638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504062" y="281369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1958150" y="3753987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3753987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4062" y="3753987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en-US" altLang="zh-CN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1961740" y="4674454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4674454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507652" y="4674454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04000" y="1746555"/>
            <a:ext cx="11184000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/>
          <p:cNvSpPr/>
          <p:nvPr userDrawn="1"/>
        </p:nvSpPr>
        <p:spPr>
          <a:xfrm>
            <a:off x="504000" y="267257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958150" y="267257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504000" y="359528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958150" y="359528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504000" y="4522501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1958150" y="4522501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>
            <a:off x="504000" y="5449722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1958150" y="5449722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1961740" y="5606905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46" hasCustomPrompt="1"/>
          </p:nvPr>
        </p:nvSpPr>
        <p:spPr>
          <a:xfrm>
            <a:off x="7755400" y="5606905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507652" y="5606905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0109644" y="6308090"/>
            <a:ext cx="1726755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en-US" altLang="zh-CN" sz="935" kern="0" dirty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North Valley Research, INC</a:t>
            </a:r>
            <a:endParaRPr lang="zh-CN" altLang="en-US" sz="935" kern="0" dirty="0">
              <a:solidFill>
                <a:srgbClr val="0E3C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图表占位符 8"/>
          <p:cNvSpPr>
            <a:spLocks noGrp="1"/>
          </p:cNvSpPr>
          <p:nvPr>
            <p:ph type="chart" sz="quarter" idx="10"/>
          </p:nvPr>
        </p:nvSpPr>
        <p:spPr>
          <a:xfrm>
            <a:off x="501650" y="1477963"/>
            <a:ext cx="11080750" cy="22256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0" name="矩形: 圆角 9"/>
          <p:cNvSpPr/>
          <p:nvPr userDrawn="1"/>
        </p:nvSpPr>
        <p:spPr>
          <a:xfrm>
            <a:off x="0" y="4030980"/>
            <a:ext cx="12192000" cy="282702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01557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2192563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2192565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图表占位符 11"/>
          <p:cNvSpPr>
            <a:spLocks noGrp="1"/>
          </p:cNvSpPr>
          <p:nvPr>
            <p:ph type="chart" sz="quarter" idx="23"/>
          </p:nvPr>
        </p:nvSpPr>
        <p:spPr>
          <a:xfrm>
            <a:off x="4347209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6038215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6038217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7" name="图表占位符 11"/>
          <p:cNvSpPr>
            <a:spLocks noGrp="1"/>
          </p:cNvSpPr>
          <p:nvPr>
            <p:ph type="chart" sz="quarter" idx="26"/>
          </p:nvPr>
        </p:nvSpPr>
        <p:spPr>
          <a:xfrm>
            <a:off x="8192861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9883867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9883869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866037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1017590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9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802317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5866037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866038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5866037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5866038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802317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02317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802317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22" hasCustomPrompt="1"/>
          </p:nvPr>
        </p:nvSpPr>
        <p:spPr>
          <a:xfrm>
            <a:off x="802317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任意多边形: 形状 19"/>
          <p:cNvSpPr/>
          <p:nvPr userDrawn="1"/>
        </p:nvSpPr>
        <p:spPr>
          <a:xfrm>
            <a:off x="1017590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017590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1017590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17590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86603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802317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17590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3988399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7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9282170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663805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3988400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663805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9282171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133874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33874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7022625" y="1590222"/>
            <a:ext cx="4591360" cy="45913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Line"/>
          <p:cNvSpPr/>
          <p:nvPr/>
        </p:nvSpPr>
        <p:spPr>
          <a:xfrm>
            <a:off x="495300" y="4636415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495300" y="4322893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285744" y="4322893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9" name="Line"/>
          <p:cNvSpPr/>
          <p:nvPr userDrawn="1"/>
        </p:nvSpPr>
        <p:spPr>
          <a:xfrm>
            <a:off x="495300" y="5075327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0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495300" y="4761805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3285744" y="4761805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32" name="Line"/>
          <p:cNvSpPr/>
          <p:nvPr userDrawn="1"/>
        </p:nvSpPr>
        <p:spPr>
          <a:xfrm>
            <a:off x="495300" y="5514238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495300" y="5200716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3285744" y="5200716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: 圆角 248"/>
          <p:cNvSpPr/>
          <p:nvPr userDrawn="1"/>
        </p:nvSpPr>
        <p:spPr>
          <a:xfrm>
            <a:off x="5318760" y="0"/>
            <a:ext cx="6873240" cy="685800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25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5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5996387" y="1590223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3" name="图表占位符 11"/>
          <p:cNvSpPr>
            <a:spLocks noGrp="1"/>
          </p:cNvSpPr>
          <p:nvPr>
            <p:ph type="chart" sz="quarter" idx="25"/>
          </p:nvPr>
        </p:nvSpPr>
        <p:spPr>
          <a:xfrm>
            <a:off x="5996387" y="4019015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4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6" name="标题 15"/>
          <p:cNvSpPr txBox="1"/>
          <p:nvPr userDrawn="1"/>
        </p:nvSpPr>
        <p:spPr>
          <a:xfrm>
            <a:off x="501556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57" name="标题 15"/>
          <p:cNvSpPr txBox="1"/>
          <p:nvPr userDrawn="1"/>
        </p:nvSpPr>
        <p:spPr>
          <a:xfrm>
            <a:off x="497493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58" name="直接连接符 257"/>
          <p:cNvCxnSpPr/>
          <p:nvPr userDrawn="1"/>
        </p:nvCxnSpPr>
        <p:spPr>
          <a:xfrm flipV="1">
            <a:off x="2169658" y="4664759"/>
            <a:ext cx="0" cy="4094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标题 15"/>
          <p:cNvSpPr txBox="1"/>
          <p:nvPr userDrawn="1"/>
        </p:nvSpPr>
        <p:spPr>
          <a:xfrm>
            <a:off x="2731849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60" name="标题 15"/>
          <p:cNvSpPr txBox="1"/>
          <p:nvPr userDrawn="1"/>
        </p:nvSpPr>
        <p:spPr>
          <a:xfrm>
            <a:off x="2763268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蓝色的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黑暗里有星球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010400" y="2226262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OPPOSans L" panose="00020600040101010101" pitchFamily="18" charset="-122"/>
                <a:ea typeface="OPPOSans L" panose="00020600040101010101" pitchFamily="18" charset="-122"/>
                <a:cs typeface="OPPOSans L" panose="00020600040101010101" pitchFamily="18" charset="-122"/>
              </a:rPr>
              <a:t>感谢观看</a:t>
            </a:r>
            <a:endParaRPr lang="zh-CN" altLang="en-US" sz="8000" dirty="0">
              <a:solidFill>
                <a:schemeClr val="bg1"/>
              </a:solidFill>
              <a:latin typeface="OPPOSans L" panose="00020600040101010101" pitchFamily="18" charset="-122"/>
              <a:ea typeface="OPPOSans L" panose="00020600040101010101" pitchFamily="18" charset="-122"/>
              <a:cs typeface="OPPOSans L" panose="00020600040101010101" pitchFamily="18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8" name="文本占位符 27"/>
          <p:cNvSpPr>
            <a:spLocks noGrp="1"/>
          </p:cNvSpPr>
          <p:nvPr>
            <p:ph type="body" sz="quarter" idx="10" hasCustomPrompt="1"/>
          </p:nvPr>
        </p:nvSpPr>
        <p:spPr>
          <a:xfrm>
            <a:off x="4932793" y="2537392"/>
            <a:ext cx="67512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400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一级标题</a:t>
            </a:r>
            <a:endParaRPr lang="en-US" altLang="zh-CN" dirty="0"/>
          </a:p>
        </p:txBody>
      </p:sp>
      <p:sp>
        <p:nvSpPr>
          <p:cNvPr id="30" name="文本占位符 27"/>
          <p:cNvSpPr>
            <a:spLocks noGrp="1"/>
          </p:cNvSpPr>
          <p:nvPr>
            <p:ph type="body" sz="quarter" idx="11" hasCustomPrompt="1"/>
          </p:nvPr>
        </p:nvSpPr>
        <p:spPr>
          <a:xfrm>
            <a:off x="4932793" y="3296705"/>
            <a:ext cx="6751207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en-US" altLang="zh-CN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14489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8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1" name="文本占位符 56"/>
          <p:cNvSpPr>
            <a:spLocks noGrp="1"/>
          </p:cNvSpPr>
          <p:nvPr>
            <p:ph type="body" sz="quarter" idx="13" hasCustomPrompt="1"/>
          </p:nvPr>
        </p:nvSpPr>
        <p:spPr>
          <a:xfrm>
            <a:off x="432934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2" name="文本占位符 56"/>
          <p:cNvSpPr>
            <a:spLocks noGrp="1"/>
          </p:cNvSpPr>
          <p:nvPr>
            <p:ph type="body" sz="quarter" idx="14" hasCustomPrompt="1"/>
          </p:nvPr>
        </p:nvSpPr>
        <p:spPr>
          <a:xfrm>
            <a:off x="432934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7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8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9" name="文本占位符 56"/>
          <p:cNvSpPr>
            <a:spLocks noGrp="1"/>
          </p:cNvSpPr>
          <p:nvPr>
            <p:ph type="body" sz="quarter" idx="17" hasCustomPrompt="1"/>
          </p:nvPr>
        </p:nvSpPr>
        <p:spPr>
          <a:xfrm>
            <a:off x="432934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70" name="文本占位符 56"/>
          <p:cNvSpPr>
            <a:spLocks noGrp="1"/>
          </p:cNvSpPr>
          <p:nvPr>
            <p:ph type="body" sz="quarter" idx="18" hasCustomPrompt="1"/>
          </p:nvPr>
        </p:nvSpPr>
        <p:spPr>
          <a:xfrm>
            <a:off x="432934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1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72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3" name="文本占位符 56"/>
          <p:cNvSpPr>
            <a:spLocks noGrp="1"/>
          </p:cNvSpPr>
          <p:nvPr>
            <p:ph type="body" sz="quarter" idx="21" hasCustomPrompt="1"/>
          </p:nvPr>
        </p:nvSpPr>
        <p:spPr>
          <a:xfrm>
            <a:off x="432934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74" name="文本占位符 56"/>
          <p:cNvSpPr>
            <a:spLocks noGrp="1"/>
          </p:cNvSpPr>
          <p:nvPr>
            <p:ph type="body" sz="quarter" idx="22" hasCustomPrompt="1"/>
          </p:nvPr>
        </p:nvSpPr>
        <p:spPr>
          <a:xfrm>
            <a:off x="432934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5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76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7" name="文本占位符 56"/>
          <p:cNvSpPr>
            <a:spLocks noGrp="1"/>
          </p:cNvSpPr>
          <p:nvPr>
            <p:ph type="body" sz="quarter" idx="25" hasCustomPrompt="1"/>
          </p:nvPr>
        </p:nvSpPr>
        <p:spPr>
          <a:xfrm>
            <a:off x="432934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78" name="文本占位符 56"/>
          <p:cNvSpPr>
            <a:spLocks noGrp="1"/>
          </p:cNvSpPr>
          <p:nvPr>
            <p:ph type="body" sz="quarter" idx="26" hasCustomPrompt="1"/>
          </p:nvPr>
        </p:nvSpPr>
        <p:spPr>
          <a:xfrm>
            <a:off x="432934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3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1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3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5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9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1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3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35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块介绍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preencoded.png"/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6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2535018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endParaRPr lang="en-US" altLang="zh-CN" dirty="0"/>
          </a:p>
        </p:txBody>
      </p:sp>
      <p:sp>
        <p:nvSpPr>
          <p:cNvPr id="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19" y="3280114"/>
            <a:ext cx="940459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空白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文版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5"/>
          <p:cNvSpPr>
            <a:spLocks noGrp="1" noChangeAspect="1"/>
          </p:cNvSpPr>
          <p:nvPr>
            <p:ph type="pic" sz="quarter" idx="21"/>
          </p:nvPr>
        </p:nvSpPr>
        <p:spPr>
          <a:xfrm>
            <a:off x="552053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27744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3" hasCustomPrompt="1"/>
          </p:nvPr>
        </p:nvSpPr>
        <p:spPr>
          <a:xfrm>
            <a:off x="527744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452231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188579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64270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164270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88757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9" name="图片占位符 5"/>
          <p:cNvSpPr>
            <a:spLocks noGrp="1" noChangeAspect="1"/>
          </p:cNvSpPr>
          <p:nvPr>
            <p:ph type="pic" sz="quarter" idx="29"/>
          </p:nvPr>
        </p:nvSpPr>
        <p:spPr>
          <a:xfrm>
            <a:off x="915527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891218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1" hasCustomPrompt="1"/>
          </p:nvPr>
        </p:nvSpPr>
        <p:spPr>
          <a:xfrm>
            <a:off x="891218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5705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297404"/>
            <a:ext cx="6188400" cy="46404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636602" y="1834974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6636602" y="2185482"/>
            <a:ext cx="48150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200" kern="120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370016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5"/>
          <p:cNvSpPr txBox="1"/>
          <p:nvPr userDrawn="1"/>
        </p:nvSpPr>
        <p:spPr>
          <a:xfrm>
            <a:off x="6982160" y="4586034"/>
            <a:ext cx="470742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18" name="标题 15"/>
          <p:cNvSpPr txBox="1"/>
          <p:nvPr userDrawn="1"/>
        </p:nvSpPr>
        <p:spPr>
          <a:xfrm>
            <a:off x="6370016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02414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114558" y="4586034"/>
            <a:ext cx="473023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22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标题 15"/>
          <p:cNvSpPr txBox="1"/>
          <p:nvPr userDrawn="1"/>
        </p:nvSpPr>
        <p:spPr>
          <a:xfrm>
            <a:off x="502414" y="4586034"/>
            <a:ext cx="531957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9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5"/>
          <p:cNvSpPr txBox="1"/>
          <p:nvPr userDrawn="1"/>
        </p:nvSpPr>
        <p:spPr>
          <a:xfrm>
            <a:off x="6562858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1" name="标题 15"/>
          <p:cNvSpPr txBox="1"/>
          <p:nvPr userDrawn="1"/>
        </p:nvSpPr>
        <p:spPr>
          <a:xfrm>
            <a:off x="65587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标题 15"/>
          <p:cNvSpPr txBox="1"/>
          <p:nvPr userDrawn="1"/>
        </p:nvSpPr>
        <p:spPr>
          <a:xfrm>
            <a:off x="84256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标题 15"/>
          <p:cNvSpPr txBox="1"/>
          <p:nvPr userDrawn="1"/>
        </p:nvSpPr>
        <p:spPr>
          <a:xfrm>
            <a:off x="10284469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标题 15"/>
          <p:cNvSpPr txBox="1"/>
          <p:nvPr userDrawn="1"/>
        </p:nvSpPr>
        <p:spPr>
          <a:xfrm>
            <a:off x="6562858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7" name="标题 15"/>
          <p:cNvSpPr txBox="1"/>
          <p:nvPr userDrawn="1"/>
        </p:nvSpPr>
        <p:spPr>
          <a:xfrm>
            <a:off x="65587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标题 15"/>
          <p:cNvSpPr txBox="1"/>
          <p:nvPr userDrawn="1"/>
        </p:nvSpPr>
        <p:spPr>
          <a:xfrm>
            <a:off x="84256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0284469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标题 15"/>
          <p:cNvSpPr txBox="1"/>
          <p:nvPr userDrawn="1"/>
        </p:nvSpPr>
        <p:spPr>
          <a:xfrm>
            <a:off x="842569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3" name="标题 15"/>
          <p:cNvSpPr txBox="1"/>
          <p:nvPr userDrawn="1"/>
        </p:nvSpPr>
        <p:spPr>
          <a:xfrm>
            <a:off x="842569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7" name="标题 15"/>
          <p:cNvSpPr txBox="1"/>
          <p:nvPr userDrawn="1"/>
        </p:nvSpPr>
        <p:spPr>
          <a:xfrm>
            <a:off x="1027837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3" name="标题 15"/>
          <p:cNvSpPr txBox="1"/>
          <p:nvPr userDrawn="1"/>
        </p:nvSpPr>
        <p:spPr>
          <a:xfrm>
            <a:off x="1027837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740320" y="3042936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740321" y="2736018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40320" y="4116478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740321" y="3809560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740319" y="5190020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740320" y="4883102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72000" y="0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32"/>
          </p:nvPr>
        </p:nvSpPr>
        <p:spPr>
          <a:xfrm>
            <a:off x="6072000" y="3486625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0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152228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517651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4869597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1" y="1466229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410959" y="2844262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04001" y="4685756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5" y="4869597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259086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6410960" y="1455823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7023104" y="1639664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6410959" y="2029153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4"/>
          <p:cNvSpPr>
            <a:spLocks noGrp="1"/>
          </p:cNvSpPr>
          <p:nvPr>
            <p:ph type="pic" sz="quarter" idx="32"/>
          </p:nvPr>
        </p:nvSpPr>
        <p:spPr>
          <a:xfrm>
            <a:off x="4407394" y="3800616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图片占位符 4"/>
          <p:cNvSpPr>
            <a:spLocks noGrp="1"/>
          </p:cNvSpPr>
          <p:nvPr>
            <p:ph type="pic" sz="quarter" idx="33"/>
          </p:nvPr>
        </p:nvSpPr>
        <p:spPr>
          <a:xfrm>
            <a:off x="8310787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8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504000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4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4407392" y="1468850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5019536" y="1652691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407391" y="2042180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8310789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8922933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8310788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0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3464453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3464453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3464453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图片占位符 4"/>
          <p:cNvSpPr>
            <a:spLocks noGrp="1"/>
          </p:cNvSpPr>
          <p:nvPr>
            <p:ph type="pic" sz="quarter" idx="38"/>
          </p:nvPr>
        </p:nvSpPr>
        <p:spPr>
          <a:xfrm>
            <a:off x="642784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42784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42784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图片占位符 4"/>
          <p:cNvSpPr>
            <a:spLocks noGrp="1"/>
          </p:cNvSpPr>
          <p:nvPr>
            <p:ph type="pic" sz="quarter" idx="41"/>
          </p:nvPr>
        </p:nvSpPr>
        <p:spPr>
          <a:xfrm>
            <a:off x="938535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938535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938535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9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2882237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882237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6479105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57342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8857342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5" name="图片占位符 4"/>
          <p:cNvSpPr>
            <a:spLocks noGrp="1"/>
          </p:cNvSpPr>
          <p:nvPr>
            <p:ph type="pic" sz="quarter" idx="38"/>
          </p:nvPr>
        </p:nvSpPr>
        <p:spPr>
          <a:xfrm>
            <a:off x="504000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2882237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2882237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8" name="图片占位符 4"/>
          <p:cNvSpPr>
            <a:spLocks noGrp="1"/>
          </p:cNvSpPr>
          <p:nvPr>
            <p:ph type="pic" sz="quarter" idx="41"/>
          </p:nvPr>
        </p:nvSpPr>
        <p:spPr>
          <a:xfrm>
            <a:off x="6479105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8857342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8857342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4"/>
          <p:cNvSpPr>
            <a:spLocks noGrp="1"/>
          </p:cNvSpPr>
          <p:nvPr>
            <p:ph type="pic" sz="quarter" idx="34"/>
          </p:nvPr>
        </p:nvSpPr>
        <p:spPr>
          <a:xfrm>
            <a:off x="-702" y="4224090"/>
            <a:ext cx="12192701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1666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1150620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50620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751919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400873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400873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01666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50620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50620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751919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400873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400873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6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1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1556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5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4253632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6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253632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7" name="图片占位符 4"/>
          <p:cNvSpPr>
            <a:spLocks noGrp="1"/>
          </p:cNvSpPr>
          <p:nvPr>
            <p:ph type="pic" sz="quarter" idx="37"/>
          </p:nvPr>
        </p:nvSpPr>
        <p:spPr>
          <a:xfrm>
            <a:off x="4253632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8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8032837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9" name="文本占位符 21"/>
          <p:cNvSpPr>
            <a:spLocks noGrp="1"/>
          </p:cNvSpPr>
          <p:nvPr>
            <p:ph type="body" sz="quarter" idx="39" hasCustomPrompt="1"/>
          </p:nvPr>
        </p:nvSpPr>
        <p:spPr>
          <a:xfrm>
            <a:off x="8032837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1" name="图片占位符 4"/>
          <p:cNvSpPr>
            <a:spLocks noGrp="1"/>
          </p:cNvSpPr>
          <p:nvPr>
            <p:ph type="pic" sz="quarter" idx="40"/>
          </p:nvPr>
        </p:nvSpPr>
        <p:spPr>
          <a:xfrm>
            <a:off x="8032837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1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1556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501556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3" name="图片占位符 4"/>
          <p:cNvSpPr>
            <a:spLocks noGrp="1"/>
          </p:cNvSpPr>
          <p:nvPr>
            <p:ph type="pic" sz="quarter" idx="43"/>
          </p:nvPr>
        </p:nvSpPr>
        <p:spPr>
          <a:xfrm>
            <a:off x="501556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4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253632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5" name="文本占位符 21"/>
          <p:cNvSpPr>
            <a:spLocks noGrp="1"/>
          </p:cNvSpPr>
          <p:nvPr>
            <p:ph type="body" sz="quarter" idx="45" hasCustomPrompt="1"/>
          </p:nvPr>
        </p:nvSpPr>
        <p:spPr>
          <a:xfrm>
            <a:off x="4253632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6" name="图片占位符 4"/>
          <p:cNvSpPr>
            <a:spLocks noGrp="1"/>
          </p:cNvSpPr>
          <p:nvPr>
            <p:ph type="pic" sz="quarter" idx="46"/>
          </p:nvPr>
        </p:nvSpPr>
        <p:spPr>
          <a:xfrm>
            <a:off x="4253632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8032837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8" name="文本占位符 21"/>
          <p:cNvSpPr>
            <a:spLocks noGrp="1"/>
          </p:cNvSpPr>
          <p:nvPr>
            <p:ph type="body" sz="quarter" idx="48" hasCustomPrompt="1"/>
          </p:nvPr>
        </p:nvSpPr>
        <p:spPr>
          <a:xfrm>
            <a:off x="8032837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9" name="图片占位符 4"/>
          <p:cNvSpPr>
            <a:spLocks noGrp="1"/>
          </p:cNvSpPr>
          <p:nvPr>
            <p:ph type="pic" sz="quarter" idx="49"/>
          </p:nvPr>
        </p:nvSpPr>
        <p:spPr>
          <a:xfrm>
            <a:off x="8032837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821106" y="2684381"/>
            <a:ext cx="2868149" cy="286419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5"/>
          <p:cNvSpPr>
            <a:spLocks noGrp="1" noChangeAspect="1"/>
          </p:cNvSpPr>
          <p:nvPr>
            <p:ph type="pic" sz="quarter" idx="26"/>
          </p:nvPr>
        </p:nvSpPr>
        <p:spPr>
          <a:xfrm>
            <a:off x="2686429" y="1563330"/>
            <a:ext cx="1350187" cy="134832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5"/>
          <p:cNvSpPr>
            <a:spLocks noGrp="1" noChangeAspect="1"/>
          </p:cNvSpPr>
          <p:nvPr>
            <p:ph type="pic" sz="quarter" idx="27"/>
          </p:nvPr>
        </p:nvSpPr>
        <p:spPr>
          <a:xfrm>
            <a:off x="3419704" y="486791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5"/>
          <p:cNvSpPr>
            <a:spLocks noGrp="1" noChangeAspect="1"/>
          </p:cNvSpPr>
          <p:nvPr>
            <p:ph type="pic" sz="quarter" idx="28"/>
          </p:nvPr>
        </p:nvSpPr>
        <p:spPr>
          <a:xfrm>
            <a:off x="743286" y="219202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6151656" y="2069417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6151658" y="1762499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6151656" y="3142959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6151658" y="2836041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6151656" y="4216501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6151658" y="3909583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6151655" y="5290043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6151657" y="4983125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SmartArt 占位符 8"/>
          <p:cNvSpPr>
            <a:spLocks noGrp="1"/>
          </p:cNvSpPr>
          <p:nvPr>
            <p:ph type="dgm" sz="quarter" idx="10"/>
          </p:nvPr>
        </p:nvSpPr>
        <p:spPr>
          <a:xfrm>
            <a:off x="7022625" y="1590223"/>
            <a:ext cx="4591360" cy="459136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rot="10800000">
            <a:off x="889037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330163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097308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04000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91161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91161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cxnSp>
        <p:nvCxnSpPr>
          <p:cNvPr id="12" name="Straight Connector 5"/>
          <p:cNvCxnSpPr/>
          <p:nvPr userDrawn="1"/>
        </p:nvCxnSpPr>
        <p:spPr>
          <a:xfrm>
            <a:off x="91161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91161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91161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370271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370271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cxnSp>
        <p:nvCxnSpPr>
          <p:cNvPr id="18" name="Straight Connector 5"/>
          <p:cNvCxnSpPr/>
          <p:nvPr userDrawn="1"/>
        </p:nvCxnSpPr>
        <p:spPr>
          <a:xfrm>
            <a:off x="370271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370271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370271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650687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50687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cxnSp>
        <p:nvCxnSpPr>
          <p:cNvPr id="23" name="Straight Connector 5"/>
          <p:cNvCxnSpPr/>
          <p:nvPr userDrawn="1"/>
        </p:nvCxnSpPr>
        <p:spPr>
          <a:xfrm>
            <a:off x="650687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50687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650687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930254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43" hasCustomPrompt="1"/>
          </p:nvPr>
        </p:nvSpPr>
        <p:spPr>
          <a:xfrm>
            <a:off x="930254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930254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1"/>
          <p:cNvSpPr>
            <a:spLocks noGrp="1"/>
          </p:cNvSpPr>
          <p:nvPr>
            <p:ph type="body" sz="quarter" idx="44" hasCustomPrompt="1"/>
          </p:nvPr>
        </p:nvSpPr>
        <p:spPr>
          <a:xfrm>
            <a:off x="930254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930254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2" descr="preencoded.png"/>
          <p:cNvSpPr/>
          <p:nvPr/>
        </p:nvSpPr>
        <p:spPr>
          <a:xfrm>
            <a:off x="338455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956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15" name="Image 0" descr="preencoded.png"/>
          <p:cNvSpPr/>
          <p:nvPr/>
        </p:nvSpPr>
        <p:spPr>
          <a:xfrm>
            <a:off x="4616450" y="1009875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540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14" name="Image 4" descr="preencoded.png"/>
          <p:cNvSpPr/>
          <p:nvPr/>
        </p:nvSpPr>
        <p:spPr>
          <a:xfrm>
            <a:off x="584200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3440000" scaled="0"/>
          </a:gra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102749" y="2349742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387566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633311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19" name="图形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0299" y="1939772"/>
            <a:ext cx="1209675" cy="1219200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4631" y="5504253"/>
            <a:ext cx="1209675" cy="1219200"/>
          </a:xfrm>
          <a:prstGeom prst="rect">
            <a:avLst/>
          </a:prstGeom>
        </p:spPr>
      </p:pic>
      <p:pic>
        <p:nvPicPr>
          <p:cNvPr id="25" name="图形 24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1292" y="3363112"/>
            <a:ext cx="1209675" cy="1219200"/>
          </a:xfrm>
          <a:prstGeom prst="rect">
            <a:avLst/>
          </a:prstGeom>
        </p:spPr>
      </p:pic>
      <p:sp>
        <p:nvSpPr>
          <p:cNvPr id="32" name="Image 6" descr="preencoded.png"/>
          <p:cNvSpPr/>
          <p:nvPr userDrawn="1"/>
        </p:nvSpPr>
        <p:spPr>
          <a:xfrm>
            <a:off x="2354281" y="4890434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2354281" y="5028930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Image 6" descr="preencoded.png"/>
          <p:cNvSpPr/>
          <p:nvPr userDrawn="1"/>
        </p:nvSpPr>
        <p:spPr>
          <a:xfrm>
            <a:off x="1784874" y="2141875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1784874" y="2280371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Image 6" descr="preencoded.png"/>
          <p:cNvSpPr/>
          <p:nvPr userDrawn="1"/>
        </p:nvSpPr>
        <p:spPr>
          <a:xfrm>
            <a:off x="8763630" y="3029147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8763630" y="3167643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 flipV="1">
            <a:off x="3987021" y="4525385"/>
            <a:ext cx="1051944" cy="492442"/>
            <a:chOff x="3994675" y="2246302"/>
            <a:chExt cx="1051944" cy="492442"/>
          </a:xfrm>
        </p:grpSpPr>
        <p:cxnSp>
          <p:nvCxnSpPr>
            <p:cNvPr id="7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 userDrawn="1"/>
        </p:nvGrpSpPr>
        <p:grpSpPr>
          <a:xfrm rot="10800000">
            <a:off x="7253121" y="4525385"/>
            <a:ext cx="1051944" cy="492442"/>
            <a:chOff x="3994675" y="2246302"/>
            <a:chExt cx="1051944" cy="492442"/>
          </a:xfrm>
        </p:grpSpPr>
        <p:cxnSp>
          <p:nvCxnSpPr>
            <p:cNvPr id="10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 userDrawn="1"/>
        </p:nvGrpSpPr>
        <p:grpSpPr>
          <a:xfrm>
            <a:off x="3994675" y="2246302"/>
            <a:ext cx="1051944" cy="492442"/>
            <a:chOff x="3994675" y="2246302"/>
            <a:chExt cx="1051944" cy="492442"/>
          </a:xfrm>
        </p:grpSpPr>
        <p:cxnSp>
          <p:nvCxnSpPr>
            <p:cNvPr id="13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 userDrawn="1"/>
        </p:nvGrpSpPr>
        <p:grpSpPr>
          <a:xfrm>
            <a:off x="4178282" y="1825051"/>
            <a:ext cx="3835435" cy="3861041"/>
            <a:chOff x="4336726" y="1927485"/>
            <a:chExt cx="3835435" cy="3861041"/>
          </a:xfrm>
        </p:grpSpPr>
        <p:sp>
          <p:nvSpPr>
            <p:cNvPr id="16" name="Freeform 5"/>
            <p:cNvSpPr/>
            <p:nvPr/>
          </p:nvSpPr>
          <p:spPr bwMode="auto">
            <a:xfrm>
              <a:off x="4336726" y="3259811"/>
              <a:ext cx="1914459" cy="2297350"/>
            </a:xfrm>
            <a:custGeom>
              <a:avLst/>
              <a:gdLst/>
              <a:ahLst/>
              <a:cxnLst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  <a:cxn ang="0">
                  <a:pos x="321" y="335"/>
                </a:cxn>
                <a:cxn ang="0">
                  <a:pos x="437" y="401"/>
                </a:cxn>
                <a:cxn ang="0">
                  <a:pos x="496" y="408"/>
                </a:cxn>
                <a:cxn ang="0">
                  <a:pos x="496" y="595"/>
                </a:cxn>
                <a:cxn ang="0">
                  <a:pos x="430" y="591"/>
                </a:cxn>
                <a:cxn ang="0">
                  <a:pos x="189" y="468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</a:cxnLst>
              <a:rect l="0" t="0" r="r" b="b"/>
              <a:pathLst>
                <a:path w="496" h="595">
                  <a:moveTo>
                    <a:pt x="248" y="158"/>
                  </a:move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ubicBezTo>
                    <a:pt x="257" y="247"/>
                    <a:pt x="281" y="295"/>
                    <a:pt x="321" y="335"/>
                  </a:cubicBezTo>
                  <a:cubicBezTo>
                    <a:pt x="355" y="369"/>
                    <a:pt x="393" y="391"/>
                    <a:pt x="437" y="401"/>
                  </a:cubicBezTo>
                  <a:cubicBezTo>
                    <a:pt x="456" y="406"/>
                    <a:pt x="475" y="408"/>
                    <a:pt x="496" y="408"/>
                  </a:cubicBezTo>
                  <a:cubicBezTo>
                    <a:pt x="496" y="595"/>
                    <a:pt x="496" y="595"/>
                    <a:pt x="496" y="595"/>
                  </a:cubicBezTo>
                  <a:cubicBezTo>
                    <a:pt x="474" y="595"/>
                    <a:pt x="452" y="594"/>
                    <a:pt x="430" y="591"/>
                  </a:cubicBezTo>
                  <a:cubicBezTo>
                    <a:pt x="338" y="578"/>
                    <a:pt x="258" y="537"/>
                    <a:pt x="189" y="468"/>
                  </a:cubicBezTo>
                  <a:cubicBezTo>
                    <a:pt x="112" y="390"/>
                    <a:pt x="69" y="299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lnTo>
                    <a:pt x="248" y="158"/>
                  </a:ln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6"/>
            <p:cNvSpPr/>
            <p:nvPr/>
          </p:nvSpPr>
          <p:spPr bwMode="auto">
            <a:xfrm>
              <a:off x="5633669" y="3869180"/>
              <a:ext cx="2303868" cy="1919346"/>
            </a:xfrm>
            <a:custGeom>
              <a:avLst/>
              <a:gdLst/>
              <a:ahLst/>
              <a:cxnLst>
                <a:cxn ang="0">
                  <a:pos x="403" y="61"/>
                </a:cxn>
                <a:cxn ang="0">
                  <a:pos x="410" y="2"/>
                </a:cxn>
                <a:cxn ang="0">
                  <a:pos x="410" y="0"/>
                </a:cxn>
                <a:cxn ang="0">
                  <a:pos x="597" y="0"/>
                </a:cxn>
                <a:cxn ang="0">
                  <a:pos x="597" y="2"/>
                </a:cxn>
                <a:cxn ang="0">
                  <a:pos x="592" y="68"/>
                </a:cxn>
                <a:cxn ang="0">
                  <a:pos x="469" y="310"/>
                </a:cxn>
                <a:cxn ang="0">
                  <a:pos x="161" y="437"/>
                </a:cxn>
                <a:cxn ang="0">
                  <a:pos x="160" y="437"/>
                </a:cxn>
                <a:cxn ang="0">
                  <a:pos x="160" y="497"/>
                </a:cxn>
                <a:cxn ang="0">
                  <a:pos x="0" y="341"/>
                </a:cxn>
                <a:cxn ang="0">
                  <a:pos x="160" y="185"/>
                </a:cxn>
                <a:cxn ang="0">
                  <a:pos x="160" y="250"/>
                </a:cxn>
                <a:cxn ang="0">
                  <a:pos x="161" y="250"/>
                </a:cxn>
                <a:cxn ang="0">
                  <a:pos x="337" y="177"/>
                </a:cxn>
                <a:cxn ang="0">
                  <a:pos x="403" y="61"/>
                </a:cxn>
              </a:cxnLst>
              <a:rect l="0" t="0" r="r" b="b"/>
              <a:pathLst>
                <a:path w="597" h="497">
                  <a:moveTo>
                    <a:pt x="403" y="61"/>
                  </a:moveTo>
                  <a:cubicBezTo>
                    <a:pt x="408" y="42"/>
                    <a:pt x="410" y="22"/>
                    <a:pt x="410" y="2"/>
                  </a:cubicBezTo>
                  <a:cubicBezTo>
                    <a:pt x="410" y="1"/>
                    <a:pt x="410" y="0"/>
                    <a:pt x="41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597" y="0"/>
                    <a:pt x="597" y="1"/>
                    <a:pt x="597" y="2"/>
                  </a:cubicBezTo>
                  <a:cubicBezTo>
                    <a:pt x="597" y="24"/>
                    <a:pt x="595" y="46"/>
                    <a:pt x="592" y="68"/>
                  </a:cubicBezTo>
                  <a:cubicBezTo>
                    <a:pt x="579" y="160"/>
                    <a:pt x="538" y="241"/>
                    <a:pt x="469" y="310"/>
                  </a:cubicBezTo>
                  <a:cubicBezTo>
                    <a:pt x="384" y="395"/>
                    <a:pt x="281" y="437"/>
                    <a:pt x="161" y="437"/>
                  </a:cubicBezTo>
                  <a:cubicBezTo>
                    <a:pt x="161" y="437"/>
                    <a:pt x="160" y="437"/>
                    <a:pt x="160" y="437"/>
                  </a:cubicBezTo>
                  <a:cubicBezTo>
                    <a:pt x="160" y="497"/>
                    <a:pt x="160" y="497"/>
                    <a:pt x="160" y="497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160" y="185"/>
                    <a:pt x="160" y="185"/>
                    <a:pt x="160" y="185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60" y="250"/>
                    <a:pt x="161" y="250"/>
                    <a:pt x="161" y="250"/>
                  </a:cubicBezTo>
                  <a:cubicBezTo>
                    <a:pt x="230" y="250"/>
                    <a:pt x="288" y="226"/>
                    <a:pt x="337" y="177"/>
                  </a:cubicBezTo>
                  <a:cubicBezTo>
                    <a:pt x="371" y="143"/>
                    <a:pt x="393" y="104"/>
                    <a:pt x="403" y="61"/>
                  </a:cubicBezTo>
                  <a:close/>
                </a:path>
              </a:pathLst>
            </a:custGeom>
            <a:solidFill>
              <a:srgbClr val="008FA3"/>
            </a:solidFill>
            <a:ln w="9525">
              <a:noFill/>
              <a:round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6251185" y="2189344"/>
              <a:ext cx="1920976" cy="2305496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09" y="129"/>
                </a:cxn>
                <a:cxn ang="0">
                  <a:pos x="437" y="435"/>
                </a:cxn>
                <a:cxn ang="0">
                  <a:pos x="498" y="435"/>
                </a:cxn>
                <a:cxn ang="0">
                  <a:pos x="341" y="597"/>
                </a:cxn>
                <a:cxn ang="0">
                  <a:pos x="184" y="435"/>
                </a:cxn>
                <a:cxn ang="0">
                  <a:pos x="250" y="435"/>
                </a:cxn>
                <a:cxn ang="0">
                  <a:pos x="177" y="261"/>
                </a:cxn>
                <a:cxn ang="0">
                  <a:pos x="60" y="194"/>
                </a:cxn>
                <a:cxn ang="0">
                  <a:pos x="1" y="188"/>
                </a:cxn>
                <a:cxn ang="0">
                  <a:pos x="0" y="188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67" y="5"/>
                </a:cxn>
              </a:cxnLst>
              <a:rect l="0" t="0" r="r" b="b"/>
              <a:pathLst>
                <a:path w="498" h="597">
                  <a:moveTo>
                    <a:pt x="67" y="5"/>
                  </a:moveTo>
                  <a:cubicBezTo>
                    <a:pt x="159" y="18"/>
                    <a:pt x="240" y="59"/>
                    <a:pt x="309" y="129"/>
                  </a:cubicBezTo>
                  <a:cubicBezTo>
                    <a:pt x="394" y="213"/>
                    <a:pt x="436" y="315"/>
                    <a:pt x="437" y="435"/>
                  </a:cubicBezTo>
                  <a:cubicBezTo>
                    <a:pt x="498" y="435"/>
                    <a:pt x="498" y="435"/>
                    <a:pt x="498" y="435"/>
                  </a:cubicBezTo>
                  <a:cubicBezTo>
                    <a:pt x="341" y="597"/>
                    <a:pt x="341" y="597"/>
                    <a:pt x="341" y="597"/>
                  </a:cubicBezTo>
                  <a:cubicBezTo>
                    <a:pt x="184" y="435"/>
                    <a:pt x="184" y="435"/>
                    <a:pt x="184" y="435"/>
                  </a:cubicBezTo>
                  <a:cubicBezTo>
                    <a:pt x="250" y="435"/>
                    <a:pt x="250" y="435"/>
                    <a:pt x="250" y="435"/>
                  </a:cubicBezTo>
                  <a:cubicBezTo>
                    <a:pt x="249" y="367"/>
                    <a:pt x="225" y="309"/>
                    <a:pt x="177" y="261"/>
                  </a:cubicBezTo>
                  <a:cubicBezTo>
                    <a:pt x="143" y="227"/>
                    <a:pt x="104" y="205"/>
                    <a:pt x="60" y="194"/>
                  </a:cubicBezTo>
                  <a:cubicBezTo>
                    <a:pt x="41" y="190"/>
                    <a:pt x="21" y="188"/>
                    <a:pt x="1" y="188"/>
                  </a:cubicBezTo>
                  <a:cubicBezTo>
                    <a:pt x="1" y="188"/>
                    <a:pt x="0" y="188"/>
                    <a:pt x="0" y="18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4" y="0"/>
                    <a:pt x="46" y="2"/>
                    <a:pt x="67" y="5"/>
                  </a:cubicBezTo>
                  <a:close/>
                </a:path>
              </a:pathLst>
            </a:custGeom>
            <a:solidFill>
              <a:srgbClr val="006B7A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8"/>
            <p:cNvSpPr>
              <a:spLocks noEditPoints="1"/>
            </p:cNvSpPr>
            <p:nvPr/>
          </p:nvSpPr>
          <p:spPr bwMode="auto">
            <a:xfrm>
              <a:off x="4558836" y="1927485"/>
              <a:ext cx="2297350" cy="1914458"/>
            </a:xfrm>
            <a:custGeom>
              <a:avLst/>
              <a:gdLst/>
              <a:ahLst/>
              <a:cxnLst>
                <a:cxn ang="0">
                  <a:pos x="96" y="338"/>
                </a:cxn>
                <a:cxn ang="0">
                  <a:pos x="95" y="338"/>
                </a:cxn>
                <a:cxn ang="0">
                  <a:pos x="96" y="338"/>
                </a:cxn>
                <a:cxn ang="0">
                  <a:pos x="435" y="0"/>
                </a:cxn>
                <a:cxn ang="0">
                  <a:pos x="595" y="157"/>
                </a:cxn>
                <a:cxn ang="0">
                  <a:pos x="435" y="314"/>
                </a:cxn>
                <a:cxn ang="0">
                  <a:pos x="435" y="249"/>
                </a:cxn>
                <a:cxn ang="0">
                  <a:pos x="260" y="322"/>
                </a:cxn>
                <a:cxn ang="0">
                  <a:pos x="194" y="437"/>
                </a:cxn>
                <a:cxn ang="0">
                  <a:pos x="187" y="496"/>
                </a:cxn>
                <a:cxn ang="0">
                  <a:pos x="0" y="496"/>
                </a:cxn>
                <a:cxn ang="0">
                  <a:pos x="5" y="429"/>
                </a:cxn>
                <a:cxn ang="0">
                  <a:pos x="128" y="190"/>
                </a:cxn>
                <a:cxn ang="0">
                  <a:pos x="435" y="61"/>
                </a:cxn>
                <a:cxn ang="0">
                  <a:pos x="435" y="0"/>
                </a:cxn>
              </a:cxnLst>
              <a:rect l="0" t="0" r="r" b="b"/>
              <a:pathLst>
                <a:path w="595" h="496">
                  <a:moveTo>
                    <a:pt x="96" y="338"/>
                  </a:moveTo>
                  <a:cubicBezTo>
                    <a:pt x="96" y="338"/>
                    <a:pt x="95" y="338"/>
                    <a:pt x="95" y="338"/>
                  </a:cubicBezTo>
                  <a:cubicBezTo>
                    <a:pt x="96" y="338"/>
                    <a:pt x="96" y="338"/>
                    <a:pt x="96" y="338"/>
                  </a:cubicBezTo>
                  <a:close/>
                  <a:moveTo>
                    <a:pt x="435" y="0"/>
                  </a:moveTo>
                  <a:cubicBezTo>
                    <a:pt x="595" y="157"/>
                    <a:pt x="595" y="157"/>
                    <a:pt x="595" y="157"/>
                  </a:cubicBezTo>
                  <a:cubicBezTo>
                    <a:pt x="435" y="314"/>
                    <a:pt x="435" y="314"/>
                    <a:pt x="435" y="314"/>
                  </a:cubicBezTo>
                  <a:cubicBezTo>
                    <a:pt x="435" y="249"/>
                    <a:pt x="435" y="249"/>
                    <a:pt x="435" y="249"/>
                  </a:cubicBezTo>
                  <a:cubicBezTo>
                    <a:pt x="367" y="249"/>
                    <a:pt x="309" y="273"/>
                    <a:pt x="260" y="322"/>
                  </a:cubicBezTo>
                  <a:cubicBezTo>
                    <a:pt x="227" y="356"/>
                    <a:pt x="204" y="394"/>
                    <a:pt x="194" y="437"/>
                  </a:cubicBezTo>
                  <a:cubicBezTo>
                    <a:pt x="190" y="456"/>
                    <a:pt x="187" y="475"/>
                    <a:pt x="187" y="496"/>
                  </a:cubicBezTo>
                  <a:cubicBezTo>
                    <a:pt x="0" y="496"/>
                    <a:pt x="0" y="496"/>
                    <a:pt x="0" y="496"/>
                  </a:cubicBezTo>
                  <a:cubicBezTo>
                    <a:pt x="0" y="473"/>
                    <a:pt x="2" y="451"/>
                    <a:pt x="5" y="429"/>
                  </a:cubicBezTo>
                  <a:cubicBezTo>
                    <a:pt x="18" y="338"/>
                    <a:pt x="59" y="258"/>
                    <a:pt x="128" y="190"/>
                  </a:cubicBezTo>
                  <a:cubicBezTo>
                    <a:pt x="213" y="104"/>
                    <a:pt x="315" y="62"/>
                    <a:pt x="435" y="61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004852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0" name="Text Placeholder 3"/>
            <p:cNvSpPr txBox="1"/>
            <p:nvPr/>
          </p:nvSpPr>
          <p:spPr>
            <a:xfrm>
              <a:off x="6120243" y="2353088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200">
                <a:spcBef>
                  <a:spcPct val="20000"/>
                </a:spcBef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02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1" name="Text Placeholder 3"/>
            <p:cNvSpPr txBox="1"/>
            <p:nvPr/>
          </p:nvSpPr>
          <p:spPr>
            <a:xfrm>
              <a:off x="7367955" y="388861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Placeholder 3"/>
            <p:cNvSpPr txBox="1"/>
            <p:nvPr/>
          </p:nvSpPr>
          <p:spPr>
            <a:xfrm>
              <a:off x="6020689" y="501943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9"/>
            <p:cNvSpPr/>
            <p:nvPr userDrawn="1"/>
          </p:nvSpPr>
          <p:spPr bwMode="auto">
            <a:xfrm>
              <a:off x="4338271" y="3264133"/>
              <a:ext cx="1207332" cy="739714"/>
            </a:xfrm>
            <a:custGeom>
              <a:avLst/>
              <a:gdLst/>
              <a:ahLst/>
              <a:cxnLst>
                <a:cxn ang="0">
                  <a:pos x="250" y="192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</a:cxnLst>
              <a:rect l="0" t="0" r="r" b="b"/>
              <a:pathLst>
                <a:path w="313" h="192">
                  <a:moveTo>
                    <a:pt x="25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248" y="158"/>
                    <a:pt x="248" y="158"/>
                    <a:pt x="248" y="158"/>
                  </a:cubicBez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srgbClr val="DCE4F4">
                  <a:alpha val="24000"/>
                </a:srgb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4" name="Text Placeholder 3"/>
            <p:cNvSpPr txBox="1"/>
            <p:nvPr/>
          </p:nvSpPr>
          <p:spPr>
            <a:xfrm>
              <a:off x="4753105" y="3616259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 rot="10800000" flipV="1">
            <a:off x="7136876" y="2246302"/>
            <a:ext cx="1051944" cy="492442"/>
            <a:chOff x="3994675" y="2246302"/>
            <a:chExt cx="1051944" cy="492442"/>
          </a:xfrm>
        </p:grpSpPr>
        <p:cxnSp>
          <p:nvCxnSpPr>
            <p:cNvPr id="26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7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01557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501556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396610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8396609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8396610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8396609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pic>
        <p:nvPicPr>
          <p:cNvPr id="25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996187" y="3951171"/>
            <a:ext cx="2196439" cy="2649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997780" y="1233488"/>
            <a:ext cx="2196439" cy="2649775"/>
          </a:xfrm>
          <a:prstGeom prst="rect">
            <a:avLst/>
          </a:prstGeom>
        </p:spPr>
      </p:pic>
      <p:pic>
        <p:nvPicPr>
          <p:cNvPr id="31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 flipH="1" flipV="1">
            <a:off x="6356218" y="2592435"/>
            <a:ext cx="2196439" cy="2649775"/>
          </a:xfrm>
          <a:prstGeom prst="rect">
            <a:avLst/>
          </a:prstGeom>
        </p:spPr>
      </p:pic>
      <p:pic>
        <p:nvPicPr>
          <p:cNvPr id="2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3641250" y="2590692"/>
            <a:ext cx="2196439" cy="2649775"/>
          </a:xfrm>
          <a:prstGeom prst="rect">
            <a:avLst/>
          </a:prstGeom>
        </p:spPr>
      </p:pic>
      <p:sp>
        <p:nvSpPr>
          <p:cNvPr id="11" name="文本占位符 2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81600" y="2167805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81600" y="1789240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181600" y="5334227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181600" y="495566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638427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638427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754220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754220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3"/>
          <p:cNvSpPr/>
          <p:nvPr/>
        </p:nvSpPr>
        <p:spPr>
          <a:xfrm>
            <a:off x="6550911" y="1906318"/>
            <a:ext cx="2351648" cy="2351648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14"/>
          <p:cNvSpPr/>
          <p:nvPr/>
        </p:nvSpPr>
        <p:spPr>
          <a:xfrm>
            <a:off x="8582535" y="2085415"/>
            <a:ext cx="2172551" cy="2172551"/>
          </a:xfrm>
          <a:prstGeom prst="ellipse">
            <a:avLst/>
          </a:prstGeom>
          <a:solidFill>
            <a:srgbClr val="00B3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7"/>
          <p:cNvSpPr/>
          <p:nvPr/>
        </p:nvSpPr>
        <p:spPr>
          <a:xfrm>
            <a:off x="2962471" y="1656141"/>
            <a:ext cx="2601825" cy="2601826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20"/>
          <p:cNvSpPr/>
          <p:nvPr/>
        </p:nvSpPr>
        <p:spPr>
          <a:xfrm>
            <a:off x="5244272" y="2631304"/>
            <a:ext cx="1626662" cy="162666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id-ID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Oval 2"/>
          <p:cNvSpPr/>
          <p:nvPr/>
        </p:nvSpPr>
        <p:spPr>
          <a:xfrm>
            <a:off x="1436914" y="2412384"/>
            <a:ext cx="1845582" cy="184558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26"/>
          <p:cNvSpPr/>
          <p:nvPr userDrawn="1"/>
        </p:nvSpPr>
        <p:spPr>
          <a:xfrm>
            <a:off x="0" y="3279454"/>
            <a:ext cx="12192000" cy="3578546"/>
          </a:xfrm>
          <a:prstGeom prst="rect">
            <a:avLst/>
          </a:prstGeom>
          <a:solidFill>
            <a:srgbClr val="E6F7FA"/>
          </a:solidFill>
          <a:ln>
            <a:noFill/>
          </a:ln>
          <a:effectLst>
            <a:outerShdw blurRad="622300" dist="292100" dir="16200000" sx="94000" sy="94000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14554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031E2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3818155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420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343257" y="258349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6812335" y="26313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1702586" y="2857758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06387" y="2866522"/>
            <a:ext cx="976566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9014754" y="2866522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788526" y="2103880"/>
            <a:ext cx="8742314" cy="3217422"/>
            <a:chOff x="2175241" y="2429082"/>
            <a:chExt cx="7968884" cy="2932778"/>
          </a:xfrm>
        </p:grpSpPr>
        <p:sp>
          <p:nvSpPr>
            <p:cNvPr id="7" name="Freeform 5"/>
            <p:cNvSpPr/>
            <p:nvPr/>
          </p:nvSpPr>
          <p:spPr bwMode="auto">
            <a:xfrm>
              <a:off x="7715206" y="2985075"/>
              <a:ext cx="1832616" cy="1822284"/>
            </a:xfrm>
            <a:custGeom>
              <a:avLst/>
              <a:gdLst>
                <a:gd name="T0" fmla="*/ 0 w 320"/>
                <a:gd name="T1" fmla="*/ 189 h 316"/>
                <a:gd name="T2" fmla="*/ 200 w 320"/>
                <a:gd name="T3" fmla="*/ 0 h 316"/>
                <a:gd name="T4" fmla="*/ 320 w 320"/>
                <a:gd name="T5" fmla="*/ 127 h 316"/>
                <a:gd name="T6" fmla="*/ 120 w 320"/>
                <a:gd name="T7" fmla="*/ 316 h 316"/>
                <a:gd name="T8" fmla="*/ 0 w 320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6">
                  <a:moveTo>
                    <a:pt x="0" y="189"/>
                  </a:moveTo>
                  <a:cubicBezTo>
                    <a:pt x="102" y="179"/>
                    <a:pt x="185" y="101"/>
                    <a:pt x="200" y="0"/>
                  </a:cubicBezTo>
                  <a:cubicBezTo>
                    <a:pt x="320" y="127"/>
                    <a:pt x="320" y="127"/>
                    <a:pt x="320" y="127"/>
                  </a:cubicBezTo>
                  <a:cubicBezTo>
                    <a:pt x="218" y="137"/>
                    <a:pt x="135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731814" y="2991272"/>
              <a:ext cx="1799559" cy="1816087"/>
            </a:xfrm>
            <a:custGeom>
              <a:avLst/>
              <a:gdLst>
                <a:gd name="T0" fmla="*/ 127 w 314"/>
                <a:gd name="T1" fmla="*/ 0 h 315"/>
                <a:gd name="T2" fmla="*/ 314 w 314"/>
                <a:gd name="T3" fmla="*/ 189 h 315"/>
                <a:gd name="T4" fmla="*/ 187 w 314"/>
                <a:gd name="T5" fmla="*/ 315 h 315"/>
                <a:gd name="T6" fmla="*/ 0 w 314"/>
                <a:gd name="T7" fmla="*/ 125 h 315"/>
                <a:gd name="T8" fmla="*/ 127 w 314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315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370219" y="2985075"/>
              <a:ext cx="1838814" cy="1822284"/>
            </a:xfrm>
            <a:custGeom>
              <a:avLst/>
              <a:gdLst>
                <a:gd name="T0" fmla="*/ 0 w 321"/>
                <a:gd name="T1" fmla="*/ 189 h 316"/>
                <a:gd name="T2" fmla="*/ 201 w 321"/>
                <a:gd name="T3" fmla="*/ 0 h 316"/>
                <a:gd name="T4" fmla="*/ 321 w 321"/>
                <a:gd name="T5" fmla="*/ 127 h 316"/>
                <a:gd name="T6" fmla="*/ 120 w 321"/>
                <a:gd name="T7" fmla="*/ 316 h 316"/>
                <a:gd name="T8" fmla="*/ 0 w 321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316">
                  <a:moveTo>
                    <a:pt x="0" y="189"/>
                  </a:moveTo>
                  <a:cubicBezTo>
                    <a:pt x="102" y="179"/>
                    <a:pt x="185" y="101"/>
                    <a:pt x="201" y="0"/>
                  </a:cubicBezTo>
                  <a:cubicBezTo>
                    <a:pt x="321" y="127"/>
                    <a:pt x="321" y="127"/>
                    <a:pt x="321" y="127"/>
                  </a:cubicBezTo>
                  <a:cubicBezTo>
                    <a:pt x="218" y="137"/>
                    <a:pt x="136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6054075" y="2985075"/>
              <a:ext cx="1809888" cy="1822284"/>
            </a:xfrm>
            <a:custGeom>
              <a:avLst/>
              <a:gdLst>
                <a:gd name="T0" fmla="*/ 126 w 316"/>
                <a:gd name="T1" fmla="*/ 0 h 316"/>
                <a:gd name="T2" fmla="*/ 316 w 316"/>
                <a:gd name="T3" fmla="*/ 190 h 316"/>
                <a:gd name="T4" fmla="*/ 191 w 316"/>
                <a:gd name="T5" fmla="*/ 316 h 316"/>
                <a:gd name="T6" fmla="*/ 0 w 316"/>
                <a:gd name="T7" fmla="*/ 126 h 316"/>
                <a:gd name="T8" fmla="*/ 126 w 316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6">
                  <a:moveTo>
                    <a:pt x="126" y="0"/>
                  </a:moveTo>
                  <a:cubicBezTo>
                    <a:pt x="140" y="99"/>
                    <a:pt x="218" y="176"/>
                    <a:pt x="316" y="190"/>
                  </a:cubicBezTo>
                  <a:cubicBezTo>
                    <a:pt x="191" y="316"/>
                    <a:pt x="191" y="316"/>
                    <a:pt x="191" y="316"/>
                  </a:cubicBezTo>
                  <a:cubicBezTo>
                    <a:pt x="176" y="217"/>
                    <a:pt x="99" y="140"/>
                    <a:pt x="0" y="126"/>
                  </a:cubicBezTo>
                  <a:lnTo>
                    <a:pt x="12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1" name="Oval 36"/>
            <p:cNvSpPr/>
            <p:nvPr/>
          </p:nvSpPr>
          <p:spPr>
            <a:xfrm>
              <a:off x="2175241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2" name="Oval 37"/>
            <p:cNvSpPr/>
            <p:nvPr/>
          </p:nvSpPr>
          <p:spPr>
            <a:xfrm>
              <a:off x="549130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3" name="Oval 39"/>
            <p:cNvSpPr/>
            <p:nvPr/>
          </p:nvSpPr>
          <p:spPr>
            <a:xfrm>
              <a:off x="885202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4" name="Oval 42"/>
            <p:cNvSpPr/>
            <p:nvPr/>
          </p:nvSpPr>
          <p:spPr>
            <a:xfrm>
              <a:off x="7140833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defTabSz="457200" fontAlgn="auto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6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</a:endParaRPr>
            </a:p>
          </p:txBody>
        </p:sp>
        <p:sp>
          <p:nvSpPr>
            <p:cNvPr id="15" name="Oval 43"/>
            <p:cNvSpPr/>
            <p:nvPr/>
          </p:nvSpPr>
          <p:spPr>
            <a:xfrm>
              <a:off x="3786312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</p:grpSp>
      <p:sp>
        <p:nvSpPr>
          <p:cNvPr id="1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3401833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3401833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063141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063141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5196513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196513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459409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59409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8904638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8904638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9" name="图形 28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3122" y="2441383"/>
            <a:ext cx="720000" cy="720000"/>
          </a:xfrm>
          <a:prstGeom prst="rect">
            <a:avLst/>
          </a:prstGeom>
        </p:spPr>
      </p:pic>
      <p:pic>
        <p:nvPicPr>
          <p:cNvPr id="31" name="图形 30" descr="循环流程图 纯色填充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332" y="4226611"/>
            <a:ext cx="720000" cy="720000"/>
          </a:xfrm>
          <a:prstGeom prst="rect">
            <a:avLst/>
          </a:prstGeom>
        </p:spPr>
      </p:pic>
      <p:pic>
        <p:nvPicPr>
          <p:cNvPr id="34" name="图形 33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0913" y="2441383"/>
            <a:ext cx="720000" cy="720000"/>
          </a:xfrm>
          <a:prstGeom prst="rect">
            <a:avLst/>
          </a:prstGeom>
        </p:spPr>
      </p:pic>
      <p:pic>
        <p:nvPicPr>
          <p:cNvPr id="35" name="图形 34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9038" y="2441383"/>
            <a:ext cx="720000" cy="720000"/>
          </a:xfrm>
          <a:prstGeom prst="rect">
            <a:avLst/>
          </a:prstGeom>
        </p:spPr>
      </p:pic>
      <p:pic>
        <p:nvPicPr>
          <p:cNvPr id="36" name="图形 35" descr="循环流程图 纯色填充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5598" y="4226611"/>
            <a:ext cx="720000" cy="720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Freeform 5"/>
          <p:cNvSpPr/>
          <p:nvPr userDrawn="1"/>
        </p:nvSpPr>
        <p:spPr bwMode="auto">
          <a:xfrm rot="16200000">
            <a:off x="4020967" y="619313"/>
            <a:ext cx="4148975" cy="8427602"/>
          </a:xfrm>
          <a:custGeom>
            <a:avLst/>
            <a:gdLst>
              <a:gd name="T0" fmla="*/ 0 w 483"/>
              <a:gd name="T1" fmla="*/ 965 h 965"/>
              <a:gd name="T2" fmla="*/ 483 w 483"/>
              <a:gd name="T3" fmla="*/ 482 h 965"/>
              <a:gd name="T4" fmla="*/ 0 w 483"/>
              <a:gd name="T5" fmla="*/ 0 h 965"/>
              <a:gd name="T6" fmla="*/ 0 w 483"/>
              <a:gd name="T7" fmla="*/ 965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3" h="965">
                <a:moveTo>
                  <a:pt x="0" y="965"/>
                </a:moveTo>
                <a:cubicBezTo>
                  <a:pt x="267" y="965"/>
                  <a:pt x="483" y="749"/>
                  <a:pt x="483" y="482"/>
                </a:cubicBezTo>
                <a:cubicBezTo>
                  <a:pt x="483" y="216"/>
                  <a:pt x="267" y="0"/>
                  <a:pt x="0" y="0"/>
                </a:cubicBezTo>
                <a:lnTo>
                  <a:pt x="0" y="965"/>
                </a:lnTo>
                <a:close/>
              </a:path>
            </a:pathLst>
          </a:custGeom>
          <a:noFill/>
          <a:ln>
            <a:solidFill>
              <a:schemeClr val="tx1">
                <a:alpha val="2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val 8"/>
          <p:cNvSpPr/>
          <p:nvPr userDrawn="1"/>
        </p:nvSpPr>
        <p:spPr>
          <a:xfrm rot="10800000">
            <a:off x="1981273" y="562696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Oval 9"/>
          <p:cNvSpPr/>
          <p:nvPr userDrawn="1"/>
        </p:nvSpPr>
        <p:spPr>
          <a:xfrm rot="10800000">
            <a:off x="2916705" y="3988990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Oval 10"/>
          <p:cNvSpPr/>
          <p:nvPr userDrawn="1"/>
        </p:nvSpPr>
        <p:spPr>
          <a:xfrm rot="10800000">
            <a:off x="9118454" y="4035733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Oval 11"/>
          <p:cNvSpPr/>
          <p:nvPr userDrawn="1"/>
        </p:nvSpPr>
        <p:spPr>
          <a:xfrm rot="10800000">
            <a:off x="10046573" y="562558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Oval 12"/>
          <p:cNvSpPr/>
          <p:nvPr userDrawn="1"/>
        </p:nvSpPr>
        <p:spPr>
          <a:xfrm rot="10800000">
            <a:off x="6004158" y="2651289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2269812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2269812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3184212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184212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181600" y="3326110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181600" y="2947545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7178990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7178990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118153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18153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4424798" y="2126861"/>
            <a:ext cx="3240000" cy="3240000"/>
            <a:chOff x="4388172" y="2235404"/>
            <a:chExt cx="3240000" cy="3240000"/>
          </a:xfrm>
        </p:grpSpPr>
        <p:sp>
          <p:nvSpPr>
            <p:cNvPr id="7" name="图形"/>
            <p:cNvSpPr>
              <a:spLocks noChangeArrowheads="1"/>
            </p:cNvSpPr>
            <p:nvPr/>
          </p:nvSpPr>
          <p:spPr bwMode="auto">
            <a:xfrm>
              <a:off x="4748172" y="2595404"/>
              <a:ext cx="2520000" cy="2520000"/>
            </a:xfrm>
            <a:prstGeom prst="ellipse">
              <a:avLst/>
            </a:prstGeom>
            <a:noFill/>
            <a:ln w="9525">
              <a:solidFill>
                <a:srgbClr val="00B3CC">
                  <a:alpha val="5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5097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8" name="图形"/>
            <p:cNvSpPr>
              <a:spLocks noChangeArrowheads="1"/>
            </p:cNvSpPr>
            <p:nvPr/>
          </p:nvSpPr>
          <p:spPr bwMode="auto">
            <a:xfrm>
              <a:off x="4388172" y="2235404"/>
              <a:ext cx="3240000" cy="3240000"/>
            </a:xfrm>
            <a:prstGeom prst="ellipse">
              <a:avLst/>
            </a:prstGeom>
            <a:noFill/>
            <a:ln w="6350">
              <a:solidFill>
                <a:srgbClr val="00B3CC">
                  <a:alpha val="4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9" name="图形"/>
            <p:cNvSpPr>
              <a:spLocks noChangeArrowheads="1"/>
            </p:cNvSpPr>
            <p:nvPr/>
          </p:nvSpPr>
          <p:spPr bwMode="auto">
            <a:xfrm>
              <a:off x="5108172" y="2955404"/>
              <a:ext cx="1800000" cy="1800000"/>
            </a:xfrm>
            <a:prstGeom prst="ellipse">
              <a:avLst/>
            </a:prstGeom>
            <a:noFill/>
            <a:ln w="12700">
              <a:solidFill>
                <a:srgbClr val="00B3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10" name="图形"/>
            <p:cNvSpPr>
              <a:spLocks noChangeArrowheads="1"/>
            </p:cNvSpPr>
            <p:nvPr/>
          </p:nvSpPr>
          <p:spPr bwMode="auto">
            <a:xfrm>
              <a:off x="5468172" y="3315404"/>
              <a:ext cx="1080000" cy="1080000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 sz="2800" b="1" dirty="0">
                <a:solidFill>
                  <a:srgbClr val="FFFFFF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</p:grpSp>
      <p:cxnSp>
        <p:nvCxnSpPr>
          <p:cNvPr id="35" name="图形"/>
          <p:cNvCxnSpPr/>
          <p:nvPr/>
        </p:nvCxnSpPr>
        <p:spPr>
          <a:xfrm flipH="1">
            <a:off x="504000" y="283696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448050" y="1861555"/>
            <a:ext cx="715010" cy="715010"/>
            <a:chOff x="3448050" y="2005330"/>
            <a:chExt cx="715010" cy="715010"/>
          </a:xfrm>
        </p:grpSpPr>
        <p:sp>
          <p:nvSpPr>
            <p:cNvPr id="37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38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9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40" name="图形"/>
              <p:cNvCxnSpPr>
                <a:stCxn id="39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图形"/>
          <p:cNvCxnSpPr/>
          <p:nvPr/>
        </p:nvCxnSpPr>
        <p:spPr>
          <a:xfrm flipH="1">
            <a:off x="504000" y="430523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448050" y="3329825"/>
            <a:ext cx="715010" cy="715010"/>
            <a:chOff x="3448050" y="2005330"/>
            <a:chExt cx="715010" cy="715010"/>
          </a:xfrm>
        </p:grpSpPr>
        <p:sp>
          <p:nvSpPr>
            <p:cNvPr id="2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31" name="图形"/>
              <p:cNvCxnSpPr>
                <a:stCxn id="3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图形"/>
          <p:cNvCxnSpPr/>
          <p:nvPr/>
        </p:nvCxnSpPr>
        <p:spPr>
          <a:xfrm flipH="1">
            <a:off x="504000" y="577350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448050" y="4798095"/>
            <a:ext cx="715010" cy="715010"/>
            <a:chOff x="3448050" y="2005330"/>
            <a:chExt cx="715010" cy="715010"/>
          </a:xfrm>
        </p:grpSpPr>
        <p:sp>
          <p:nvSpPr>
            <p:cNvPr id="1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2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22" name="图形"/>
              <p:cNvCxnSpPr>
                <a:stCxn id="2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6" name="图形"/>
          <p:cNvCxnSpPr/>
          <p:nvPr/>
        </p:nvCxnSpPr>
        <p:spPr>
          <a:xfrm flipH="1">
            <a:off x="7926536" y="280545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 rot="10800000">
            <a:off x="8024116" y="1830042"/>
            <a:ext cx="715010" cy="715010"/>
            <a:chOff x="3448050" y="2005330"/>
            <a:chExt cx="715010" cy="715010"/>
          </a:xfrm>
        </p:grpSpPr>
        <p:sp>
          <p:nvSpPr>
            <p:cNvPr id="6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7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71" name="图形"/>
              <p:cNvCxnSpPr>
                <a:stCxn id="7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图形"/>
          <p:cNvCxnSpPr/>
          <p:nvPr/>
        </p:nvCxnSpPr>
        <p:spPr>
          <a:xfrm flipH="1">
            <a:off x="7926536" y="427372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 rot="10800000">
            <a:off x="8024116" y="3298312"/>
            <a:ext cx="715010" cy="715010"/>
            <a:chOff x="3448050" y="2005330"/>
            <a:chExt cx="715010" cy="715010"/>
          </a:xfrm>
        </p:grpSpPr>
        <p:sp>
          <p:nvSpPr>
            <p:cNvPr id="5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6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62" name="图形"/>
              <p:cNvCxnSpPr>
                <a:stCxn id="6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8" name="图形"/>
          <p:cNvCxnSpPr/>
          <p:nvPr/>
        </p:nvCxnSpPr>
        <p:spPr>
          <a:xfrm flipH="1">
            <a:off x="7926536" y="574199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 rot="10800000">
            <a:off x="8024116" y="4766582"/>
            <a:ext cx="715010" cy="715010"/>
            <a:chOff x="3448050" y="2005330"/>
            <a:chExt cx="715010" cy="715010"/>
          </a:xfrm>
        </p:grpSpPr>
        <p:sp>
          <p:nvSpPr>
            <p:cNvPr id="50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51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52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53" name="图形"/>
              <p:cNvCxnSpPr>
                <a:stCxn id="52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622452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22452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622452" y="3681668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622452" y="3303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0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622452" y="514993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622452" y="477137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2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987345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987345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4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8987345" y="3682481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5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8987345" y="3303916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6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8987345" y="514514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987345" y="476658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0070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85994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185996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552573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178497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178499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60070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85994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85996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552573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178497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178499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560070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185994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185996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6552573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7178497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7178499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33800" y="0"/>
            <a:ext cx="8458200" cy="6858000"/>
          </a:xfrm>
          <a:custGeom>
            <a:avLst/>
            <a:gdLst>
              <a:gd name="connsiteX0" fmla="*/ 0 w 12687300"/>
              <a:gd name="connsiteY0" fmla="*/ 0 h 5829300"/>
              <a:gd name="connsiteX1" fmla="*/ 12687300 w 12687300"/>
              <a:gd name="connsiteY1" fmla="*/ 0 h 5829300"/>
              <a:gd name="connsiteX2" fmla="*/ 12687300 w 12687300"/>
              <a:gd name="connsiteY2" fmla="*/ 5829300 h 5829300"/>
              <a:gd name="connsiteX3" fmla="*/ 0 w 12687300"/>
              <a:gd name="connsiteY3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7300" h="5829300">
                <a:moveTo>
                  <a:pt x="0" y="0"/>
                </a:moveTo>
                <a:lnTo>
                  <a:pt x="12687300" y="0"/>
                </a:lnTo>
                <a:lnTo>
                  <a:pt x="12687300" y="5829300"/>
                </a:lnTo>
                <a:lnTo>
                  <a:pt x="0" y="5829300"/>
                </a:lnTo>
                <a:close/>
              </a:path>
            </a:pathLst>
          </a:custGeom>
          <a:solidFill>
            <a:srgbClr val="DAEE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 dirty="0"/>
          </a:p>
        </p:txBody>
      </p:sp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Image 0" descr="preencoded.png"/>
          <p:cNvSpPr/>
          <p:nvPr userDrawn="1"/>
        </p:nvSpPr>
        <p:spPr>
          <a:xfrm>
            <a:off x="508000" y="1962150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07999" y="2044260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508000" y="1577985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Image 0" descr="preencoded.png"/>
          <p:cNvSpPr/>
          <p:nvPr userDrawn="1"/>
        </p:nvSpPr>
        <p:spPr>
          <a:xfrm>
            <a:off x="508000" y="3966955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07999" y="4049065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3582790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4178300" y="2969154"/>
            <a:ext cx="7505700" cy="6350"/>
            <a:chOff x="6267450" y="5972175"/>
            <a:chExt cx="11258550" cy="9525"/>
          </a:xfrm>
        </p:grpSpPr>
        <p:sp>
          <p:nvSpPr>
            <p:cNvPr id="48" name="任意多边形: 形状 47"/>
            <p:cNvSpPr/>
            <p:nvPr/>
          </p:nvSpPr>
          <p:spPr>
            <a:xfrm>
              <a:off x="6267450" y="5972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8448675" y="5972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 userDrawn="1"/>
        </p:nvGrpSpPr>
        <p:grpSpPr>
          <a:xfrm>
            <a:off x="4178300" y="3982508"/>
            <a:ext cx="7505700" cy="6350"/>
            <a:chOff x="6267450" y="7115175"/>
            <a:chExt cx="11258550" cy="9525"/>
          </a:xfrm>
        </p:grpSpPr>
        <p:sp>
          <p:nvSpPr>
            <p:cNvPr id="51" name="任意多边形: 形状 50"/>
            <p:cNvSpPr/>
            <p:nvPr/>
          </p:nvSpPr>
          <p:spPr>
            <a:xfrm>
              <a:off x="6267450" y="7115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8448675" y="7115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 userDrawn="1"/>
        </p:nvGrpSpPr>
        <p:grpSpPr>
          <a:xfrm>
            <a:off x="4178300" y="4995862"/>
            <a:ext cx="7505700" cy="6350"/>
            <a:chOff x="6267450" y="8258175"/>
            <a:chExt cx="11258550" cy="9525"/>
          </a:xfrm>
        </p:grpSpPr>
        <p:sp>
          <p:nvSpPr>
            <p:cNvPr id="54" name="任意多边形: 形状 53"/>
            <p:cNvSpPr/>
            <p:nvPr/>
          </p:nvSpPr>
          <p:spPr>
            <a:xfrm>
              <a:off x="6267450" y="8258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8448675" y="8258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 userDrawn="1"/>
        </p:nvGrpSpPr>
        <p:grpSpPr>
          <a:xfrm>
            <a:off x="4178300" y="6009217"/>
            <a:ext cx="7505700" cy="6350"/>
            <a:chOff x="6267450" y="9401175"/>
            <a:chExt cx="11258550" cy="9525"/>
          </a:xfrm>
        </p:grpSpPr>
        <p:sp>
          <p:nvSpPr>
            <p:cNvPr id="57" name="任意多边形: 形状 56"/>
            <p:cNvSpPr/>
            <p:nvPr/>
          </p:nvSpPr>
          <p:spPr>
            <a:xfrm>
              <a:off x="6267450" y="9401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8448675" y="9401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</p:grpSp>
      <p:cxnSp>
        <p:nvCxnSpPr>
          <p:cNvPr id="59" name="直接连接符 58"/>
          <p:cNvCxnSpPr/>
          <p:nvPr userDrawn="1"/>
        </p:nvCxnSpPr>
        <p:spPr>
          <a:xfrm>
            <a:off x="4178300" y="1962150"/>
            <a:ext cx="7505669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32388" y="21301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5632388" y="3096501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21578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3124201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4178300" y="211634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4178300" y="3082651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5632388" y="410187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412957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4178300" y="408802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5632388" y="513155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515925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178300" y="511770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1958150" y="188638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1958150" y="28136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188638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28136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504062" y="188638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504062" y="281369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1958150" y="3753987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3753987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4062" y="3753987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en-US" altLang="zh-CN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1961740" y="4674454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4674454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507652" y="4674454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04000" y="1746555"/>
            <a:ext cx="11184000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/>
          <p:cNvSpPr/>
          <p:nvPr userDrawn="1"/>
        </p:nvSpPr>
        <p:spPr>
          <a:xfrm>
            <a:off x="504000" y="267257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958150" y="267257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504000" y="359528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958150" y="359528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504000" y="4522501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1958150" y="4522501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>
            <a:off x="504000" y="5449722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1958150" y="5449722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1961740" y="5606905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46" hasCustomPrompt="1"/>
          </p:nvPr>
        </p:nvSpPr>
        <p:spPr>
          <a:xfrm>
            <a:off x="7755400" y="5606905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507652" y="5606905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0109644" y="6308090"/>
            <a:ext cx="1726755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en-US" altLang="zh-CN" sz="935" kern="0" dirty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North Valley Research, INC</a:t>
            </a:r>
            <a:endParaRPr lang="zh-CN" altLang="en-US" sz="935" kern="0" dirty="0">
              <a:solidFill>
                <a:srgbClr val="0E3C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图表占位符 8"/>
          <p:cNvSpPr>
            <a:spLocks noGrp="1"/>
          </p:cNvSpPr>
          <p:nvPr>
            <p:ph type="chart" sz="quarter" idx="10"/>
          </p:nvPr>
        </p:nvSpPr>
        <p:spPr>
          <a:xfrm>
            <a:off x="501650" y="1477963"/>
            <a:ext cx="11080750" cy="22256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0" name="矩形: 圆角 9"/>
          <p:cNvSpPr/>
          <p:nvPr userDrawn="1"/>
        </p:nvSpPr>
        <p:spPr>
          <a:xfrm>
            <a:off x="0" y="4030980"/>
            <a:ext cx="12192000" cy="282702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01557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2192563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2192565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图表占位符 11"/>
          <p:cNvSpPr>
            <a:spLocks noGrp="1"/>
          </p:cNvSpPr>
          <p:nvPr>
            <p:ph type="chart" sz="quarter" idx="23"/>
          </p:nvPr>
        </p:nvSpPr>
        <p:spPr>
          <a:xfrm>
            <a:off x="4347209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6038215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6038217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7" name="图表占位符 11"/>
          <p:cNvSpPr>
            <a:spLocks noGrp="1"/>
          </p:cNvSpPr>
          <p:nvPr>
            <p:ph type="chart" sz="quarter" idx="26"/>
          </p:nvPr>
        </p:nvSpPr>
        <p:spPr>
          <a:xfrm>
            <a:off x="8192861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9883867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9883869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866037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1017590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9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802317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5866037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866038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5866037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5866038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802317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02317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802317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22" hasCustomPrompt="1"/>
          </p:nvPr>
        </p:nvSpPr>
        <p:spPr>
          <a:xfrm>
            <a:off x="802317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任意多边形: 形状 19"/>
          <p:cNvSpPr/>
          <p:nvPr userDrawn="1"/>
        </p:nvSpPr>
        <p:spPr>
          <a:xfrm>
            <a:off x="1017590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017590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1017590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17590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86603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802317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17590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3988399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7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9282170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663805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3988400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663805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9282171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133874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33874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7022625" y="1590222"/>
            <a:ext cx="4591360" cy="45913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Line"/>
          <p:cNvSpPr/>
          <p:nvPr/>
        </p:nvSpPr>
        <p:spPr>
          <a:xfrm>
            <a:off x="495300" y="4636415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495300" y="4322893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285744" y="4322893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9" name="Line"/>
          <p:cNvSpPr/>
          <p:nvPr userDrawn="1"/>
        </p:nvSpPr>
        <p:spPr>
          <a:xfrm>
            <a:off x="495300" y="5075327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0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495300" y="4761805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3285744" y="4761805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32" name="Line"/>
          <p:cNvSpPr/>
          <p:nvPr userDrawn="1"/>
        </p:nvSpPr>
        <p:spPr>
          <a:xfrm>
            <a:off x="495300" y="5514238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495300" y="5200716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3285744" y="5200716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: 圆角 248"/>
          <p:cNvSpPr/>
          <p:nvPr userDrawn="1"/>
        </p:nvSpPr>
        <p:spPr>
          <a:xfrm>
            <a:off x="5318760" y="0"/>
            <a:ext cx="6873240" cy="685800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25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5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5996387" y="1590223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3" name="图表占位符 11"/>
          <p:cNvSpPr>
            <a:spLocks noGrp="1"/>
          </p:cNvSpPr>
          <p:nvPr>
            <p:ph type="chart" sz="quarter" idx="25"/>
          </p:nvPr>
        </p:nvSpPr>
        <p:spPr>
          <a:xfrm>
            <a:off x="5996387" y="4019015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4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6" name="标题 15"/>
          <p:cNvSpPr txBox="1"/>
          <p:nvPr userDrawn="1"/>
        </p:nvSpPr>
        <p:spPr>
          <a:xfrm>
            <a:off x="501556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57" name="标题 15"/>
          <p:cNvSpPr txBox="1"/>
          <p:nvPr userDrawn="1"/>
        </p:nvSpPr>
        <p:spPr>
          <a:xfrm>
            <a:off x="497493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58" name="直接连接符 257"/>
          <p:cNvCxnSpPr/>
          <p:nvPr userDrawn="1"/>
        </p:nvCxnSpPr>
        <p:spPr>
          <a:xfrm flipV="1">
            <a:off x="2169658" y="4664759"/>
            <a:ext cx="0" cy="4094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标题 15"/>
          <p:cNvSpPr txBox="1"/>
          <p:nvPr userDrawn="1"/>
        </p:nvSpPr>
        <p:spPr>
          <a:xfrm>
            <a:off x="2731849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60" name="标题 15"/>
          <p:cNvSpPr txBox="1"/>
          <p:nvPr userDrawn="1"/>
        </p:nvSpPr>
        <p:spPr>
          <a:xfrm>
            <a:off x="2763268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蓝色的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黑暗里有星球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010400" y="2226262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OPPOSans L" panose="00020600040101010101" pitchFamily="18" charset="-122"/>
                <a:ea typeface="OPPOSans L" panose="00020600040101010101" pitchFamily="18" charset="-122"/>
                <a:cs typeface="OPPOSans L" panose="00020600040101010101" pitchFamily="18" charset="-122"/>
              </a:rPr>
              <a:t>感谢观看</a:t>
            </a:r>
            <a:endParaRPr lang="zh-CN" altLang="en-US" sz="8000" dirty="0">
              <a:solidFill>
                <a:schemeClr val="bg1"/>
              </a:solidFill>
              <a:latin typeface="OPPOSans L" panose="00020600040101010101" pitchFamily="18" charset="-122"/>
              <a:ea typeface="OPPOSans L" panose="00020600040101010101" pitchFamily="18" charset="-122"/>
              <a:cs typeface="OPPOSans L" panose="00020600040101010101" pitchFamily="18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8" name="文本占位符 27"/>
          <p:cNvSpPr>
            <a:spLocks noGrp="1"/>
          </p:cNvSpPr>
          <p:nvPr>
            <p:ph type="body" sz="quarter" idx="10" hasCustomPrompt="1"/>
          </p:nvPr>
        </p:nvSpPr>
        <p:spPr>
          <a:xfrm>
            <a:off x="4932793" y="2537392"/>
            <a:ext cx="67512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400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一级标题</a:t>
            </a:r>
            <a:endParaRPr lang="en-US" altLang="zh-CN" dirty="0"/>
          </a:p>
        </p:txBody>
      </p:sp>
      <p:sp>
        <p:nvSpPr>
          <p:cNvPr id="30" name="文本占位符 27"/>
          <p:cNvSpPr>
            <a:spLocks noGrp="1"/>
          </p:cNvSpPr>
          <p:nvPr>
            <p:ph type="body" sz="quarter" idx="11" hasCustomPrompt="1"/>
          </p:nvPr>
        </p:nvSpPr>
        <p:spPr>
          <a:xfrm>
            <a:off x="4932793" y="3296705"/>
            <a:ext cx="6751207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en-US" altLang="zh-CN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14489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8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1" name="文本占位符 56"/>
          <p:cNvSpPr>
            <a:spLocks noGrp="1"/>
          </p:cNvSpPr>
          <p:nvPr>
            <p:ph type="body" sz="quarter" idx="13" hasCustomPrompt="1"/>
          </p:nvPr>
        </p:nvSpPr>
        <p:spPr>
          <a:xfrm>
            <a:off x="432934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2" name="文本占位符 56"/>
          <p:cNvSpPr>
            <a:spLocks noGrp="1"/>
          </p:cNvSpPr>
          <p:nvPr>
            <p:ph type="body" sz="quarter" idx="14" hasCustomPrompt="1"/>
          </p:nvPr>
        </p:nvSpPr>
        <p:spPr>
          <a:xfrm>
            <a:off x="432934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7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8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9" name="文本占位符 56"/>
          <p:cNvSpPr>
            <a:spLocks noGrp="1"/>
          </p:cNvSpPr>
          <p:nvPr>
            <p:ph type="body" sz="quarter" idx="17" hasCustomPrompt="1"/>
          </p:nvPr>
        </p:nvSpPr>
        <p:spPr>
          <a:xfrm>
            <a:off x="432934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70" name="文本占位符 56"/>
          <p:cNvSpPr>
            <a:spLocks noGrp="1"/>
          </p:cNvSpPr>
          <p:nvPr>
            <p:ph type="body" sz="quarter" idx="18" hasCustomPrompt="1"/>
          </p:nvPr>
        </p:nvSpPr>
        <p:spPr>
          <a:xfrm>
            <a:off x="432934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1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72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3" name="文本占位符 56"/>
          <p:cNvSpPr>
            <a:spLocks noGrp="1"/>
          </p:cNvSpPr>
          <p:nvPr>
            <p:ph type="body" sz="quarter" idx="21" hasCustomPrompt="1"/>
          </p:nvPr>
        </p:nvSpPr>
        <p:spPr>
          <a:xfrm>
            <a:off x="432934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74" name="文本占位符 56"/>
          <p:cNvSpPr>
            <a:spLocks noGrp="1"/>
          </p:cNvSpPr>
          <p:nvPr>
            <p:ph type="body" sz="quarter" idx="22" hasCustomPrompt="1"/>
          </p:nvPr>
        </p:nvSpPr>
        <p:spPr>
          <a:xfrm>
            <a:off x="432934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5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76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7" name="文本占位符 56"/>
          <p:cNvSpPr>
            <a:spLocks noGrp="1"/>
          </p:cNvSpPr>
          <p:nvPr>
            <p:ph type="body" sz="quarter" idx="25" hasCustomPrompt="1"/>
          </p:nvPr>
        </p:nvSpPr>
        <p:spPr>
          <a:xfrm>
            <a:off x="432934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78" name="文本占位符 56"/>
          <p:cNvSpPr>
            <a:spLocks noGrp="1"/>
          </p:cNvSpPr>
          <p:nvPr>
            <p:ph type="body" sz="quarter" idx="26" hasCustomPrompt="1"/>
          </p:nvPr>
        </p:nvSpPr>
        <p:spPr>
          <a:xfrm>
            <a:off x="432934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3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1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3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5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9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1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3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35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块介绍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preencoded.png"/>
          <p:cNvPicPr/>
          <p:nvPr userDrawn="1"/>
        </p:nvPicPr>
        <p:blipFill>
          <a:blip/>
          <a:srcRect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6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2535018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endParaRPr lang="en-US" altLang="zh-CN" dirty="0"/>
          </a:p>
        </p:txBody>
      </p:sp>
      <p:sp>
        <p:nvSpPr>
          <p:cNvPr id="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19" y="3280114"/>
            <a:ext cx="940459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空白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文版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5"/>
          <p:cNvSpPr>
            <a:spLocks noGrp="1" noChangeAspect="1"/>
          </p:cNvSpPr>
          <p:nvPr>
            <p:ph type="pic" sz="quarter" idx="21"/>
          </p:nvPr>
        </p:nvSpPr>
        <p:spPr>
          <a:xfrm>
            <a:off x="552053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27744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3" hasCustomPrompt="1"/>
          </p:nvPr>
        </p:nvSpPr>
        <p:spPr>
          <a:xfrm>
            <a:off x="527744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452231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188579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64270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164270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88757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9" name="图片占位符 5"/>
          <p:cNvSpPr>
            <a:spLocks noGrp="1" noChangeAspect="1"/>
          </p:cNvSpPr>
          <p:nvPr>
            <p:ph type="pic" sz="quarter" idx="29"/>
          </p:nvPr>
        </p:nvSpPr>
        <p:spPr>
          <a:xfrm>
            <a:off x="915527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891218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1" hasCustomPrompt="1"/>
          </p:nvPr>
        </p:nvSpPr>
        <p:spPr>
          <a:xfrm>
            <a:off x="891218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5705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297404"/>
            <a:ext cx="6188400" cy="46404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636602" y="1834974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6636602" y="2185482"/>
            <a:ext cx="48150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200" kern="120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370016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5"/>
          <p:cNvSpPr txBox="1"/>
          <p:nvPr userDrawn="1"/>
        </p:nvSpPr>
        <p:spPr>
          <a:xfrm>
            <a:off x="6982160" y="4586034"/>
            <a:ext cx="470742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18" name="标题 15"/>
          <p:cNvSpPr txBox="1"/>
          <p:nvPr userDrawn="1"/>
        </p:nvSpPr>
        <p:spPr>
          <a:xfrm>
            <a:off x="6370016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02414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114558" y="4586034"/>
            <a:ext cx="473023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22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标题 15"/>
          <p:cNvSpPr txBox="1"/>
          <p:nvPr userDrawn="1"/>
        </p:nvSpPr>
        <p:spPr>
          <a:xfrm>
            <a:off x="502414" y="4586034"/>
            <a:ext cx="531957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9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5"/>
          <p:cNvSpPr txBox="1"/>
          <p:nvPr userDrawn="1"/>
        </p:nvSpPr>
        <p:spPr>
          <a:xfrm>
            <a:off x="6562858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1" name="标题 15"/>
          <p:cNvSpPr txBox="1"/>
          <p:nvPr userDrawn="1"/>
        </p:nvSpPr>
        <p:spPr>
          <a:xfrm>
            <a:off x="65587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标题 15"/>
          <p:cNvSpPr txBox="1"/>
          <p:nvPr userDrawn="1"/>
        </p:nvSpPr>
        <p:spPr>
          <a:xfrm>
            <a:off x="84256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标题 15"/>
          <p:cNvSpPr txBox="1"/>
          <p:nvPr userDrawn="1"/>
        </p:nvSpPr>
        <p:spPr>
          <a:xfrm>
            <a:off x="10284469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标题 15"/>
          <p:cNvSpPr txBox="1"/>
          <p:nvPr userDrawn="1"/>
        </p:nvSpPr>
        <p:spPr>
          <a:xfrm>
            <a:off x="6562858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7" name="标题 15"/>
          <p:cNvSpPr txBox="1"/>
          <p:nvPr userDrawn="1"/>
        </p:nvSpPr>
        <p:spPr>
          <a:xfrm>
            <a:off x="65587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标题 15"/>
          <p:cNvSpPr txBox="1"/>
          <p:nvPr userDrawn="1"/>
        </p:nvSpPr>
        <p:spPr>
          <a:xfrm>
            <a:off x="84256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0284469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标题 15"/>
          <p:cNvSpPr txBox="1"/>
          <p:nvPr userDrawn="1"/>
        </p:nvSpPr>
        <p:spPr>
          <a:xfrm>
            <a:off x="842569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3" name="标题 15"/>
          <p:cNvSpPr txBox="1"/>
          <p:nvPr userDrawn="1"/>
        </p:nvSpPr>
        <p:spPr>
          <a:xfrm>
            <a:off x="842569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7" name="标题 15"/>
          <p:cNvSpPr txBox="1"/>
          <p:nvPr userDrawn="1"/>
        </p:nvSpPr>
        <p:spPr>
          <a:xfrm>
            <a:off x="1027837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3" name="标题 15"/>
          <p:cNvSpPr txBox="1"/>
          <p:nvPr userDrawn="1"/>
        </p:nvSpPr>
        <p:spPr>
          <a:xfrm>
            <a:off x="1027837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740320" y="3042936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740321" y="2736018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40320" y="4116478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740321" y="3809560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740319" y="5190020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740320" y="4883102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72000" y="0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32"/>
          </p:nvPr>
        </p:nvSpPr>
        <p:spPr>
          <a:xfrm>
            <a:off x="6072000" y="3486625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0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152228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517651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4869597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1" y="1466229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410959" y="2844262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04001" y="4685756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5" y="4869597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259086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6410960" y="1455823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7023104" y="1639664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6410959" y="2029153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4"/>
          <p:cNvSpPr>
            <a:spLocks noGrp="1"/>
          </p:cNvSpPr>
          <p:nvPr>
            <p:ph type="pic" sz="quarter" idx="32"/>
          </p:nvPr>
        </p:nvSpPr>
        <p:spPr>
          <a:xfrm>
            <a:off x="4407394" y="3800616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图片占位符 4"/>
          <p:cNvSpPr>
            <a:spLocks noGrp="1"/>
          </p:cNvSpPr>
          <p:nvPr>
            <p:ph type="pic" sz="quarter" idx="33"/>
          </p:nvPr>
        </p:nvSpPr>
        <p:spPr>
          <a:xfrm>
            <a:off x="8310787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8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504000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4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4407392" y="1468850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5019536" y="1652691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407391" y="2042180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8310789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8922933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8310788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0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3464453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3464453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3464453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图片占位符 4"/>
          <p:cNvSpPr>
            <a:spLocks noGrp="1"/>
          </p:cNvSpPr>
          <p:nvPr>
            <p:ph type="pic" sz="quarter" idx="38"/>
          </p:nvPr>
        </p:nvSpPr>
        <p:spPr>
          <a:xfrm>
            <a:off x="642784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42784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42784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图片占位符 4"/>
          <p:cNvSpPr>
            <a:spLocks noGrp="1"/>
          </p:cNvSpPr>
          <p:nvPr>
            <p:ph type="pic" sz="quarter" idx="41"/>
          </p:nvPr>
        </p:nvSpPr>
        <p:spPr>
          <a:xfrm>
            <a:off x="938535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938535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938535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9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2882237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882237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6479105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57342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8857342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5" name="图片占位符 4"/>
          <p:cNvSpPr>
            <a:spLocks noGrp="1"/>
          </p:cNvSpPr>
          <p:nvPr>
            <p:ph type="pic" sz="quarter" idx="38"/>
          </p:nvPr>
        </p:nvSpPr>
        <p:spPr>
          <a:xfrm>
            <a:off x="504000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2882237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2882237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8" name="图片占位符 4"/>
          <p:cNvSpPr>
            <a:spLocks noGrp="1"/>
          </p:cNvSpPr>
          <p:nvPr>
            <p:ph type="pic" sz="quarter" idx="41"/>
          </p:nvPr>
        </p:nvSpPr>
        <p:spPr>
          <a:xfrm>
            <a:off x="6479105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8857342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8857342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4"/>
          <p:cNvSpPr>
            <a:spLocks noGrp="1"/>
          </p:cNvSpPr>
          <p:nvPr>
            <p:ph type="pic" sz="quarter" idx="34"/>
          </p:nvPr>
        </p:nvSpPr>
        <p:spPr>
          <a:xfrm>
            <a:off x="-702" y="4224090"/>
            <a:ext cx="12192701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01666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1150620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50620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751919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400873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400873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01666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50620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50620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751919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400873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400873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6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1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1556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5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4253632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6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253632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7" name="图片占位符 4"/>
          <p:cNvSpPr>
            <a:spLocks noGrp="1"/>
          </p:cNvSpPr>
          <p:nvPr>
            <p:ph type="pic" sz="quarter" idx="37"/>
          </p:nvPr>
        </p:nvSpPr>
        <p:spPr>
          <a:xfrm>
            <a:off x="4253632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8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8032837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9" name="文本占位符 21"/>
          <p:cNvSpPr>
            <a:spLocks noGrp="1"/>
          </p:cNvSpPr>
          <p:nvPr>
            <p:ph type="body" sz="quarter" idx="39" hasCustomPrompt="1"/>
          </p:nvPr>
        </p:nvSpPr>
        <p:spPr>
          <a:xfrm>
            <a:off x="8032837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1" name="图片占位符 4"/>
          <p:cNvSpPr>
            <a:spLocks noGrp="1"/>
          </p:cNvSpPr>
          <p:nvPr>
            <p:ph type="pic" sz="quarter" idx="40"/>
          </p:nvPr>
        </p:nvSpPr>
        <p:spPr>
          <a:xfrm>
            <a:off x="8032837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1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1556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501556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3" name="图片占位符 4"/>
          <p:cNvSpPr>
            <a:spLocks noGrp="1"/>
          </p:cNvSpPr>
          <p:nvPr>
            <p:ph type="pic" sz="quarter" idx="43"/>
          </p:nvPr>
        </p:nvSpPr>
        <p:spPr>
          <a:xfrm>
            <a:off x="501556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4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253632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5" name="文本占位符 21"/>
          <p:cNvSpPr>
            <a:spLocks noGrp="1"/>
          </p:cNvSpPr>
          <p:nvPr>
            <p:ph type="body" sz="quarter" idx="45" hasCustomPrompt="1"/>
          </p:nvPr>
        </p:nvSpPr>
        <p:spPr>
          <a:xfrm>
            <a:off x="4253632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6" name="图片占位符 4"/>
          <p:cNvSpPr>
            <a:spLocks noGrp="1"/>
          </p:cNvSpPr>
          <p:nvPr>
            <p:ph type="pic" sz="quarter" idx="46"/>
          </p:nvPr>
        </p:nvSpPr>
        <p:spPr>
          <a:xfrm>
            <a:off x="4253632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8032837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8" name="文本占位符 21"/>
          <p:cNvSpPr>
            <a:spLocks noGrp="1"/>
          </p:cNvSpPr>
          <p:nvPr>
            <p:ph type="body" sz="quarter" idx="48" hasCustomPrompt="1"/>
          </p:nvPr>
        </p:nvSpPr>
        <p:spPr>
          <a:xfrm>
            <a:off x="8032837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9" name="图片占位符 4"/>
          <p:cNvSpPr>
            <a:spLocks noGrp="1"/>
          </p:cNvSpPr>
          <p:nvPr>
            <p:ph type="pic" sz="quarter" idx="49"/>
          </p:nvPr>
        </p:nvSpPr>
        <p:spPr>
          <a:xfrm>
            <a:off x="8032837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821106" y="2684381"/>
            <a:ext cx="2868149" cy="286419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5"/>
          <p:cNvSpPr>
            <a:spLocks noGrp="1" noChangeAspect="1"/>
          </p:cNvSpPr>
          <p:nvPr>
            <p:ph type="pic" sz="quarter" idx="26"/>
          </p:nvPr>
        </p:nvSpPr>
        <p:spPr>
          <a:xfrm>
            <a:off x="2686429" y="1563330"/>
            <a:ext cx="1350187" cy="134832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5"/>
          <p:cNvSpPr>
            <a:spLocks noGrp="1" noChangeAspect="1"/>
          </p:cNvSpPr>
          <p:nvPr>
            <p:ph type="pic" sz="quarter" idx="27"/>
          </p:nvPr>
        </p:nvSpPr>
        <p:spPr>
          <a:xfrm>
            <a:off x="3419704" y="486791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5"/>
          <p:cNvSpPr>
            <a:spLocks noGrp="1" noChangeAspect="1"/>
          </p:cNvSpPr>
          <p:nvPr>
            <p:ph type="pic" sz="quarter" idx="28"/>
          </p:nvPr>
        </p:nvSpPr>
        <p:spPr>
          <a:xfrm>
            <a:off x="743286" y="219202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6151656" y="2069417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6151658" y="1762499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6151656" y="3142959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6151658" y="2836041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6151656" y="4216501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6151658" y="3909583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6151655" y="5290043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6151657" y="4983125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SmartArt 占位符 8"/>
          <p:cNvSpPr>
            <a:spLocks noGrp="1"/>
          </p:cNvSpPr>
          <p:nvPr>
            <p:ph type="dgm" sz="quarter" idx="10"/>
          </p:nvPr>
        </p:nvSpPr>
        <p:spPr>
          <a:xfrm>
            <a:off x="7022625" y="1590223"/>
            <a:ext cx="4591360" cy="459136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rot="10800000">
            <a:off x="889037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330163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097308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04000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91161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91161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cxnSp>
        <p:nvCxnSpPr>
          <p:cNvPr id="12" name="Straight Connector 5"/>
          <p:cNvCxnSpPr/>
          <p:nvPr userDrawn="1"/>
        </p:nvCxnSpPr>
        <p:spPr>
          <a:xfrm>
            <a:off x="91161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91161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91161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370271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370271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cxnSp>
        <p:nvCxnSpPr>
          <p:cNvPr id="18" name="Straight Connector 5"/>
          <p:cNvCxnSpPr/>
          <p:nvPr userDrawn="1"/>
        </p:nvCxnSpPr>
        <p:spPr>
          <a:xfrm>
            <a:off x="370271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370271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370271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650687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50687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cxnSp>
        <p:nvCxnSpPr>
          <p:cNvPr id="23" name="Straight Connector 5"/>
          <p:cNvCxnSpPr/>
          <p:nvPr userDrawn="1"/>
        </p:nvCxnSpPr>
        <p:spPr>
          <a:xfrm>
            <a:off x="650687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50687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650687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930254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43" hasCustomPrompt="1"/>
          </p:nvPr>
        </p:nvSpPr>
        <p:spPr>
          <a:xfrm>
            <a:off x="930254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930254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1"/>
          <p:cNvSpPr>
            <a:spLocks noGrp="1"/>
          </p:cNvSpPr>
          <p:nvPr>
            <p:ph type="body" sz="quarter" idx="44" hasCustomPrompt="1"/>
          </p:nvPr>
        </p:nvSpPr>
        <p:spPr>
          <a:xfrm>
            <a:off x="930254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930254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7853585" y="626935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2" descr="preencoded.png"/>
          <p:cNvSpPr/>
          <p:nvPr/>
        </p:nvSpPr>
        <p:spPr>
          <a:xfrm>
            <a:off x="338455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956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15" name="Image 0" descr="preencoded.png"/>
          <p:cNvSpPr/>
          <p:nvPr/>
        </p:nvSpPr>
        <p:spPr>
          <a:xfrm>
            <a:off x="4616450" y="1009875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540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14" name="Image 4" descr="preencoded.png"/>
          <p:cNvSpPr/>
          <p:nvPr/>
        </p:nvSpPr>
        <p:spPr>
          <a:xfrm>
            <a:off x="584200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3440000" scaled="0"/>
          </a:gra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102749" y="2349742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387566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633311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19" name="图形 18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280299" y="1939772"/>
            <a:ext cx="1209675" cy="1219200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4454631" y="5504253"/>
            <a:ext cx="1209675" cy="1219200"/>
          </a:xfrm>
          <a:prstGeom prst="rect">
            <a:avLst/>
          </a:prstGeom>
        </p:spPr>
      </p:pic>
      <p:pic>
        <p:nvPicPr>
          <p:cNvPr id="25" name="图形 24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0291292" y="3363112"/>
            <a:ext cx="1209675" cy="1219200"/>
          </a:xfrm>
          <a:prstGeom prst="rect">
            <a:avLst/>
          </a:prstGeom>
        </p:spPr>
      </p:pic>
      <p:sp>
        <p:nvSpPr>
          <p:cNvPr id="32" name="Image 6" descr="preencoded.png"/>
          <p:cNvSpPr/>
          <p:nvPr userDrawn="1"/>
        </p:nvSpPr>
        <p:spPr>
          <a:xfrm>
            <a:off x="2354281" y="4890434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2354281" y="5028930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Image 6" descr="preencoded.png"/>
          <p:cNvSpPr/>
          <p:nvPr userDrawn="1"/>
        </p:nvSpPr>
        <p:spPr>
          <a:xfrm>
            <a:off x="1784874" y="2141875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1784874" y="2280371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Image 6" descr="preencoded.png"/>
          <p:cNvSpPr/>
          <p:nvPr userDrawn="1"/>
        </p:nvSpPr>
        <p:spPr>
          <a:xfrm>
            <a:off x="8763630" y="3029147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8763630" y="3167643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 flipV="1">
            <a:off x="3987021" y="4525385"/>
            <a:ext cx="1051944" cy="492442"/>
            <a:chOff x="3994675" y="2246302"/>
            <a:chExt cx="1051944" cy="492442"/>
          </a:xfrm>
        </p:grpSpPr>
        <p:cxnSp>
          <p:nvCxnSpPr>
            <p:cNvPr id="7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 userDrawn="1"/>
        </p:nvGrpSpPr>
        <p:grpSpPr>
          <a:xfrm rot="10800000">
            <a:off x="7253121" y="4525385"/>
            <a:ext cx="1051944" cy="492442"/>
            <a:chOff x="3994675" y="2246302"/>
            <a:chExt cx="1051944" cy="492442"/>
          </a:xfrm>
        </p:grpSpPr>
        <p:cxnSp>
          <p:nvCxnSpPr>
            <p:cNvPr id="10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 userDrawn="1"/>
        </p:nvGrpSpPr>
        <p:grpSpPr>
          <a:xfrm>
            <a:off x="3994675" y="2246302"/>
            <a:ext cx="1051944" cy="492442"/>
            <a:chOff x="3994675" y="2246302"/>
            <a:chExt cx="1051944" cy="492442"/>
          </a:xfrm>
        </p:grpSpPr>
        <p:cxnSp>
          <p:nvCxnSpPr>
            <p:cNvPr id="13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 userDrawn="1"/>
        </p:nvGrpSpPr>
        <p:grpSpPr>
          <a:xfrm>
            <a:off x="4178282" y="1825051"/>
            <a:ext cx="3835435" cy="3861041"/>
            <a:chOff x="4336726" y="1927485"/>
            <a:chExt cx="3835435" cy="3861041"/>
          </a:xfrm>
        </p:grpSpPr>
        <p:sp>
          <p:nvSpPr>
            <p:cNvPr id="16" name="Freeform 5"/>
            <p:cNvSpPr/>
            <p:nvPr/>
          </p:nvSpPr>
          <p:spPr bwMode="auto">
            <a:xfrm>
              <a:off x="4336726" y="3259811"/>
              <a:ext cx="1914459" cy="2297350"/>
            </a:xfrm>
            <a:custGeom>
              <a:avLst/>
              <a:gdLst/>
              <a:ahLst/>
              <a:cxnLst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  <a:cxn ang="0">
                  <a:pos x="321" y="335"/>
                </a:cxn>
                <a:cxn ang="0">
                  <a:pos x="437" y="401"/>
                </a:cxn>
                <a:cxn ang="0">
                  <a:pos x="496" y="408"/>
                </a:cxn>
                <a:cxn ang="0">
                  <a:pos x="496" y="595"/>
                </a:cxn>
                <a:cxn ang="0">
                  <a:pos x="430" y="591"/>
                </a:cxn>
                <a:cxn ang="0">
                  <a:pos x="189" y="468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</a:cxnLst>
              <a:rect l="0" t="0" r="r" b="b"/>
              <a:pathLst>
                <a:path w="496" h="595">
                  <a:moveTo>
                    <a:pt x="248" y="158"/>
                  </a:move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ubicBezTo>
                    <a:pt x="257" y="247"/>
                    <a:pt x="281" y="295"/>
                    <a:pt x="321" y="335"/>
                  </a:cubicBezTo>
                  <a:cubicBezTo>
                    <a:pt x="355" y="369"/>
                    <a:pt x="393" y="391"/>
                    <a:pt x="437" y="401"/>
                  </a:cubicBezTo>
                  <a:cubicBezTo>
                    <a:pt x="456" y="406"/>
                    <a:pt x="475" y="408"/>
                    <a:pt x="496" y="408"/>
                  </a:cubicBezTo>
                  <a:cubicBezTo>
                    <a:pt x="496" y="595"/>
                    <a:pt x="496" y="595"/>
                    <a:pt x="496" y="595"/>
                  </a:cubicBezTo>
                  <a:cubicBezTo>
                    <a:pt x="474" y="595"/>
                    <a:pt x="452" y="594"/>
                    <a:pt x="430" y="591"/>
                  </a:cubicBezTo>
                  <a:cubicBezTo>
                    <a:pt x="338" y="578"/>
                    <a:pt x="258" y="537"/>
                    <a:pt x="189" y="468"/>
                  </a:cubicBezTo>
                  <a:cubicBezTo>
                    <a:pt x="112" y="390"/>
                    <a:pt x="69" y="299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lnTo>
                    <a:pt x="248" y="158"/>
                  </a:ln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6"/>
            <p:cNvSpPr/>
            <p:nvPr/>
          </p:nvSpPr>
          <p:spPr bwMode="auto">
            <a:xfrm>
              <a:off x="5633669" y="3869180"/>
              <a:ext cx="2303868" cy="1919346"/>
            </a:xfrm>
            <a:custGeom>
              <a:avLst/>
              <a:gdLst/>
              <a:ahLst/>
              <a:cxnLst>
                <a:cxn ang="0">
                  <a:pos x="403" y="61"/>
                </a:cxn>
                <a:cxn ang="0">
                  <a:pos x="410" y="2"/>
                </a:cxn>
                <a:cxn ang="0">
                  <a:pos x="410" y="0"/>
                </a:cxn>
                <a:cxn ang="0">
                  <a:pos x="597" y="0"/>
                </a:cxn>
                <a:cxn ang="0">
                  <a:pos x="597" y="2"/>
                </a:cxn>
                <a:cxn ang="0">
                  <a:pos x="592" y="68"/>
                </a:cxn>
                <a:cxn ang="0">
                  <a:pos x="469" y="310"/>
                </a:cxn>
                <a:cxn ang="0">
                  <a:pos x="161" y="437"/>
                </a:cxn>
                <a:cxn ang="0">
                  <a:pos x="160" y="437"/>
                </a:cxn>
                <a:cxn ang="0">
                  <a:pos x="160" y="497"/>
                </a:cxn>
                <a:cxn ang="0">
                  <a:pos x="0" y="341"/>
                </a:cxn>
                <a:cxn ang="0">
                  <a:pos x="160" y="185"/>
                </a:cxn>
                <a:cxn ang="0">
                  <a:pos x="160" y="250"/>
                </a:cxn>
                <a:cxn ang="0">
                  <a:pos x="161" y="250"/>
                </a:cxn>
                <a:cxn ang="0">
                  <a:pos x="337" y="177"/>
                </a:cxn>
                <a:cxn ang="0">
                  <a:pos x="403" y="61"/>
                </a:cxn>
              </a:cxnLst>
              <a:rect l="0" t="0" r="r" b="b"/>
              <a:pathLst>
                <a:path w="597" h="497">
                  <a:moveTo>
                    <a:pt x="403" y="61"/>
                  </a:moveTo>
                  <a:cubicBezTo>
                    <a:pt x="408" y="42"/>
                    <a:pt x="410" y="22"/>
                    <a:pt x="410" y="2"/>
                  </a:cubicBezTo>
                  <a:cubicBezTo>
                    <a:pt x="410" y="1"/>
                    <a:pt x="410" y="0"/>
                    <a:pt x="41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597" y="0"/>
                    <a:pt x="597" y="1"/>
                    <a:pt x="597" y="2"/>
                  </a:cubicBezTo>
                  <a:cubicBezTo>
                    <a:pt x="597" y="24"/>
                    <a:pt x="595" y="46"/>
                    <a:pt x="592" y="68"/>
                  </a:cubicBezTo>
                  <a:cubicBezTo>
                    <a:pt x="579" y="160"/>
                    <a:pt x="538" y="241"/>
                    <a:pt x="469" y="310"/>
                  </a:cubicBezTo>
                  <a:cubicBezTo>
                    <a:pt x="384" y="395"/>
                    <a:pt x="281" y="437"/>
                    <a:pt x="161" y="437"/>
                  </a:cubicBezTo>
                  <a:cubicBezTo>
                    <a:pt x="161" y="437"/>
                    <a:pt x="160" y="437"/>
                    <a:pt x="160" y="437"/>
                  </a:cubicBezTo>
                  <a:cubicBezTo>
                    <a:pt x="160" y="497"/>
                    <a:pt x="160" y="497"/>
                    <a:pt x="160" y="497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160" y="185"/>
                    <a:pt x="160" y="185"/>
                    <a:pt x="160" y="185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60" y="250"/>
                    <a:pt x="161" y="250"/>
                    <a:pt x="161" y="250"/>
                  </a:cubicBezTo>
                  <a:cubicBezTo>
                    <a:pt x="230" y="250"/>
                    <a:pt x="288" y="226"/>
                    <a:pt x="337" y="177"/>
                  </a:cubicBezTo>
                  <a:cubicBezTo>
                    <a:pt x="371" y="143"/>
                    <a:pt x="393" y="104"/>
                    <a:pt x="403" y="61"/>
                  </a:cubicBezTo>
                  <a:close/>
                </a:path>
              </a:pathLst>
            </a:custGeom>
            <a:solidFill>
              <a:srgbClr val="008FA3"/>
            </a:solidFill>
            <a:ln w="9525">
              <a:noFill/>
              <a:round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6251185" y="2189344"/>
              <a:ext cx="1920976" cy="2305496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09" y="129"/>
                </a:cxn>
                <a:cxn ang="0">
                  <a:pos x="437" y="435"/>
                </a:cxn>
                <a:cxn ang="0">
                  <a:pos x="498" y="435"/>
                </a:cxn>
                <a:cxn ang="0">
                  <a:pos x="341" y="597"/>
                </a:cxn>
                <a:cxn ang="0">
                  <a:pos x="184" y="435"/>
                </a:cxn>
                <a:cxn ang="0">
                  <a:pos x="250" y="435"/>
                </a:cxn>
                <a:cxn ang="0">
                  <a:pos x="177" y="261"/>
                </a:cxn>
                <a:cxn ang="0">
                  <a:pos x="60" y="194"/>
                </a:cxn>
                <a:cxn ang="0">
                  <a:pos x="1" y="188"/>
                </a:cxn>
                <a:cxn ang="0">
                  <a:pos x="0" y="188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67" y="5"/>
                </a:cxn>
              </a:cxnLst>
              <a:rect l="0" t="0" r="r" b="b"/>
              <a:pathLst>
                <a:path w="498" h="597">
                  <a:moveTo>
                    <a:pt x="67" y="5"/>
                  </a:moveTo>
                  <a:cubicBezTo>
                    <a:pt x="159" y="18"/>
                    <a:pt x="240" y="59"/>
                    <a:pt x="309" y="129"/>
                  </a:cubicBezTo>
                  <a:cubicBezTo>
                    <a:pt x="394" y="213"/>
                    <a:pt x="436" y="315"/>
                    <a:pt x="437" y="435"/>
                  </a:cubicBezTo>
                  <a:cubicBezTo>
                    <a:pt x="498" y="435"/>
                    <a:pt x="498" y="435"/>
                    <a:pt x="498" y="435"/>
                  </a:cubicBezTo>
                  <a:cubicBezTo>
                    <a:pt x="341" y="597"/>
                    <a:pt x="341" y="597"/>
                    <a:pt x="341" y="597"/>
                  </a:cubicBezTo>
                  <a:cubicBezTo>
                    <a:pt x="184" y="435"/>
                    <a:pt x="184" y="435"/>
                    <a:pt x="184" y="435"/>
                  </a:cubicBezTo>
                  <a:cubicBezTo>
                    <a:pt x="250" y="435"/>
                    <a:pt x="250" y="435"/>
                    <a:pt x="250" y="435"/>
                  </a:cubicBezTo>
                  <a:cubicBezTo>
                    <a:pt x="249" y="367"/>
                    <a:pt x="225" y="309"/>
                    <a:pt x="177" y="261"/>
                  </a:cubicBezTo>
                  <a:cubicBezTo>
                    <a:pt x="143" y="227"/>
                    <a:pt x="104" y="205"/>
                    <a:pt x="60" y="194"/>
                  </a:cubicBezTo>
                  <a:cubicBezTo>
                    <a:pt x="41" y="190"/>
                    <a:pt x="21" y="188"/>
                    <a:pt x="1" y="188"/>
                  </a:cubicBezTo>
                  <a:cubicBezTo>
                    <a:pt x="1" y="188"/>
                    <a:pt x="0" y="188"/>
                    <a:pt x="0" y="18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4" y="0"/>
                    <a:pt x="46" y="2"/>
                    <a:pt x="67" y="5"/>
                  </a:cubicBezTo>
                  <a:close/>
                </a:path>
              </a:pathLst>
            </a:custGeom>
            <a:solidFill>
              <a:srgbClr val="006B7A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8"/>
            <p:cNvSpPr>
              <a:spLocks noEditPoints="1"/>
            </p:cNvSpPr>
            <p:nvPr/>
          </p:nvSpPr>
          <p:spPr bwMode="auto">
            <a:xfrm>
              <a:off x="4558836" y="1927485"/>
              <a:ext cx="2297350" cy="1914458"/>
            </a:xfrm>
            <a:custGeom>
              <a:avLst/>
              <a:gdLst/>
              <a:ahLst/>
              <a:cxnLst>
                <a:cxn ang="0">
                  <a:pos x="96" y="338"/>
                </a:cxn>
                <a:cxn ang="0">
                  <a:pos x="95" y="338"/>
                </a:cxn>
                <a:cxn ang="0">
                  <a:pos x="96" y="338"/>
                </a:cxn>
                <a:cxn ang="0">
                  <a:pos x="435" y="0"/>
                </a:cxn>
                <a:cxn ang="0">
                  <a:pos x="595" y="157"/>
                </a:cxn>
                <a:cxn ang="0">
                  <a:pos x="435" y="314"/>
                </a:cxn>
                <a:cxn ang="0">
                  <a:pos x="435" y="249"/>
                </a:cxn>
                <a:cxn ang="0">
                  <a:pos x="260" y="322"/>
                </a:cxn>
                <a:cxn ang="0">
                  <a:pos x="194" y="437"/>
                </a:cxn>
                <a:cxn ang="0">
                  <a:pos x="187" y="496"/>
                </a:cxn>
                <a:cxn ang="0">
                  <a:pos x="0" y="496"/>
                </a:cxn>
                <a:cxn ang="0">
                  <a:pos x="5" y="429"/>
                </a:cxn>
                <a:cxn ang="0">
                  <a:pos x="128" y="190"/>
                </a:cxn>
                <a:cxn ang="0">
                  <a:pos x="435" y="61"/>
                </a:cxn>
                <a:cxn ang="0">
                  <a:pos x="435" y="0"/>
                </a:cxn>
              </a:cxnLst>
              <a:rect l="0" t="0" r="r" b="b"/>
              <a:pathLst>
                <a:path w="595" h="496">
                  <a:moveTo>
                    <a:pt x="96" y="338"/>
                  </a:moveTo>
                  <a:cubicBezTo>
                    <a:pt x="96" y="338"/>
                    <a:pt x="95" y="338"/>
                    <a:pt x="95" y="338"/>
                  </a:cubicBezTo>
                  <a:cubicBezTo>
                    <a:pt x="96" y="338"/>
                    <a:pt x="96" y="338"/>
                    <a:pt x="96" y="338"/>
                  </a:cubicBezTo>
                  <a:close/>
                  <a:moveTo>
                    <a:pt x="435" y="0"/>
                  </a:moveTo>
                  <a:cubicBezTo>
                    <a:pt x="595" y="157"/>
                    <a:pt x="595" y="157"/>
                    <a:pt x="595" y="157"/>
                  </a:cubicBezTo>
                  <a:cubicBezTo>
                    <a:pt x="435" y="314"/>
                    <a:pt x="435" y="314"/>
                    <a:pt x="435" y="314"/>
                  </a:cubicBezTo>
                  <a:cubicBezTo>
                    <a:pt x="435" y="249"/>
                    <a:pt x="435" y="249"/>
                    <a:pt x="435" y="249"/>
                  </a:cubicBezTo>
                  <a:cubicBezTo>
                    <a:pt x="367" y="249"/>
                    <a:pt x="309" y="273"/>
                    <a:pt x="260" y="322"/>
                  </a:cubicBezTo>
                  <a:cubicBezTo>
                    <a:pt x="227" y="356"/>
                    <a:pt x="204" y="394"/>
                    <a:pt x="194" y="437"/>
                  </a:cubicBezTo>
                  <a:cubicBezTo>
                    <a:pt x="190" y="456"/>
                    <a:pt x="187" y="475"/>
                    <a:pt x="187" y="496"/>
                  </a:cubicBezTo>
                  <a:cubicBezTo>
                    <a:pt x="0" y="496"/>
                    <a:pt x="0" y="496"/>
                    <a:pt x="0" y="496"/>
                  </a:cubicBezTo>
                  <a:cubicBezTo>
                    <a:pt x="0" y="473"/>
                    <a:pt x="2" y="451"/>
                    <a:pt x="5" y="429"/>
                  </a:cubicBezTo>
                  <a:cubicBezTo>
                    <a:pt x="18" y="338"/>
                    <a:pt x="59" y="258"/>
                    <a:pt x="128" y="190"/>
                  </a:cubicBezTo>
                  <a:cubicBezTo>
                    <a:pt x="213" y="104"/>
                    <a:pt x="315" y="62"/>
                    <a:pt x="435" y="61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004852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0" name="Text Placeholder 3"/>
            <p:cNvSpPr txBox="1"/>
            <p:nvPr/>
          </p:nvSpPr>
          <p:spPr>
            <a:xfrm>
              <a:off x="6120243" y="2353088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200">
                <a:spcBef>
                  <a:spcPct val="20000"/>
                </a:spcBef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02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1" name="Text Placeholder 3"/>
            <p:cNvSpPr txBox="1"/>
            <p:nvPr/>
          </p:nvSpPr>
          <p:spPr>
            <a:xfrm>
              <a:off x="7367955" y="388861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Placeholder 3"/>
            <p:cNvSpPr txBox="1"/>
            <p:nvPr/>
          </p:nvSpPr>
          <p:spPr>
            <a:xfrm>
              <a:off x="6020689" y="501943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9"/>
            <p:cNvSpPr/>
            <p:nvPr userDrawn="1"/>
          </p:nvSpPr>
          <p:spPr bwMode="auto">
            <a:xfrm>
              <a:off x="4338271" y="3264133"/>
              <a:ext cx="1207332" cy="739714"/>
            </a:xfrm>
            <a:custGeom>
              <a:avLst/>
              <a:gdLst/>
              <a:ahLst/>
              <a:cxnLst>
                <a:cxn ang="0">
                  <a:pos x="250" y="192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</a:cxnLst>
              <a:rect l="0" t="0" r="r" b="b"/>
              <a:pathLst>
                <a:path w="313" h="192">
                  <a:moveTo>
                    <a:pt x="25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248" y="158"/>
                    <a:pt x="248" y="158"/>
                    <a:pt x="248" y="158"/>
                  </a:cubicBez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srgbClr val="DCE4F4">
                  <a:alpha val="24000"/>
                </a:srgb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4" name="Text Placeholder 3"/>
            <p:cNvSpPr txBox="1"/>
            <p:nvPr/>
          </p:nvSpPr>
          <p:spPr>
            <a:xfrm>
              <a:off x="4753105" y="3616259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 rot="10800000" flipV="1">
            <a:off x="7136876" y="2246302"/>
            <a:ext cx="1051944" cy="492442"/>
            <a:chOff x="3994675" y="2246302"/>
            <a:chExt cx="1051944" cy="492442"/>
          </a:xfrm>
        </p:grpSpPr>
        <p:cxnSp>
          <p:nvCxnSpPr>
            <p:cNvPr id="26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7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01557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501556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396610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8396609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8396610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8396609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pic>
        <p:nvPicPr>
          <p:cNvPr id="25" name="图片 7"/>
          <p:cNvPicPr>
            <a:picLocks noChangeAspect="1"/>
          </p:cNvPicPr>
          <p:nvPr userDrawn="1"/>
        </p:nvPicPr>
        <p:blipFill>
          <a:blip/>
          <a:srcRect/>
          <a:stretch>
            <a:fillRect/>
          </a:stretch>
        </p:blipFill>
        <p:spPr>
          <a:xfrm rot="10800000">
            <a:off x="4996187" y="3951171"/>
            <a:ext cx="2196439" cy="2649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4997780" y="1233488"/>
            <a:ext cx="2196439" cy="2649775"/>
          </a:xfrm>
          <a:prstGeom prst="rect">
            <a:avLst/>
          </a:prstGeom>
        </p:spPr>
      </p:pic>
      <p:pic>
        <p:nvPicPr>
          <p:cNvPr id="31" name="图片 7"/>
          <p:cNvPicPr>
            <a:picLocks noChangeAspect="1"/>
          </p:cNvPicPr>
          <p:nvPr userDrawn="1"/>
        </p:nvPicPr>
        <p:blipFill>
          <a:blip/>
          <a:srcRect/>
          <a:stretch>
            <a:fillRect/>
          </a:stretch>
        </p:blipFill>
        <p:spPr>
          <a:xfrm rot="16200000" flipH="1" flipV="1">
            <a:off x="6356218" y="2592435"/>
            <a:ext cx="2196439" cy="2649775"/>
          </a:xfrm>
          <a:prstGeom prst="rect">
            <a:avLst/>
          </a:prstGeom>
        </p:spPr>
      </p:pic>
      <p:pic>
        <p:nvPicPr>
          <p:cNvPr id="28" name="图片 7"/>
          <p:cNvPicPr>
            <a:picLocks noChangeAspect="1"/>
          </p:cNvPicPr>
          <p:nvPr userDrawn="1"/>
        </p:nvPicPr>
        <p:blipFill>
          <a:blip/>
          <a:srcRect/>
          <a:stretch>
            <a:fillRect/>
          </a:stretch>
        </p:blipFill>
        <p:spPr>
          <a:xfrm rot="16200000">
            <a:off x="3641250" y="2590692"/>
            <a:ext cx="2196439" cy="2649775"/>
          </a:xfrm>
          <a:prstGeom prst="rect">
            <a:avLst/>
          </a:prstGeom>
        </p:spPr>
      </p:pic>
      <p:sp>
        <p:nvSpPr>
          <p:cNvPr id="11" name="文本占位符 2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81600" y="2167805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81600" y="1789240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181600" y="5334227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181600" y="495566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638427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638427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754220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754220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3"/>
          <p:cNvSpPr/>
          <p:nvPr/>
        </p:nvSpPr>
        <p:spPr>
          <a:xfrm>
            <a:off x="6550911" y="1906318"/>
            <a:ext cx="2351648" cy="2351648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14"/>
          <p:cNvSpPr/>
          <p:nvPr/>
        </p:nvSpPr>
        <p:spPr>
          <a:xfrm>
            <a:off x="8582535" y="2085415"/>
            <a:ext cx="2172551" cy="2172551"/>
          </a:xfrm>
          <a:prstGeom prst="ellipse">
            <a:avLst/>
          </a:prstGeom>
          <a:solidFill>
            <a:srgbClr val="00B3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7"/>
          <p:cNvSpPr/>
          <p:nvPr/>
        </p:nvSpPr>
        <p:spPr>
          <a:xfrm>
            <a:off x="2962471" y="1656141"/>
            <a:ext cx="2601825" cy="2601826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20"/>
          <p:cNvSpPr/>
          <p:nvPr/>
        </p:nvSpPr>
        <p:spPr>
          <a:xfrm>
            <a:off x="5244272" y="2631304"/>
            <a:ext cx="1626662" cy="162666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id-ID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Oval 2"/>
          <p:cNvSpPr/>
          <p:nvPr/>
        </p:nvSpPr>
        <p:spPr>
          <a:xfrm>
            <a:off x="1436914" y="2412384"/>
            <a:ext cx="1845582" cy="184558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26"/>
          <p:cNvSpPr/>
          <p:nvPr userDrawn="1"/>
        </p:nvSpPr>
        <p:spPr>
          <a:xfrm>
            <a:off x="0" y="3279454"/>
            <a:ext cx="12192000" cy="3578546"/>
          </a:xfrm>
          <a:prstGeom prst="rect">
            <a:avLst/>
          </a:prstGeom>
          <a:solidFill>
            <a:srgbClr val="E6F7FA"/>
          </a:solidFill>
          <a:ln>
            <a:noFill/>
          </a:ln>
          <a:effectLst>
            <a:outerShdw blurRad="622300" dist="292100" dir="16200000" sx="94000" sy="94000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14554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031E2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3818155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420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343257" y="258349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6812335" y="26313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1702586" y="2857758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06387" y="2866522"/>
            <a:ext cx="976566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9014754" y="2866522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788526" y="2103880"/>
            <a:ext cx="8742314" cy="3217422"/>
            <a:chOff x="2175241" y="2429082"/>
            <a:chExt cx="7968884" cy="2932778"/>
          </a:xfrm>
        </p:grpSpPr>
        <p:sp>
          <p:nvSpPr>
            <p:cNvPr id="7" name="Freeform 5"/>
            <p:cNvSpPr/>
            <p:nvPr/>
          </p:nvSpPr>
          <p:spPr bwMode="auto">
            <a:xfrm>
              <a:off x="7715206" y="2985075"/>
              <a:ext cx="1832616" cy="1822284"/>
            </a:xfrm>
            <a:custGeom>
              <a:avLst/>
              <a:gdLst>
                <a:gd name="T0" fmla="*/ 0 w 320"/>
                <a:gd name="T1" fmla="*/ 189 h 316"/>
                <a:gd name="T2" fmla="*/ 200 w 320"/>
                <a:gd name="T3" fmla="*/ 0 h 316"/>
                <a:gd name="T4" fmla="*/ 320 w 320"/>
                <a:gd name="T5" fmla="*/ 127 h 316"/>
                <a:gd name="T6" fmla="*/ 120 w 320"/>
                <a:gd name="T7" fmla="*/ 316 h 316"/>
                <a:gd name="T8" fmla="*/ 0 w 320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6">
                  <a:moveTo>
                    <a:pt x="0" y="189"/>
                  </a:moveTo>
                  <a:cubicBezTo>
                    <a:pt x="102" y="179"/>
                    <a:pt x="185" y="101"/>
                    <a:pt x="200" y="0"/>
                  </a:cubicBezTo>
                  <a:cubicBezTo>
                    <a:pt x="320" y="127"/>
                    <a:pt x="320" y="127"/>
                    <a:pt x="320" y="127"/>
                  </a:cubicBezTo>
                  <a:cubicBezTo>
                    <a:pt x="218" y="137"/>
                    <a:pt x="135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731814" y="2991272"/>
              <a:ext cx="1799559" cy="1816087"/>
            </a:xfrm>
            <a:custGeom>
              <a:avLst/>
              <a:gdLst>
                <a:gd name="T0" fmla="*/ 127 w 314"/>
                <a:gd name="T1" fmla="*/ 0 h 315"/>
                <a:gd name="T2" fmla="*/ 314 w 314"/>
                <a:gd name="T3" fmla="*/ 189 h 315"/>
                <a:gd name="T4" fmla="*/ 187 w 314"/>
                <a:gd name="T5" fmla="*/ 315 h 315"/>
                <a:gd name="T6" fmla="*/ 0 w 314"/>
                <a:gd name="T7" fmla="*/ 125 h 315"/>
                <a:gd name="T8" fmla="*/ 127 w 314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315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370219" y="2985075"/>
              <a:ext cx="1838814" cy="1822284"/>
            </a:xfrm>
            <a:custGeom>
              <a:avLst/>
              <a:gdLst>
                <a:gd name="T0" fmla="*/ 0 w 321"/>
                <a:gd name="T1" fmla="*/ 189 h 316"/>
                <a:gd name="T2" fmla="*/ 201 w 321"/>
                <a:gd name="T3" fmla="*/ 0 h 316"/>
                <a:gd name="T4" fmla="*/ 321 w 321"/>
                <a:gd name="T5" fmla="*/ 127 h 316"/>
                <a:gd name="T6" fmla="*/ 120 w 321"/>
                <a:gd name="T7" fmla="*/ 316 h 316"/>
                <a:gd name="T8" fmla="*/ 0 w 321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316">
                  <a:moveTo>
                    <a:pt x="0" y="189"/>
                  </a:moveTo>
                  <a:cubicBezTo>
                    <a:pt x="102" y="179"/>
                    <a:pt x="185" y="101"/>
                    <a:pt x="201" y="0"/>
                  </a:cubicBezTo>
                  <a:cubicBezTo>
                    <a:pt x="321" y="127"/>
                    <a:pt x="321" y="127"/>
                    <a:pt x="321" y="127"/>
                  </a:cubicBezTo>
                  <a:cubicBezTo>
                    <a:pt x="218" y="137"/>
                    <a:pt x="136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6054075" y="2985075"/>
              <a:ext cx="1809888" cy="1822284"/>
            </a:xfrm>
            <a:custGeom>
              <a:avLst/>
              <a:gdLst>
                <a:gd name="T0" fmla="*/ 126 w 316"/>
                <a:gd name="T1" fmla="*/ 0 h 316"/>
                <a:gd name="T2" fmla="*/ 316 w 316"/>
                <a:gd name="T3" fmla="*/ 190 h 316"/>
                <a:gd name="T4" fmla="*/ 191 w 316"/>
                <a:gd name="T5" fmla="*/ 316 h 316"/>
                <a:gd name="T6" fmla="*/ 0 w 316"/>
                <a:gd name="T7" fmla="*/ 126 h 316"/>
                <a:gd name="T8" fmla="*/ 126 w 316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6">
                  <a:moveTo>
                    <a:pt x="126" y="0"/>
                  </a:moveTo>
                  <a:cubicBezTo>
                    <a:pt x="140" y="99"/>
                    <a:pt x="218" y="176"/>
                    <a:pt x="316" y="190"/>
                  </a:cubicBezTo>
                  <a:cubicBezTo>
                    <a:pt x="191" y="316"/>
                    <a:pt x="191" y="316"/>
                    <a:pt x="191" y="316"/>
                  </a:cubicBezTo>
                  <a:cubicBezTo>
                    <a:pt x="176" y="217"/>
                    <a:pt x="99" y="140"/>
                    <a:pt x="0" y="126"/>
                  </a:cubicBezTo>
                  <a:lnTo>
                    <a:pt x="12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1" name="Oval 36"/>
            <p:cNvSpPr/>
            <p:nvPr/>
          </p:nvSpPr>
          <p:spPr>
            <a:xfrm>
              <a:off x="2175241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2" name="Oval 37"/>
            <p:cNvSpPr/>
            <p:nvPr/>
          </p:nvSpPr>
          <p:spPr>
            <a:xfrm>
              <a:off x="549130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3" name="Oval 39"/>
            <p:cNvSpPr/>
            <p:nvPr/>
          </p:nvSpPr>
          <p:spPr>
            <a:xfrm>
              <a:off x="885202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4" name="Oval 42"/>
            <p:cNvSpPr/>
            <p:nvPr/>
          </p:nvSpPr>
          <p:spPr>
            <a:xfrm>
              <a:off x="7140833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defTabSz="457200" fontAlgn="auto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6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</a:endParaRPr>
            </a:p>
          </p:txBody>
        </p:sp>
        <p:sp>
          <p:nvSpPr>
            <p:cNvPr id="15" name="Oval 43"/>
            <p:cNvSpPr/>
            <p:nvPr/>
          </p:nvSpPr>
          <p:spPr>
            <a:xfrm>
              <a:off x="3786312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</p:grpSp>
      <p:sp>
        <p:nvSpPr>
          <p:cNvPr id="1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3401833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3401833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063141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063141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5196513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196513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459409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59409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8904638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8904638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9" name="图形 28" descr="网络 纯色填充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2143122" y="2441383"/>
            <a:ext cx="720000" cy="720000"/>
          </a:xfrm>
          <a:prstGeom prst="rect">
            <a:avLst/>
          </a:prstGeom>
        </p:spPr>
      </p:pic>
      <p:pic>
        <p:nvPicPr>
          <p:cNvPr id="31" name="图形 30" descr="循环流程图 纯色填充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7583332" y="4226611"/>
            <a:ext cx="720000" cy="720000"/>
          </a:xfrm>
          <a:prstGeom prst="rect">
            <a:avLst/>
          </a:prstGeom>
        </p:spPr>
      </p:pic>
      <p:pic>
        <p:nvPicPr>
          <p:cNvPr id="34" name="图形 33" descr="网络 纯色填充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5750913" y="2441383"/>
            <a:ext cx="720000" cy="720000"/>
          </a:xfrm>
          <a:prstGeom prst="rect">
            <a:avLst/>
          </a:prstGeom>
        </p:spPr>
      </p:pic>
      <p:pic>
        <p:nvPicPr>
          <p:cNvPr id="35" name="图形 34" descr="网络 纯色填充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9459038" y="2441383"/>
            <a:ext cx="720000" cy="720000"/>
          </a:xfrm>
          <a:prstGeom prst="rect">
            <a:avLst/>
          </a:prstGeom>
        </p:spPr>
      </p:pic>
      <p:pic>
        <p:nvPicPr>
          <p:cNvPr id="36" name="图形 35" descr="循环流程图 纯色填充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905598" y="4226611"/>
            <a:ext cx="720000" cy="720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Freeform 5"/>
          <p:cNvSpPr/>
          <p:nvPr userDrawn="1"/>
        </p:nvSpPr>
        <p:spPr bwMode="auto">
          <a:xfrm rot="16200000">
            <a:off x="4020967" y="619313"/>
            <a:ext cx="4148975" cy="8427602"/>
          </a:xfrm>
          <a:custGeom>
            <a:avLst/>
            <a:gdLst>
              <a:gd name="T0" fmla="*/ 0 w 483"/>
              <a:gd name="T1" fmla="*/ 965 h 965"/>
              <a:gd name="T2" fmla="*/ 483 w 483"/>
              <a:gd name="T3" fmla="*/ 482 h 965"/>
              <a:gd name="T4" fmla="*/ 0 w 483"/>
              <a:gd name="T5" fmla="*/ 0 h 965"/>
              <a:gd name="T6" fmla="*/ 0 w 483"/>
              <a:gd name="T7" fmla="*/ 965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3" h="965">
                <a:moveTo>
                  <a:pt x="0" y="965"/>
                </a:moveTo>
                <a:cubicBezTo>
                  <a:pt x="267" y="965"/>
                  <a:pt x="483" y="749"/>
                  <a:pt x="483" y="482"/>
                </a:cubicBezTo>
                <a:cubicBezTo>
                  <a:pt x="483" y="216"/>
                  <a:pt x="267" y="0"/>
                  <a:pt x="0" y="0"/>
                </a:cubicBezTo>
                <a:lnTo>
                  <a:pt x="0" y="965"/>
                </a:lnTo>
                <a:close/>
              </a:path>
            </a:pathLst>
          </a:custGeom>
          <a:noFill/>
          <a:ln>
            <a:solidFill>
              <a:schemeClr val="tx1">
                <a:alpha val="2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val 8"/>
          <p:cNvSpPr/>
          <p:nvPr userDrawn="1"/>
        </p:nvSpPr>
        <p:spPr>
          <a:xfrm rot="10800000">
            <a:off x="1981273" y="562696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Oval 9"/>
          <p:cNvSpPr/>
          <p:nvPr userDrawn="1"/>
        </p:nvSpPr>
        <p:spPr>
          <a:xfrm rot="10800000">
            <a:off x="2916705" y="3988990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Oval 10"/>
          <p:cNvSpPr/>
          <p:nvPr userDrawn="1"/>
        </p:nvSpPr>
        <p:spPr>
          <a:xfrm rot="10800000">
            <a:off x="9118454" y="4035733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Oval 11"/>
          <p:cNvSpPr/>
          <p:nvPr userDrawn="1"/>
        </p:nvSpPr>
        <p:spPr>
          <a:xfrm rot="10800000">
            <a:off x="10046573" y="562558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Oval 12"/>
          <p:cNvSpPr/>
          <p:nvPr userDrawn="1"/>
        </p:nvSpPr>
        <p:spPr>
          <a:xfrm rot="10800000">
            <a:off x="6004158" y="2651289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2269812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2269812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3184212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184212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181600" y="3326110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181600" y="2947545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7178990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7178990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118153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18153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4424798" y="2126861"/>
            <a:ext cx="3240000" cy="3240000"/>
            <a:chOff x="4388172" y="2235404"/>
            <a:chExt cx="3240000" cy="3240000"/>
          </a:xfrm>
        </p:grpSpPr>
        <p:sp>
          <p:nvSpPr>
            <p:cNvPr id="7" name="图形"/>
            <p:cNvSpPr>
              <a:spLocks noChangeArrowheads="1"/>
            </p:cNvSpPr>
            <p:nvPr/>
          </p:nvSpPr>
          <p:spPr bwMode="auto">
            <a:xfrm>
              <a:off x="4748172" y="2595404"/>
              <a:ext cx="2520000" cy="2520000"/>
            </a:xfrm>
            <a:prstGeom prst="ellipse">
              <a:avLst/>
            </a:prstGeom>
            <a:noFill/>
            <a:ln w="9525">
              <a:solidFill>
                <a:srgbClr val="00B3CC">
                  <a:alpha val="5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5097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8" name="图形"/>
            <p:cNvSpPr>
              <a:spLocks noChangeArrowheads="1"/>
            </p:cNvSpPr>
            <p:nvPr/>
          </p:nvSpPr>
          <p:spPr bwMode="auto">
            <a:xfrm>
              <a:off x="4388172" y="2235404"/>
              <a:ext cx="3240000" cy="3240000"/>
            </a:xfrm>
            <a:prstGeom prst="ellipse">
              <a:avLst/>
            </a:prstGeom>
            <a:noFill/>
            <a:ln w="6350">
              <a:solidFill>
                <a:srgbClr val="00B3CC">
                  <a:alpha val="4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9" name="图形"/>
            <p:cNvSpPr>
              <a:spLocks noChangeArrowheads="1"/>
            </p:cNvSpPr>
            <p:nvPr/>
          </p:nvSpPr>
          <p:spPr bwMode="auto">
            <a:xfrm>
              <a:off x="5108172" y="2955404"/>
              <a:ext cx="1800000" cy="1800000"/>
            </a:xfrm>
            <a:prstGeom prst="ellipse">
              <a:avLst/>
            </a:prstGeom>
            <a:noFill/>
            <a:ln w="12700">
              <a:solidFill>
                <a:srgbClr val="00B3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10" name="图形"/>
            <p:cNvSpPr>
              <a:spLocks noChangeArrowheads="1"/>
            </p:cNvSpPr>
            <p:nvPr/>
          </p:nvSpPr>
          <p:spPr bwMode="auto">
            <a:xfrm>
              <a:off x="5468172" y="3315404"/>
              <a:ext cx="1080000" cy="1080000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 sz="2800" b="1" dirty="0">
                <a:solidFill>
                  <a:srgbClr val="FFFFFF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</p:grpSp>
      <p:cxnSp>
        <p:nvCxnSpPr>
          <p:cNvPr id="35" name="图形"/>
          <p:cNvCxnSpPr/>
          <p:nvPr/>
        </p:nvCxnSpPr>
        <p:spPr>
          <a:xfrm flipH="1">
            <a:off x="504000" y="283696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448050" y="1861555"/>
            <a:ext cx="715010" cy="715010"/>
            <a:chOff x="3448050" y="2005330"/>
            <a:chExt cx="715010" cy="715010"/>
          </a:xfrm>
        </p:grpSpPr>
        <p:sp>
          <p:nvSpPr>
            <p:cNvPr id="37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38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9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40" name="图形"/>
              <p:cNvCxnSpPr>
                <a:stCxn id="39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图形"/>
          <p:cNvCxnSpPr/>
          <p:nvPr/>
        </p:nvCxnSpPr>
        <p:spPr>
          <a:xfrm flipH="1">
            <a:off x="504000" y="430523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448050" y="3329825"/>
            <a:ext cx="715010" cy="715010"/>
            <a:chOff x="3448050" y="2005330"/>
            <a:chExt cx="715010" cy="715010"/>
          </a:xfrm>
        </p:grpSpPr>
        <p:sp>
          <p:nvSpPr>
            <p:cNvPr id="2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31" name="图形"/>
              <p:cNvCxnSpPr>
                <a:stCxn id="3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图形"/>
          <p:cNvCxnSpPr/>
          <p:nvPr/>
        </p:nvCxnSpPr>
        <p:spPr>
          <a:xfrm flipH="1">
            <a:off x="504000" y="577350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448050" y="4798095"/>
            <a:ext cx="715010" cy="715010"/>
            <a:chOff x="3448050" y="2005330"/>
            <a:chExt cx="715010" cy="715010"/>
          </a:xfrm>
        </p:grpSpPr>
        <p:sp>
          <p:nvSpPr>
            <p:cNvPr id="1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2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22" name="图形"/>
              <p:cNvCxnSpPr>
                <a:stCxn id="2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6" name="图形"/>
          <p:cNvCxnSpPr/>
          <p:nvPr/>
        </p:nvCxnSpPr>
        <p:spPr>
          <a:xfrm flipH="1">
            <a:off x="7926536" y="280545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 rot="10800000">
            <a:off x="8024116" y="1830042"/>
            <a:ext cx="715010" cy="715010"/>
            <a:chOff x="3448050" y="2005330"/>
            <a:chExt cx="715010" cy="715010"/>
          </a:xfrm>
        </p:grpSpPr>
        <p:sp>
          <p:nvSpPr>
            <p:cNvPr id="6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7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71" name="图形"/>
              <p:cNvCxnSpPr>
                <a:stCxn id="7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图形"/>
          <p:cNvCxnSpPr/>
          <p:nvPr/>
        </p:nvCxnSpPr>
        <p:spPr>
          <a:xfrm flipH="1">
            <a:off x="7926536" y="427372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 rot="10800000">
            <a:off x="8024116" y="3298312"/>
            <a:ext cx="715010" cy="715010"/>
            <a:chOff x="3448050" y="2005330"/>
            <a:chExt cx="715010" cy="715010"/>
          </a:xfrm>
        </p:grpSpPr>
        <p:sp>
          <p:nvSpPr>
            <p:cNvPr id="5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6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62" name="图形"/>
              <p:cNvCxnSpPr>
                <a:stCxn id="6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8" name="图形"/>
          <p:cNvCxnSpPr/>
          <p:nvPr/>
        </p:nvCxnSpPr>
        <p:spPr>
          <a:xfrm flipH="1">
            <a:off x="7926536" y="574199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 rot="10800000">
            <a:off x="8024116" y="4766582"/>
            <a:ext cx="715010" cy="715010"/>
            <a:chOff x="3448050" y="2005330"/>
            <a:chExt cx="715010" cy="715010"/>
          </a:xfrm>
        </p:grpSpPr>
        <p:sp>
          <p:nvSpPr>
            <p:cNvPr id="50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51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52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53" name="图形"/>
              <p:cNvCxnSpPr>
                <a:stCxn id="52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622452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22452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622452" y="3681668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622452" y="3303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0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622452" y="514993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622452" y="477137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2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987345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987345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4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8987345" y="3682481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5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8987345" y="3303916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6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8987345" y="514514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987345" y="476658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0070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85994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185996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552573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178497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178499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60070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85994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85996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552573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178497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178499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560070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185994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185996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6552573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7178497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7178499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33800" y="0"/>
            <a:ext cx="8458200" cy="6858000"/>
          </a:xfrm>
          <a:custGeom>
            <a:avLst/>
            <a:gdLst>
              <a:gd name="connsiteX0" fmla="*/ 0 w 12687300"/>
              <a:gd name="connsiteY0" fmla="*/ 0 h 5829300"/>
              <a:gd name="connsiteX1" fmla="*/ 12687300 w 12687300"/>
              <a:gd name="connsiteY1" fmla="*/ 0 h 5829300"/>
              <a:gd name="connsiteX2" fmla="*/ 12687300 w 12687300"/>
              <a:gd name="connsiteY2" fmla="*/ 5829300 h 5829300"/>
              <a:gd name="connsiteX3" fmla="*/ 0 w 12687300"/>
              <a:gd name="connsiteY3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7300" h="5829300">
                <a:moveTo>
                  <a:pt x="0" y="0"/>
                </a:moveTo>
                <a:lnTo>
                  <a:pt x="12687300" y="0"/>
                </a:lnTo>
                <a:lnTo>
                  <a:pt x="12687300" y="5829300"/>
                </a:lnTo>
                <a:lnTo>
                  <a:pt x="0" y="5829300"/>
                </a:lnTo>
                <a:close/>
              </a:path>
            </a:pathLst>
          </a:custGeom>
          <a:solidFill>
            <a:srgbClr val="DAEE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 dirty="0"/>
          </a:p>
        </p:txBody>
      </p:sp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Image 0" descr="preencoded.png"/>
          <p:cNvSpPr/>
          <p:nvPr userDrawn="1"/>
        </p:nvSpPr>
        <p:spPr>
          <a:xfrm>
            <a:off x="508000" y="1962150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07999" y="2044260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508000" y="1577985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Image 0" descr="preencoded.png"/>
          <p:cNvSpPr/>
          <p:nvPr userDrawn="1"/>
        </p:nvSpPr>
        <p:spPr>
          <a:xfrm>
            <a:off x="508000" y="3966955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07999" y="4049065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3582790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4178300" y="2969154"/>
            <a:ext cx="7505700" cy="6350"/>
            <a:chOff x="6267450" y="5972175"/>
            <a:chExt cx="11258550" cy="9525"/>
          </a:xfrm>
        </p:grpSpPr>
        <p:sp>
          <p:nvSpPr>
            <p:cNvPr id="48" name="任意多边形: 形状 47"/>
            <p:cNvSpPr/>
            <p:nvPr/>
          </p:nvSpPr>
          <p:spPr>
            <a:xfrm>
              <a:off x="6267450" y="5972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8448675" y="5972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 userDrawn="1"/>
        </p:nvGrpSpPr>
        <p:grpSpPr>
          <a:xfrm>
            <a:off x="4178300" y="3982508"/>
            <a:ext cx="7505700" cy="6350"/>
            <a:chOff x="6267450" y="7115175"/>
            <a:chExt cx="11258550" cy="9525"/>
          </a:xfrm>
        </p:grpSpPr>
        <p:sp>
          <p:nvSpPr>
            <p:cNvPr id="51" name="任意多边形: 形状 50"/>
            <p:cNvSpPr/>
            <p:nvPr/>
          </p:nvSpPr>
          <p:spPr>
            <a:xfrm>
              <a:off x="6267450" y="7115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8448675" y="7115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 userDrawn="1"/>
        </p:nvGrpSpPr>
        <p:grpSpPr>
          <a:xfrm>
            <a:off x="4178300" y="4995862"/>
            <a:ext cx="7505700" cy="6350"/>
            <a:chOff x="6267450" y="8258175"/>
            <a:chExt cx="11258550" cy="9525"/>
          </a:xfrm>
        </p:grpSpPr>
        <p:sp>
          <p:nvSpPr>
            <p:cNvPr id="54" name="任意多边形: 形状 53"/>
            <p:cNvSpPr/>
            <p:nvPr/>
          </p:nvSpPr>
          <p:spPr>
            <a:xfrm>
              <a:off x="6267450" y="8258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8448675" y="8258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 userDrawn="1"/>
        </p:nvGrpSpPr>
        <p:grpSpPr>
          <a:xfrm>
            <a:off x="4178300" y="6009217"/>
            <a:ext cx="7505700" cy="6350"/>
            <a:chOff x="6267450" y="9401175"/>
            <a:chExt cx="11258550" cy="9525"/>
          </a:xfrm>
        </p:grpSpPr>
        <p:sp>
          <p:nvSpPr>
            <p:cNvPr id="57" name="任意多边形: 形状 56"/>
            <p:cNvSpPr/>
            <p:nvPr/>
          </p:nvSpPr>
          <p:spPr>
            <a:xfrm>
              <a:off x="6267450" y="9401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8448675" y="9401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</p:grpSp>
      <p:cxnSp>
        <p:nvCxnSpPr>
          <p:cNvPr id="59" name="直接连接符 58"/>
          <p:cNvCxnSpPr/>
          <p:nvPr userDrawn="1"/>
        </p:nvCxnSpPr>
        <p:spPr>
          <a:xfrm>
            <a:off x="4178300" y="1962150"/>
            <a:ext cx="7505669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32388" y="21301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5632388" y="3096501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21578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3124201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4178300" y="211634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4178300" y="3082651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5632388" y="410187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412957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4178300" y="408802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5632388" y="513155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515925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178300" y="511770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1958150" y="188638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1958150" y="28136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188638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28136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504062" y="188638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504062" y="281369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1958150" y="3753987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3753987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4062" y="3753987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en-US" altLang="zh-CN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1961740" y="4674454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4674454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507652" y="4674454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04000" y="1746555"/>
            <a:ext cx="11184000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/>
          <p:cNvSpPr/>
          <p:nvPr userDrawn="1"/>
        </p:nvSpPr>
        <p:spPr>
          <a:xfrm>
            <a:off x="504000" y="267257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958150" y="267257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504000" y="359528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958150" y="359528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504000" y="4522501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1958150" y="4522501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>
            <a:off x="504000" y="5449722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1958150" y="5449722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1961740" y="5606905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46" hasCustomPrompt="1"/>
          </p:nvPr>
        </p:nvSpPr>
        <p:spPr>
          <a:xfrm>
            <a:off x="7755400" y="5606905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507652" y="5606905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0109644" y="6308090"/>
            <a:ext cx="1726755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en-US" altLang="zh-CN" sz="935" kern="0" dirty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North Valley Research, INC</a:t>
            </a:r>
            <a:endParaRPr lang="zh-CN" altLang="en-US" sz="935" kern="0" dirty="0">
              <a:solidFill>
                <a:srgbClr val="0E3C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图表占位符 8"/>
          <p:cNvSpPr>
            <a:spLocks noGrp="1"/>
          </p:cNvSpPr>
          <p:nvPr>
            <p:ph type="chart" sz="quarter" idx="10"/>
          </p:nvPr>
        </p:nvSpPr>
        <p:spPr>
          <a:xfrm>
            <a:off x="501650" y="1477963"/>
            <a:ext cx="11080750" cy="22256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0" name="矩形: 圆角 9"/>
          <p:cNvSpPr/>
          <p:nvPr userDrawn="1"/>
        </p:nvSpPr>
        <p:spPr>
          <a:xfrm>
            <a:off x="0" y="4030980"/>
            <a:ext cx="12192000" cy="282702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01557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2192563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2192565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图表占位符 11"/>
          <p:cNvSpPr>
            <a:spLocks noGrp="1"/>
          </p:cNvSpPr>
          <p:nvPr>
            <p:ph type="chart" sz="quarter" idx="23"/>
          </p:nvPr>
        </p:nvSpPr>
        <p:spPr>
          <a:xfrm>
            <a:off x="4347209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6038215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6038217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7" name="图表占位符 11"/>
          <p:cNvSpPr>
            <a:spLocks noGrp="1"/>
          </p:cNvSpPr>
          <p:nvPr>
            <p:ph type="chart" sz="quarter" idx="26"/>
          </p:nvPr>
        </p:nvSpPr>
        <p:spPr>
          <a:xfrm>
            <a:off x="8192861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9883867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9883869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866037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1017590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9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802317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5866037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866038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5866037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5866038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802317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02317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802317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22" hasCustomPrompt="1"/>
          </p:nvPr>
        </p:nvSpPr>
        <p:spPr>
          <a:xfrm>
            <a:off x="802317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任意多边形: 形状 19"/>
          <p:cNvSpPr/>
          <p:nvPr userDrawn="1"/>
        </p:nvSpPr>
        <p:spPr>
          <a:xfrm>
            <a:off x="1017590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017590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1017590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17590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86603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802317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17590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3988399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7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9282170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663805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3988400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663805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9282171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133874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33874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7022625" y="1590222"/>
            <a:ext cx="4591360" cy="45913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Line"/>
          <p:cNvSpPr/>
          <p:nvPr/>
        </p:nvSpPr>
        <p:spPr>
          <a:xfrm>
            <a:off x="495300" y="4636415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495300" y="4322893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285744" y="4322893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9" name="Line"/>
          <p:cNvSpPr/>
          <p:nvPr userDrawn="1"/>
        </p:nvSpPr>
        <p:spPr>
          <a:xfrm>
            <a:off x="495300" y="5075327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0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495300" y="4761805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3285744" y="4761805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32" name="Line"/>
          <p:cNvSpPr/>
          <p:nvPr userDrawn="1"/>
        </p:nvSpPr>
        <p:spPr>
          <a:xfrm>
            <a:off x="495300" y="5514238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495300" y="5200716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3285744" y="5200716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: 圆角 248"/>
          <p:cNvSpPr/>
          <p:nvPr userDrawn="1"/>
        </p:nvSpPr>
        <p:spPr>
          <a:xfrm>
            <a:off x="5318760" y="0"/>
            <a:ext cx="6873240" cy="685800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25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5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5996387" y="1590223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3" name="图表占位符 11"/>
          <p:cNvSpPr>
            <a:spLocks noGrp="1"/>
          </p:cNvSpPr>
          <p:nvPr>
            <p:ph type="chart" sz="quarter" idx="25"/>
          </p:nvPr>
        </p:nvSpPr>
        <p:spPr>
          <a:xfrm>
            <a:off x="5996387" y="4019015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4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6" name="标题 15"/>
          <p:cNvSpPr txBox="1"/>
          <p:nvPr userDrawn="1"/>
        </p:nvSpPr>
        <p:spPr>
          <a:xfrm>
            <a:off x="501556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57" name="标题 15"/>
          <p:cNvSpPr txBox="1"/>
          <p:nvPr userDrawn="1"/>
        </p:nvSpPr>
        <p:spPr>
          <a:xfrm>
            <a:off x="497493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58" name="直接连接符 257"/>
          <p:cNvCxnSpPr/>
          <p:nvPr userDrawn="1"/>
        </p:nvCxnSpPr>
        <p:spPr>
          <a:xfrm flipV="1">
            <a:off x="2169658" y="4664759"/>
            <a:ext cx="0" cy="4094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标题 15"/>
          <p:cNvSpPr txBox="1"/>
          <p:nvPr userDrawn="1"/>
        </p:nvSpPr>
        <p:spPr>
          <a:xfrm>
            <a:off x="2731849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60" name="标题 15"/>
          <p:cNvSpPr txBox="1"/>
          <p:nvPr userDrawn="1"/>
        </p:nvSpPr>
        <p:spPr>
          <a:xfrm>
            <a:off x="2763268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蓝色的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黑暗里有星球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010400" y="2226262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OPPOSans L" panose="00020600040101010101" pitchFamily="18" charset="-122"/>
                <a:ea typeface="OPPOSans L" panose="00020600040101010101" pitchFamily="18" charset="-122"/>
                <a:cs typeface="OPPOSans L" panose="00020600040101010101" pitchFamily="18" charset="-122"/>
              </a:rPr>
              <a:t>感谢观看</a:t>
            </a:r>
            <a:endParaRPr lang="zh-CN" altLang="en-US" sz="8000" dirty="0">
              <a:solidFill>
                <a:schemeClr val="bg1"/>
              </a:solidFill>
              <a:latin typeface="OPPOSans L" panose="00020600040101010101" pitchFamily="18" charset="-122"/>
              <a:ea typeface="OPPOSans L" panose="00020600040101010101" pitchFamily="18" charset="-122"/>
              <a:cs typeface="OPPOSans L" panose="00020600040101010101" pitchFamily="18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76.xml"/><Relationship Id="rId39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9.xml"/><Relationship Id="rId4" Type="http://schemas.openxmlformats.org/officeDocument/2006/relationships/slideLayout" Target="../slideLayouts/slideLayout80.xml"/><Relationship Id="rId5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00.xml"/><Relationship Id="rId25" Type="http://schemas.openxmlformats.org/officeDocument/2006/relationships/slideLayout" Target="../slideLayouts/slideLayout101.xml"/><Relationship Id="rId26" Type="http://schemas.openxmlformats.org/officeDocument/2006/relationships/slideLayout" Target="../slideLayouts/slideLayout102.xml"/><Relationship Id="rId27" Type="http://schemas.openxmlformats.org/officeDocument/2006/relationships/slideLayout" Target="../slideLayouts/slideLayout103.xml"/><Relationship Id="rId28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6.xml"/><Relationship Id="rId31" Type="http://schemas.openxmlformats.org/officeDocument/2006/relationships/slideLayout" Target="../slideLayouts/slideLayout107.xml"/><Relationship Id="rId32" Type="http://schemas.openxmlformats.org/officeDocument/2006/relationships/slideLayout" Target="../slideLayouts/slideLayout108.xml"/><Relationship Id="rId33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110.xml"/><Relationship Id="rId35" Type="http://schemas.openxmlformats.org/officeDocument/2006/relationships/slideLayout" Target="../slideLayouts/slideLayout111.xml"/><Relationship Id="rId36" Type="http://schemas.openxmlformats.org/officeDocument/2006/relationships/slideLayout" Target="../slideLayouts/slideLayout112.xml"/><Relationship Id="rId37" Type="http://schemas.openxmlformats.org/officeDocument/2006/relationships/slideLayout" Target="../slideLayouts/slideLayout113.xml"/><Relationship Id="rId38" Type="http://schemas.openxmlformats.org/officeDocument/2006/relationships/slideLayout" Target="../slideLayouts/slideLayout114.xml"/><Relationship Id="rId3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  <p:sldLayoutId id="2147483716" r:id="rId29"/>
    <p:sldLayoutId id="2147483717" r:id="rId30"/>
    <p:sldLayoutId id="2147483718" r:id="rId31"/>
    <p:sldLayoutId id="2147483719" r:id="rId32"/>
    <p:sldLayoutId id="2147483720" r:id="rId33"/>
    <p:sldLayoutId id="2147483721" r:id="rId34"/>
    <p:sldLayoutId id="2147483722" r:id="rId35"/>
    <p:sldLayoutId id="2147483723" r:id="rId36"/>
    <p:sldLayoutId id="2147483724" r:id="rId37"/>
    <p:sldLayoutId id="2147483725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  <p:sldLayoutId id="2147483761" r:id="rId35"/>
    <p:sldLayoutId id="2147483762" r:id="rId36"/>
    <p:sldLayoutId id="2147483763" r:id="rId37"/>
    <p:sldLayoutId id="2147483764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slideLayout" Target="../slideLayouts/slideLayout5.xml"/><Relationship Id="rId3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481071" y="1711098"/>
            <a:ext cx="10290016" cy="701731"/>
          </a:xfrm>
        </p:spPr>
        <p:txBody>
          <a:bodyPr/>
          <a:lstStyle/>
          <a:p>
            <a:r>
              <a:rPr lang="en-US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【A</a:t>
            </a:r>
            <a:r>
              <a:rPr lang="en-GB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I+</a:t>
            </a:r>
            <a:r>
              <a:rPr lang="zh-CN" altLang="en-US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嵌入式</a:t>
            </a:r>
            <a:r>
              <a:rPr lang="en-US" altLang="zh-CN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】</a:t>
            </a:r>
            <a:r>
              <a:rPr lang="zh-CN" altLang="en-US" sz="4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：让单片机学会思考</a:t>
            </a:r>
            <a:endParaRPr lang="zh-CN" altLang="en-US" sz="4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52140" y="5175931"/>
            <a:ext cx="1211901" cy="1418432"/>
            <a:chOff x="2156460" y="2537392"/>
            <a:chExt cx="2161540" cy="2529908"/>
          </a:xfrm>
        </p:grpSpPr>
        <p:sp>
          <p:nvSpPr>
            <p:cNvPr id="16" name="矩形 15"/>
            <p:cNvSpPr/>
            <p:nvPr/>
          </p:nvSpPr>
          <p:spPr>
            <a:xfrm>
              <a:off x="2156460" y="2537392"/>
              <a:ext cx="2161540" cy="2529908"/>
            </a:xfrm>
            <a:prstGeom prst="rect">
              <a:avLst/>
            </a:prstGeom>
            <a:solidFill>
              <a:srgbClr val="344054"/>
            </a:solidFill>
            <a:ln>
              <a:noFill/>
            </a:ln>
            <a:effectLst>
              <a:glow rad="76200">
                <a:schemeClr val="bg2">
                  <a:lumMod val="90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>
                <a:ln w="22225">
                  <a:solidFill>
                    <a:srgbClr val="E6FAFB"/>
                  </a:solidFill>
                  <a:prstDash val="solid"/>
                </a:ln>
                <a:solidFill>
                  <a:schemeClr val="bg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224773" y="4661884"/>
              <a:ext cx="1970498" cy="329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b="1" dirty="0">
                  <a:solidFill>
                    <a:srgbClr val="2B869D"/>
                  </a:solidFill>
                </a:rPr>
                <a:t>扫码关注，获取更多</a:t>
              </a:r>
              <a:r>
                <a:rPr lang="en-US" altLang="zh-CN" sz="600" b="1" dirty="0">
                  <a:solidFill>
                    <a:srgbClr val="2B869D"/>
                  </a:solidFill>
                </a:rPr>
                <a:t>AI</a:t>
              </a:r>
              <a:r>
                <a:rPr lang="zh-CN" altLang="en-US" sz="600" b="1" dirty="0">
                  <a:solidFill>
                    <a:srgbClr val="2B869D"/>
                  </a:solidFill>
                </a:rPr>
                <a:t>秘籍</a:t>
              </a:r>
              <a:endParaRPr lang="zh-CN" altLang="en-US" sz="600" b="1" dirty="0">
                <a:solidFill>
                  <a:srgbClr val="2B869D"/>
                </a:solidFill>
              </a:endParaRPr>
            </a:p>
          </p:txBody>
        </p:sp>
      </p:grpSp>
      <p:sp>
        <p:nvSpPr>
          <p:cNvPr id="26" name="矩形: 圆角 25"/>
          <p:cNvSpPr/>
          <p:nvPr/>
        </p:nvSpPr>
        <p:spPr>
          <a:xfrm>
            <a:off x="1759067" y="5175931"/>
            <a:ext cx="5587884" cy="1431724"/>
          </a:xfrm>
          <a:prstGeom prst="roundRect">
            <a:avLst/>
          </a:prstGeom>
          <a:solidFill>
            <a:srgbClr val="2D3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拆解 </a:t>
            </a:r>
            <a:r>
              <a:rPr lang="en-US" altLang="zh-CN" sz="1000" dirty="0"/>
              <a:t>AI </a:t>
            </a:r>
            <a:r>
              <a:rPr lang="zh-CN" altLang="en-US" sz="1000" dirty="0"/>
              <a:t>与嵌入式的融合逻辑，让 “单片机 </a:t>
            </a:r>
            <a:r>
              <a:rPr lang="en-US" altLang="zh-CN" sz="1000" dirty="0"/>
              <a:t>+ </a:t>
            </a:r>
            <a:r>
              <a:rPr lang="zh-CN" altLang="en-US" sz="1000" dirty="0"/>
              <a:t>智能” 的复杂原理变清晰</a:t>
            </a:r>
            <a:endParaRPr lang="zh-CN" altLang="en-US" sz="10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手把手带练从硬件选型到 </a:t>
            </a:r>
            <a:r>
              <a:rPr lang="en-US" altLang="zh-CN" sz="1000" dirty="0"/>
              <a:t>AI </a:t>
            </a:r>
            <a:r>
              <a:rPr lang="zh-CN" altLang="en-US" sz="1000" dirty="0"/>
              <a:t>模型部署，实现单片机 “思考能力” 从 </a:t>
            </a:r>
            <a:r>
              <a:rPr lang="en-US" altLang="zh-CN" sz="1000" dirty="0"/>
              <a:t>0 </a:t>
            </a:r>
            <a:r>
              <a:rPr lang="zh-CN" altLang="en-US" sz="1000" dirty="0"/>
              <a:t>到 </a:t>
            </a:r>
            <a:r>
              <a:rPr lang="en-US" altLang="zh-CN" sz="1000" dirty="0"/>
              <a:t>1 </a:t>
            </a:r>
            <a:r>
              <a:rPr lang="zh-CN" altLang="en-US" sz="1000" dirty="0"/>
              <a:t>落地</a:t>
            </a:r>
            <a:endParaRPr lang="zh-CN" altLang="en-US" sz="10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让 </a:t>
            </a:r>
            <a:r>
              <a:rPr lang="en-US" altLang="zh-CN" sz="1000" dirty="0"/>
              <a:t>AI </a:t>
            </a:r>
            <a:r>
              <a:rPr lang="zh-CN" altLang="en-US" sz="1000" dirty="0"/>
              <a:t>不再是遥远的技术概念，成为你操控单片机、开发智能硬件的生产力工具</a:t>
            </a:r>
            <a:endParaRPr lang="zh-CN" altLang="en-US" sz="10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000" dirty="0"/>
              <a:t>专注普通人能听懂、能上手的实战教学，拒绝堆砌理论，只讲能直接用的技术</a:t>
            </a:r>
            <a:endParaRPr lang="zh-CN" altLang="en-US" sz="1000" dirty="0"/>
          </a:p>
        </p:txBody>
      </p:sp>
      <p:sp>
        <p:nvSpPr>
          <p:cNvPr id="34" name="文本框 33"/>
          <p:cNvSpPr txBox="1"/>
          <p:nvPr/>
        </p:nvSpPr>
        <p:spPr>
          <a:xfrm>
            <a:off x="1759067" y="4069788"/>
            <a:ext cx="3260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22D3EF"/>
                </a:solidFill>
              </a:rPr>
              <a:t>贺老师</a:t>
            </a:r>
            <a:endParaRPr lang="zh-CN" altLang="en-US" sz="3600" b="1" dirty="0">
              <a:solidFill>
                <a:srgbClr val="22D3EF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759067" y="4746279"/>
            <a:ext cx="2878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22D3EF"/>
                </a:solidFill>
              </a:rPr>
              <a:t>嵌入式 </a:t>
            </a:r>
            <a:r>
              <a:rPr lang="en-US" altLang="zh-CN" sz="1400" b="1" dirty="0">
                <a:solidFill>
                  <a:srgbClr val="22D3EF"/>
                </a:solidFill>
              </a:rPr>
              <a:t>AI </a:t>
            </a:r>
            <a:r>
              <a:rPr lang="zh-CN" altLang="en-US" sz="1400" b="1" dirty="0">
                <a:solidFill>
                  <a:srgbClr val="22D3EF"/>
                </a:solidFill>
              </a:rPr>
              <a:t>落地开发专家</a:t>
            </a:r>
            <a:endParaRPr lang="zh-CN" altLang="en-US" sz="1400" b="1" dirty="0">
              <a:solidFill>
                <a:srgbClr val="22D3EF"/>
              </a:solidFill>
            </a:endParaRPr>
          </a:p>
        </p:txBody>
      </p:sp>
      <p:pic>
        <p:nvPicPr>
          <p:cNvPr id="4" name="图片 3" descr="QR 代码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7" y="5266595"/>
            <a:ext cx="1055298" cy="1055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27"/>
          </p:nvPr>
        </p:nvSpPr>
        <p:spPr>
          <a:xfrm>
            <a:off x="740320" y="2535018"/>
            <a:ext cx="9404590" cy="645160"/>
          </a:xfrm>
        </p:spPr>
        <p:txBody>
          <a:bodyPr/>
          <a:lstStyle/>
          <a:p>
            <a:r>
              <a:rPr lang="en-US" altLang="zh-CN" b="1" dirty="0"/>
              <a:t>Day12</a:t>
            </a:r>
            <a:r>
              <a:rPr lang="zh-CN" altLang="en-US" b="1" dirty="0"/>
              <a:t>：特征提取与可视化</a:t>
            </a:r>
            <a:endParaRPr lang="zh-CN" altLang="en-US" b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740319" y="3280115"/>
            <a:ext cx="8274589" cy="313932"/>
          </a:xfrm>
        </p:spPr>
        <p:txBody>
          <a:bodyPr/>
          <a:lstStyle/>
          <a:p>
            <a:r>
              <a:rPr lang="zh-CN" altLang="en-US" dirty="0"/>
              <a:t>运行效率 </a:t>
            </a:r>
            <a:r>
              <a:rPr lang="en-US" altLang="zh-CN" dirty="0"/>
              <a:t>|</a:t>
            </a:r>
            <a:r>
              <a:rPr lang="zh-CN" altLang="en-US" dirty="0"/>
              <a:t>输出质量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633969" y="1405890"/>
          <a:ext cx="10029825" cy="23774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416606"/>
                <a:gridCol w="7613219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类型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目标描述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8527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/>
                        <a:t>知识目标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理解特征工程为什么位于采集和训练之间</a:t>
                      </a:r>
                      <a:endParaRPr sz="180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掌握 11 个时域特征与 7 类频域特征</a:t>
                      </a:r>
                      <a:endParaRPr sz="180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知道每个特征在动作识别里的含义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/>
                        <a:t>技能目标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会读取 Day11 的 clean.csv</a:t>
                      </a:r>
                      <a:endParaRPr sz="180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会按 64 点窗口提取特征</a:t>
                      </a:r>
                      <a:endParaRPr sz="180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会生成频谱、箱线图、相关性和二维投影</a:t>
                      </a:r>
                      <a:endParaRPr lang="en-US" altLang="zh-C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/>
                        <a:t>思维目标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zh-CN" altLang="en-US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/>
                        <a:t>成果输出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features_all.csv</a:t>
                      </a:r>
                      <a:endParaRPr sz="180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dataset_summary.csv</a:t>
                      </a:r>
                      <a:endParaRPr sz="180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feature_dictionary.md</a:t>
                      </a:r>
                      <a:endParaRPr sz="180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  <a:p>
                      <a:pPr marL="285750" indent="-285750">
                        <a:lnSpc>
                          <a:spcPct val="106000"/>
                        </a:lnSpc>
                        <a:spcAft>
                          <a:spcPts val="400"/>
                        </a:spcAft>
                        <a:buFont typeface="Wingdings" panose="05000000000000000000" charset="0"/>
                        <a:buChar char="l"/>
                      </a:pPr>
                      <a:r>
                        <a:rPr sz="180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plots 目录下的可视化图片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标题 15"/>
          <p:cNvSpPr txBox="1"/>
          <p:nvPr/>
        </p:nvSpPr>
        <p:spPr>
          <a:xfrm>
            <a:off x="501556" y="296531"/>
            <a:ext cx="9363800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/>
              <a:t>🎯 </a:t>
            </a:r>
            <a:r>
              <a:rPr lang="en-US" altLang="zh-CN" sz="2800" b="1"/>
              <a:t>Day12</a:t>
            </a:r>
            <a:r>
              <a:rPr lang="zh-CN" altLang="en-US" sz="2800" b="1"/>
              <a:t>：</a:t>
            </a:r>
            <a:r>
              <a:rPr lang="zh-CN" altLang="en-US" sz="2800" b="1" dirty="0"/>
              <a:t>学习目标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15"/>
          <p:cNvSpPr txBox="1"/>
          <p:nvPr/>
        </p:nvSpPr>
        <p:spPr>
          <a:xfrm>
            <a:off x="501556" y="296531"/>
            <a:ext cx="9363800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2800" b="1" dirty="0"/>
          </a:p>
        </p:txBody>
      </p:sp>
      <p:sp>
        <p:nvSpPr>
          <p:cNvPr id="8" name="标题 15"/>
          <p:cNvSpPr txBox="1"/>
          <p:nvPr/>
        </p:nvSpPr>
        <p:spPr>
          <a:xfrm>
            <a:off x="501555" y="296531"/>
            <a:ext cx="11690445" cy="4801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 Day11 到 Day12：数据链路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40080" y="1828800"/>
            <a:ext cx="16642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804671" y="1975104"/>
            <a:ext cx="384048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0000"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2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804671" y="230428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20" b="1">
                <a:solidFill>
                  <a:srgbClr val="2B3442"/>
                </a:solidFill>
                <a:latin typeface="微软雅黑" panose="020B0503020204020204" pitchFamily="34" charset="-122"/>
              </a:rPr>
              <a:t>Day11 采集</a:t>
            </a:r>
            <a:endParaRPr sz="142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>
            <p:custDataLst>
              <p:tags r:id="rId4"/>
            </p:custDataLst>
          </p:nvPr>
        </p:nvSpPr>
        <p:spPr>
          <a:xfrm>
            <a:off x="804671" y="2761488"/>
            <a:ext cx="137160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微软雅黑" panose="020B0503020204020204" pitchFamily="34" charset="-122"/>
              </a:rPr>
              <a:t>QMI8658A 输出六轴数据</a:t>
            </a:r>
            <a:endParaRPr sz="11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3" name="Connector 12"/>
          <p:cNvCxnSpPr/>
          <p:nvPr>
            <p:custDataLst>
              <p:tags r:id="rId5"/>
            </p:custDataLst>
          </p:nvPr>
        </p:nvCxnSpPr>
        <p:spPr>
          <a:xfrm>
            <a:off x="2322576" y="2761488"/>
            <a:ext cx="201168" cy="0"/>
          </a:xfrm>
          <a:prstGeom prst="line">
            <a:avLst/>
          </a:prstGeom>
          <a:ln w="1651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2560320" y="1828800"/>
            <a:ext cx="16642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2724912" y="1975104"/>
            <a:ext cx="384048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0000"/>
          </a:bodyPr>
          <a:lstStyle/>
          <a:p>
            <a:pPr algn="l"/>
            <a:r>
              <a:rPr sz="1200" b="1">
                <a:solidFill>
                  <a:srgbClr val="4472C4"/>
                </a:solidFill>
                <a:latin typeface="微软雅黑" panose="020B0503020204020204" pitchFamily="34" charset="-122"/>
              </a:rPr>
              <a:t>02</a:t>
            </a:r>
            <a:endParaRPr sz="1200" b="1">
              <a:solidFill>
                <a:srgbClr val="4472C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2724912" y="230428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20" b="1">
                <a:solidFill>
                  <a:srgbClr val="2B3442"/>
                </a:solidFill>
                <a:latin typeface="微软雅黑" panose="020B0503020204020204" pitchFamily="34" charset="-122"/>
              </a:rPr>
              <a:t>清洗数据</a:t>
            </a:r>
            <a:endParaRPr sz="142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2724912" y="2761488"/>
            <a:ext cx="137160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微软雅黑" panose="020B0503020204020204" pitchFamily="34" charset="-122"/>
              </a:rPr>
              <a:t>限幅、滤波、去重力</a:t>
            </a:r>
            <a:endParaRPr sz="11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8" name="Connector 17"/>
          <p:cNvCxnSpPr/>
          <p:nvPr>
            <p:custDataLst>
              <p:tags r:id="rId10"/>
            </p:custDataLst>
          </p:nvPr>
        </p:nvCxnSpPr>
        <p:spPr>
          <a:xfrm>
            <a:off x="4242816" y="2761488"/>
            <a:ext cx="201168" cy="0"/>
          </a:xfrm>
          <a:prstGeom prst="line">
            <a:avLst/>
          </a:prstGeom>
          <a:ln w="1651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>
            <p:custDataLst>
              <p:tags r:id="rId11"/>
            </p:custDataLst>
          </p:nvPr>
        </p:nvSpPr>
        <p:spPr>
          <a:xfrm>
            <a:off x="4480560" y="1828800"/>
            <a:ext cx="16642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4645152" y="1975104"/>
            <a:ext cx="384048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0000"/>
          </a:bodyPr>
          <a:lstStyle/>
          <a:p>
            <a:pPr algn="l"/>
            <a:r>
              <a:rPr sz="1200" b="1">
                <a:solidFill>
                  <a:srgbClr val="70AD47"/>
                </a:solidFill>
                <a:latin typeface="微软雅黑" panose="020B0503020204020204" pitchFamily="34" charset="-122"/>
              </a:rPr>
              <a:t>03</a:t>
            </a:r>
            <a:endParaRPr sz="12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4645152" y="230428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20" b="1">
                <a:solidFill>
                  <a:srgbClr val="2B3442"/>
                </a:solidFill>
                <a:latin typeface="微软雅黑" panose="020B0503020204020204" pitchFamily="34" charset="-122"/>
              </a:rPr>
              <a:t>窗口切片</a:t>
            </a:r>
            <a:endParaRPr sz="142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4645152" y="2761488"/>
            <a:ext cx="137160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微软雅黑" panose="020B0503020204020204" pitchFamily="34" charset="-122"/>
              </a:rPr>
              <a:t>64 点形成一个样本</a:t>
            </a:r>
            <a:endParaRPr sz="11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Connector 22"/>
          <p:cNvCxnSpPr/>
          <p:nvPr>
            <p:custDataLst>
              <p:tags r:id="rId15"/>
            </p:custDataLst>
          </p:nvPr>
        </p:nvCxnSpPr>
        <p:spPr>
          <a:xfrm>
            <a:off x="6163056" y="2761488"/>
            <a:ext cx="201168" cy="0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>
            <p:custDataLst>
              <p:tags r:id="rId16"/>
            </p:custDataLst>
          </p:nvPr>
        </p:nvSpPr>
        <p:spPr>
          <a:xfrm>
            <a:off x="6400800" y="1828800"/>
            <a:ext cx="16642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7"/>
            </p:custDataLst>
          </p:nvPr>
        </p:nvSpPr>
        <p:spPr>
          <a:xfrm>
            <a:off x="6565392" y="1975104"/>
            <a:ext cx="384048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0000"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 panose="020B0503020204020204" pitchFamily="34" charset="-122"/>
              </a:rPr>
              <a:t>04</a:t>
            </a:r>
            <a:endParaRPr sz="12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6565392" y="230428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20" b="1">
                <a:solidFill>
                  <a:srgbClr val="2B3442"/>
                </a:solidFill>
                <a:latin typeface="微软雅黑" panose="020B0503020204020204" pitchFamily="34" charset="-122"/>
              </a:rPr>
              <a:t>特征提取</a:t>
            </a:r>
            <a:endParaRPr sz="142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6565265" y="2773680"/>
            <a:ext cx="1371600" cy="3276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微软雅黑" panose="020B0503020204020204" pitchFamily="34" charset="-122"/>
              </a:rPr>
              <a:t>时域 + 频域指标</a:t>
            </a:r>
            <a:endParaRPr sz="11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8" name="Connector 27"/>
          <p:cNvCxnSpPr/>
          <p:nvPr>
            <p:custDataLst>
              <p:tags r:id="rId20"/>
            </p:custDataLst>
          </p:nvPr>
        </p:nvCxnSpPr>
        <p:spPr>
          <a:xfrm>
            <a:off x="8083296" y="2761488"/>
            <a:ext cx="201168" cy="0"/>
          </a:xfrm>
          <a:prstGeom prst="line">
            <a:avLst/>
          </a:prstGeom>
          <a:ln w="1651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>
            <p:custDataLst>
              <p:tags r:id="rId21"/>
            </p:custDataLst>
          </p:nvPr>
        </p:nvSpPr>
        <p:spPr>
          <a:xfrm>
            <a:off x="8321040" y="1828800"/>
            <a:ext cx="16642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22"/>
            </p:custDataLst>
          </p:nvPr>
        </p:nvSpPr>
        <p:spPr>
          <a:xfrm>
            <a:off x="8485632" y="1975104"/>
            <a:ext cx="384048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0000"/>
          </a:bodyPr>
          <a:lstStyle/>
          <a:p>
            <a:pPr algn="l"/>
            <a:r>
              <a:rPr sz="1200" b="1">
                <a:solidFill>
                  <a:srgbClr val="8068A8"/>
                </a:solidFill>
                <a:latin typeface="微软雅黑" panose="020B0503020204020204" pitchFamily="34" charset="-122"/>
              </a:rPr>
              <a:t>05</a:t>
            </a:r>
            <a:endParaRPr sz="1200" b="1">
              <a:solidFill>
                <a:srgbClr val="8068A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3"/>
            </p:custDataLst>
          </p:nvPr>
        </p:nvSpPr>
        <p:spPr>
          <a:xfrm>
            <a:off x="8485632" y="230428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20" b="1">
                <a:solidFill>
                  <a:srgbClr val="2B3442"/>
                </a:solidFill>
                <a:latin typeface="微软雅黑" panose="020B0503020204020204" pitchFamily="34" charset="-122"/>
              </a:rPr>
              <a:t>可视化</a:t>
            </a:r>
            <a:endParaRPr sz="142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24"/>
            </p:custDataLst>
          </p:nvPr>
        </p:nvSpPr>
        <p:spPr>
          <a:xfrm>
            <a:off x="8485632" y="2761488"/>
            <a:ext cx="137160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微软雅黑" panose="020B0503020204020204" pitchFamily="34" charset="-122"/>
              </a:rPr>
              <a:t>观察类别可分性</a:t>
            </a:r>
            <a:endParaRPr sz="11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3" name="Connector 32"/>
          <p:cNvCxnSpPr/>
          <p:nvPr>
            <p:custDataLst>
              <p:tags r:id="rId25"/>
            </p:custDataLst>
          </p:nvPr>
        </p:nvCxnSpPr>
        <p:spPr>
          <a:xfrm>
            <a:off x="10003536" y="2761488"/>
            <a:ext cx="201168" cy="0"/>
          </a:xfrm>
          <a:prstGeom prst="line">
            <a:avLst/>
          </a:prstGeom>
          <a:ln w="16510">
            <a:solidFill>
              <a:srgbClr val="806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>
            <p:custDataLst>
              <p:tags r:id="rId26"/>
            </p:custDataLst>
          </p:nvPr>
        </p:nvSpPr>
        <p:spPr>
          <a:xfrm>
            <a:off x="10241280" y="1828800"/>
            <a:ext cx="16642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>
            <p:custDataLst>
              <p:tags r:id="rId27"/>
            </p:custDataLst>
          </p:nvPr>
        </p:nvSpPr>
        <p:spPr>
          <a:xfrm>
            <a:off x="10405872" y="1975104"/>
            <a:ext cx="384048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0000"/>
          </a:bodyPr>
          <a:lstStyle/>
          <a:p>
            <a:pPr algn="l"/>
            <a:r>
              <a:rPr sz="1200" b="1">
                <a:solidFill>
                  <a:srgbClr val="4F81BD"/>
                </a:solidFill>
                <a:latin typeface="微软雅黑" panose="020B0503020204020204" pitchFamily="34" charset="-122"/>
              </a:rPr>
              <a:t>06</a:t>
            </a:r>
            <a:endParaRPr sz="1200" b="1">
              <a:solidFill>
                <a:srgbClr val="4F81B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>
            <p:custDataLst>
              <p:tags r:id="rId28"/>
            </p:custDataLst>
          </p:nvPr>
        </p:nvSpPr>
        <p:spPr>
          <a:xfrm>
            <a:off x="10405872" y="230428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20" b="1">
                <a:solidFill>
                  <a:srgbClr val="2B3442"/>
                </a:solidFill>
                <a:latin typeface="微软雅黑" panose="020B0503020204020204" pitchFamily="34" charset="-122"/>
              </a:rPr>
              <a:t>Day13 训练</a:t>
            </a:r>
            <a:endParaRPr sz="142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29"/>
            </p:custDataLst>
          </p:nvPr>
        </p:nvSpPr>
        <p:spPr>
          <a:xfrm>
            <a:off x="10405872" y="2761488"/>
            <a:ext cx="137160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微软雅黑" panose="020B0503020204020204" pitchFamily="34" charset="-122"/>
              </a:rPr>
              <a:t>把特征表喂给模型</a:t>
            </a:r>
            <a:endParaRPr sz="11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4400" y="4599432"/>
            <a:ext cx="100126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目标：把连续传感器曲线变成一行一行可训练、可解释、可画图的特征表。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为什么不直接把 CSV 喂给模型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4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325880"/>
            <a:ext cx="6537960" cy="45262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Day11 的 clean.csv 是连续时间流，不是一行一个训练样本。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嵌入式模型越小，越需要前面的特征工程把关键信息提炼出来。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特征能把“曲线形状、动作强度、节奏频率”转成稳定数字。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可视化可以提前判断数据有没有分离趋势，避免盲目训练。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737360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本 case 中的理解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91856" y="2148840"/>
            <a:ext cx="2926080" cy="3127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7000"/>
              </a:lnSpc>
            </a:pPr>
            <a:r>
              <a:rPr sz="1540" b="1">
                <a:solidFill>
                  <a:srgbClr val="2B3442"/>
                </a:solidFill>
                <a:latin typeface="微软雅黑" panose="020B0503020204020204" pitchFamily="34" charset="-122"/>
              </a:rPr>
              <a:t>本节课不是为了制造复杂公式，而是把动作识别需要的信息整理成模型能学习的输入。</a:t>
            </a:r>
            <a:endParaRPr sz="154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窗口：把连续数据变成样本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5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325880"/>
            <a:ext cx="6537960" cy="45262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第 11 课默认采样周期 20ms，也就是约 50Hz。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第 12 课默认窗口大小 64 个点，对应约 1.28 秒。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默认步长 32 个点，表示窗口之间 50% 重叠。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每个窗口提取一组特征，最终 features_all.csv 中一行就是一个训练样本。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737360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本 case 中的理解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91856" y="2148840"/>
            <a:ext cx="2926080" cy="3127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7000"/>
              </a:lnSpc>
            </a:pPr>
            <a:r>
              <a:rPr sz="1540" b="1">
                <a:solidFill>
                  <a:srgbClr val="2B3442"/>
                </a:solidFill>
                <a:latin typeface="微软雅黑" panose="020B0503020204020204" pitchFamily="34" charset="-122"/>
              </a:rPr>
              <a:t>窗口长度太短会看不完整动作周期；</a:t>
            </a:r>
            <a:endParaRPr sz="1540" b="1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7000"/>
              </a:lnSpc>
            </a:pPr>
            <a:r>
              <a:rPr sz="1540" b="1">
                <a:solidFill>
                  <a:srgbClr val="2B3442"/>
                </a:solidFill>
                <a:latin typeface="微软雅黑" panose="020B0503020204020204" pitchFamily="34" charset="-122"/>
              </a:rPr>
              <a:t>太长会混入多个动作状态。64 点适合做第一版实验。</a:t>
            </a:r>
            <a:endParaRPr sz="154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Day12 默认使用哪些输入信号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6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35331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754880"/>
              </a:tblGrid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信号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来源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为什么用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lin_ax / lin_ay / lin_az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Day11 清洗后的线性加速度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去掉重力后，更接近身体动作产生的加速度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lin_acc_mag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三轴线性加速度合成模长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弱化板子朝向差异，突出动作强度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gx / gy / gz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滤波后的三轴角速度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描述姿态变化和摆动方向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gyro_mag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三轴陀螺仪合成模长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突出整体转动强度，方便类别比较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" y="914400"/>
            <a:ext cx="164592" cy="5029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8686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900" b="1">
                <a:solidFill>
                  <a:srgbClr val="ED7D31"/>
                </a:solidFill>
                <a:latin typeface="微软雅黑" panose="020B0503020204020204" pitchFamily="34" charset="-122"/>
              </a:rPr>
              <a:t>01</a:t>
            </a:r>
            <a:endParaRPr sz="19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" y="1481328"/>
            <a:ext cx="822960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pitchFamily="34" charset="-122"/>
              </a:rPr>
              <a:t>第一部分：时域特征</a:t>
            </a:r>
            <a:endParaRPr sz="3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2377440"/>
            <a:ext cx="7863840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700" b="0">
                <a:solidFill>
                  <a:srgbClr val="E7E6E6"/>
                </a:solidFill>
                <a:latin typeface="微软雅黑" panose="020B0503020204020204" pitchFamily="34" charset="-122"/>
              </a:rPr>
              <a:t>直接在时间曲线上计算，回答“这一段动作强不强、稳不稳、有没有冲击”。</a:t>
            </a:r>
            <a:endParaRPr sz="1700" b="0">
              <a:solidFill>
                <a:srgbClr val="E7E6E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" y="5907024"/>
            <a:ext cx="36576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Day12 特征提取与可视化</a:t>
            </a:r>
            <a:endParaRPr sz="950" b="0">
              <a:solidFill>
                <a:srgbClr val="D9E2F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时域特征总览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8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325880"/>
            <a:ext cx="6537960" cy="45262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均值、最大值、最小值：描述窗口整体位置和范围。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方差、标准差、峰峰值、RMS：描述动作波动和能量。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偏度、峭度：描述曲线形状是否偏斜、是否有尖峰。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斜率、变化率：描述窗口内趋势变化和快速变化程度。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737360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本 case 中的理解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91856" y="2148840"/>
            <a:ext cx="2926080" cy="3127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7000"/>
              </a:lnSpc>
            </a:pPr>
            <a:r>
              <a:rPr sz="1540" b="1">
                <a:solidFill>
                  <a:srgbClr val="2B3442"/>
                </a:solidFill>
                <a:latin typeface="微软雅黑" panose="020B0503020204020204" pitchFamily="34" charset="-122"/>
              </a:rPr>
              <a:t>在本项目中，静止通常波动小；走路有周期波动；上楼梯通常动作强度和冲击感更明显。</a:t>
            </a:r>
            <a:endParaRPr sz="154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均值 Mean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9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μ = (1/N) Σ xᵢ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一个窗口里所有点的平均值。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表示信号在这一段时间的中心位置。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线性加速度均值接近 0，说明重力去除比较干净。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某个轴均值长期偏大，可能代表板子姿态或动作方向偏置。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静止数据中均值稳定，走路/上楼梯中均值可能随佩戴方式变化。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最大值与最小值 Max / Min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10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max(x), min(x)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窗口里的最大正向响应和最大负向响应。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能看到动作峰值是否明显。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走路和上楼梯会出现比静止更大的峰值。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上楼梯的某些轴可能有更强的向上/向前冲击。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如果最大值异常大，要结合 clipped 判断是否是传感器尖峰。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方差与标准差 Variance / Std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11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σ² = mean((x-μ)²),  σ = sqrt(σ²)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方差描述数据离均值有多分散。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标准差和原信号单位一致，更容易解释。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静止窗口标准差小，说明信号稳定。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走路标准差上升，代表周期性摆动。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上楼梯标准差通常更大，说明动作幅度或姿态变化更明显。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峰峰值 Peak-to-Peak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12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P2P = max(x) - min(x)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一个窗口内上下摆动的总跨度。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比单独看最大值更能体现振幅范围。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区分静止和运动非常直观。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走路与上楼梯的峰峰值可能不同，尤其在线性加速度模长上。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峰峰值过大也可能提示采集中有撞击或动作切换。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RMS 均方根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13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RMS = sqrt((1/N) Σ xᵢ²)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把正负波动都转成能量强度。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比均值更适合描述振动和动作强度。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静止 RMS 低，走路 RMS 中等，上楼梯 RMS 往往更高。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lin_acc_mag 的 RMS 是本项目最重要的时域特征之一。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gyro_mag 的 RMS 可以反映身体/手持板子的摆动强度。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偏度 Skewness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14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skew = mean(((x-μ)/σ)³)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衡量波形是不是向一侧偏。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偏度接近 0 表示左右相对对称。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走路周期比较稳定时，某些轴偏度可能接近 0。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上楼梯如果存在明显向上发力，某些轴可能出现偏斜。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偏度能帮助模型区分“对称摆动”和“带方向的冲击”。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峭度 Kurtosis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15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kurt = mean(((x-μ)/σ)⁴)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衡量窗口中尖峰是否突出。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数值越大，越可能有短时冲击或尖峰。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静止数据峭度可能受噪声影响，但整体能量低。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上楼梯可能出现更明显脚步冲击，峭度会提供额外线索。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如果峭度异常大，要回看 raw/clean 数据确认不是采集噪声。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斜率 Slope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16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slope = cov(t, x) / var(t)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用一条直线拟合窗口内趋势。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表示这一段信号整体是在上升还是下降。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稳定周期动作的斜率通常不会长期偏大。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动作开始/结束或标签切换时，斜率可能明显变大。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可用于发现过渡窗口，也能帮助模型理解姿态缓慢变化。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变化率 Change Rate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17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rate = mean(|xᵢ - xᵢ₋₁|) × fs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相邻采样点平均变化有多快。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它比标准差更关注短时快速变化。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静止变化率低，说明信号平稳。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走路变化率体现周期摆动速度。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上楼梯或突然晃动会让变化率升高，是区分强动作的重要特征。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时域特征在本 case 中的侧重点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18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35331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023360"/>
              </a:tblGrid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特征组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主要回答的问题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最推荐观察的信号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均值 / 斜率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窗口是否存在姿态偏置或过渡趋势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lin_ax、lin_ay、lin_az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标准差 / 峰峰值 / RMS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动作强度和摆动幅度有多大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lin_acc_mag、gyro_mag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偏度 / 峭度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波形是否不对称、是否有尖峰冲击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lin_acc_mag、单轴加速度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变化率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动作变化速度是否明显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lin_acc_mag、gyro_mag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" y="914400"/>
            <a:ext cx="164592" cy="5029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8686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900" b="1">
                <a:solidFill>
                  <a:srgbClr val="ED7D31"/>
                </a:solidFill>
                <a:latin typeface="微软雅黑" panose="020B0503020204020204" pitchFamily="34" charset="-122"/>
              </a:rPr>
              <a:t>02</a:t>
            </a:r>
            <a:endParaRPr sz="19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" y="1481328"/>
            <a:ext cx="822960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pitchFamily="34" charset="-122"/>
              </a:rPr>
              <a:t>第二部分：频域特征</a:t>
            </a:r>
            <a:endParaRPr sz="3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2377440"/>
            <a:ext cx="7863840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700" b="0">
                <a:solidFill>
                  <a:srgbClr val="E7E6E6"/>
                </a:solidFill>
                <a:latin typeface="微软雅黑" panose="020B0503020204020204" pitchFamily="34" charset="-122"/>
              </a:rPr>
              <a:t>把时间曲线拆成频率成分，回答“动作节奏在哪里、能量集中在哪些频段”。</a:t>
            </a:r>
            <a:endParaRPr sz="1700" b="0">
              <a:solidFill>
                <a:srgbClr val="E7E6E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" y="5907024"/>
            <a:ext cx="36576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Day12 特征提取与可视化</a:t>
            </a:r>
            <a:endParaRPr sz="950" b="0">
              <a:solidFill>
                <a:srgbClr val="D9E2F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FFT 频谱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20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X[k] = Σ x[n] · e^(-j2πkn/N)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FFT 把时间序列变成频率序列。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频谱图告诉我们哪些节奏成分最强。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走路和上楼梯都是周期性动作，频谱里会出现节奏峰。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静止数据没有稳定动作节奏，频谱能量通常较低且分散。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频谱是主频、频带能量、频谱质心和谐波的基础。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采样率与频率分辨率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21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325880"/>
            <a:ext cx="6537960" cy="452628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Day11 默认采样率约 50Hz，所以最高可分析频率约 25Hz。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窗口大小 64 点时，频率分辨率约 50 / 64 = 0.78125Hz。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窗口越长，频率分辨率越高，但响应动作切换越慢。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530">
                <a:solidFill>
                  <a:srgbClr val="2B3442"/>
                </a:solidFill>
                <a:latin typeface="微软雅黑" panose="020B0503020204020204" pitchFamily="34" charset="-122"/>
              </a:rPr>
              <a:t>• 窗口越短，时间定位更灵活，但频率判断会更粗。</a:t>
            </a:r>
            <a:endParaRPr sz="153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26679" y="1426464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737360"/>
            <a:ext cx="21031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本 case 中的理解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91856" y="2148840"/>
            <a:ext cx="2926080" cy="31272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7000"/>
              </a:lnSpc>
            </a:pPr>
            <a:r>
              <a:rPr sz="1540" b="1">
                <a:solidFill>
                  <a:srgbClr val="2B3442"/>
                </a:solidFill>
                <a:latin typeface="微软雅黑" panose="020B0503020204020204" pitchFamily="34" charset="-122"/>
              </a:rPr>
              <a:t>所以 64 点不是唯一答案，但适合作为第一版实验的平衡点。</a:t>
            </a:r>
            <a:endParaRPr sz="1540" b="1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主频 Dominant Frequency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22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f₀ = argmax(|X(f)|), f &gt; 0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非 0Hz 频率中幅值最大的频率。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可以近似理解为窗口里的主要节奏。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走路的主频通常对应步态节奏。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上楼梯节奏可能和走路不同，主频可帮助区分动作。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静止状态主频不稳定，因此要结合 RMS/能量一起看。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频带能量 Band Energy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23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E_band = Σ |X(f)|², f ∈ band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把某个频率范围里的功率加起来。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它不只看一个峰，而是看一段频率整体能量。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默认低频 0.3-3Hz，适合观察人体步态节奏。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中频 3-8Hz 可观察更快的摆动或冲击。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高频 8-25Hz 常用于发现剧烈晃动、震动或噪声。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频谱质心 Spectral Centroid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24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centroid = Σ f·P(f) / Σ P(f)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频谱能量的重心位置。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数值越高，说明能量越偏向高频。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静止数据如果只有低频漂移，质心可能较低。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走路有相对稳定节奏，质心通常围绕动作频段。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上楼梯或冲击更强时，高频成分增加，质心可能升高。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低频能量与高频能量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25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ratio = E_band / E_total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把某个频段能量除以总能量。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比直接能量更适合比较不同强度的窗口。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低频比例高，说明动作更像稳定周期运动。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高频比例高，可能说明冲击、抖动或噪声更多。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走路和上楼梯可通过低频/高频比例形成差异。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谐波成分 Harmonics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26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353312"/>
            <a:ext cx="50749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计算公式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139696"/>
            <a:ext cx="44805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 panose="020B0503020204020204" pitchFamily="34" charset="-122"/>
              </a:rPr>
              <a:t>2f₀, 3f₀ 附近能量 / 总能量</a:t>
            </a:r>
            <a:endParaRPr sz="18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188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</a:rPr>
              <a:t>怎么理解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069080"/>
            <a:ext cx="4526280" cy="123444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主频的整数倍频率成分。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20">
                <a:solidFill>
                  <a:srgbClr val="2B3442"/>
                </a:solidFill>
                <a:latin typeface="微软雅黑" panose="020B0503020204020204" pitchFamily="34" charset="-122"/>
              </a:rPr>
              <a:t>• 能说明周期动作波形是不是规则。</a:t>
            </a:r>
            <a:endParaRPr sz="132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49834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6420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微软雅黑" panose="020B0503020204020204" pitchFamily="34" charset="-122"/>
              </a:rPr>
              <a:t>在本项目中的作用</a:t>
            </a:r>
            <a:endParaRPr sz="15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0528" y="2121408"/>
            <a:ext cx="4343400" cy="3108960"/>
          </a:xfrm>
          <a:prstGeom prst="rect">
            <a:avLst/>
          </a:prstGeom>
          <a:noFill/>
        </p:spPr>
        <p:txBody>
          <a:bodyPr wrap="square" lIns="54864" tIns="18288" rIns="36576" bIns="18288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规则步态除了主频，可能在 2 倍、3 倍频附近也有能量。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上楼梯动作冲击更明显时，谐波比例可能变化。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400">
                <a:solidFill>
                  <a:srgbClr val="2B3442"/>
                </a:solidFill>
                <a:latin typeface="微软雅黑" panose="020B0503020204020204" pitchFamily="34" charset="-122"/>
              </a:rPr>
              <a:t>• 谐波能帮助模型理解“周期结构”，不只是动作强弱。</a:t>
            </a:r>
            <a:endParaRPr sz="1400">
              <a:solidFill>
                <a:srgbClr val="2B34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84048" y="192024"/>
            <a:ext cx="4389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80" b="1">
                <a:solidFill>
                  <a:srgbClr val="ED7D31"/>
                </a:solidFill>
                <a:latin typeface="微软雅黑" panose="020B0503020204020204" pitchFamily="34" charset="-122"/>
              </a:rPr>
              <a:t>Day12 特征提取与可视化</a:t>
            </a:r>
            <a:endParaRPr sz="88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083564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450" b="1">
                <a:solidFill>
                  <a:srgbClr val="1F4E79"/>
                </a:solidFill>
                <a:latin typeface="微软雅黑" panose="020B0503020204020204" pitchFamily="34" charset="-122"/>
              </a:rPr>
              <a:t>频域特征在本 case 中的侧重点</a:t>
            </a:r>
            <a:endParaRPr sz="245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05840"/>
            <a:ext cx="11201400" cy="18288"/>
          </a:xfrm>
          <a:prstGeom prst="rect">
            <a:avLst/>
          </a:prstGeom>
          <a:solidFill>
            <a:srgbClr val="D9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6455664"/>
            <a:ext cx="411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微软雅黑" panose="020B0503020204020204" pitchFamily="34" charset="-122"/>
              </a:rPr>
              <a:t>27</a:t>
            </a:r>
            <a:endParaRPr sz="85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6437376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780" b="0">
                <a:solidFill>
                  <a:srgbClr val="5F6B7A"/>
                </a:solidFill>
                <a:latin typeface="微软雅黑" panose="020B0503020204020204" pitchFamily="34" charset="-122"/>
              </a:rPr>
              <a:t>公众号：玩转单片机与嵌入式  |  Day12 特征提取与可视化</a:t>
            </a:r>
            <a:endParaRPr sz="780" b="0">
              <a:solidFill>
                <a:srgbClr val="5F6B7A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35331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475488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特征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它代表什么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动作识别里的作用</a:t>
                      </a:r>
                      <a:endParaRPr sz="118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FFT 频谱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不同频率上的能量分布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先观察三类动作是否有节奏差异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主频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最强节奏位置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帮助区分走路与上楼梯的动作周期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频带能量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某一段频率整体强度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比单个峰值更稳健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频谱质心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频率能量重心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判断动作是否含有更多高频冲击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AFBF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谐波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主频整数倍结构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B3442"/>
                          </a:solidFill>
                          <a:latin typeface="微软雅黑" panose="020B0503020204020204" pitchFamily="34" charset="-122"/>
                        </a:rPr>
                        <a:t>描述周期动作的形状规律</a:t>
                      </a:r>
                      <a:endParaRPr sz="1120" b="0">
                        <a:solidFill>
                          <a:srgbClr val="2B3442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4864" marR="4572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" y="914400"/>
            <a:ext cx="164592" cy="5029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8686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900" b="1">
                <a:solidFill>
                  <a:srgbClr val="ED7D31"/>
                </a:solidFill>
                <a:latin typeface="微软雅黑" panose="020B0503020204020204" pitchFamily="34" charset="-122"/>
              </a:rPr>
              <a:t>03</a:t>
            </a:r>
            <a:endParaRPr sz="19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" y="1481328"/>
            <a:ext cx="822960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pitchFamily="34" charset="-122"/>
              </a:rPr>
              <a:t>第三部分：Python 实现</a:t>
            </a:r>
            <a:endParaRPr sz="3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2377440"/>
            <a:ext cx="7863840" cy="603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700" b="0">
                <a:solidFill>
                  <a:srgbClr val="E7E6E6"/>
                </a:solidFill>
                <a:latin typeface="微软雅黑" panose="020B0503020204020204" pitchFamily="34" charset="-122"/>
              </a:rPr>
              <a:t>用一份脚本从 clean.csv 生成特征表和可视化结果。</a:t>
            </a:r>
            <a:endParaRPr sz="1700" b="0">
              <a:solidFill>
                <a:srgbClr val="E7E6E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" y="5907024"/>
            <a:ext cx="36576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950" b="0">
                <a:solidFill>
                  <a:srgbClr val="D9E2F0"/>
                </a:solidFill>
                <a:latin typeface="微软雅黑" panose="020B0503020204020204" pitchFamily="34" charset="-122"/>
              </a:rPr>
              <a:t>Day12 特征提取与可视化</a:t>
            </a:r>
            <a:endParaRPr sz="950" b="0">
              <a:solidFill>
                <a:srgbClr val="D9E2F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最新脚本处理流程：GUI 和命令行共用同一条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417320"/>
            <a:ext cx="214884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2E75B6"/>
                </a:solidFill>
                <a:latin typeface="Microsoft YaHei"/>
              </a:rPr>
              <a:t>01 启动入口</a:t>
            </a:r>
          </a:p>
          <a:p>
            <a:pPr algn="ctr"/>
            <a:r>
              <a:rPr sz="1200" b="0">
                <a:solidFill>
                  <a:srgbClr val="1F3040"/>
                </a:solidFill>
                <a:latin typeface="Microsoft YaHei"/>
              </a:rPr>
              <a:t>GUI 或 --input/--demo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764792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417320"/>
            <a:ext cx="214884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2E75B6"/>
                </a:solidFill>
                <a:latin typeface="Microsoft YaHei"/>
              </a:rPr>
              <a:t>02 选择数据</a:t>
            </a:r>
          </a:p>
          <a:p>
            <a:pPr algn="ctr"/>
            <a:r>
              <a:rPr sz="1200" b="0">
                <a:solidFill>
                  <a:srgbClr val="1F3040"/>
                </a:solidFill>
                <a:latin typeface="Microsoft YaHei"/>
              </a:rPr>
              <a:t>目录/CSV + 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764792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417320"/>
            <a:ext cx="214884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2E75B6"/>
                </a:solidFill>
                <a:latin typeface="Microsoft YaHei"/>
              </a:rPr>
              <a:t>03 读取 clean.csv</a:t>
            </a:r>
          </a:p>
          <a:p>
            <a:pPr algn="ctr"/>
            <a:r>
              <a:rPr sz="1200" b="0">
                <a:solidFill>
                  <a:srgbClr val="1F3040"/>
                </a:solidFill>
                <a:latin typeface="Microsoft YaHei"/>
              </a:rPr>
              <a:t>递归发现 *_clean.csv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764792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417320"/>
            <a:ext cx="214884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2E75B6"/>
                </a:solidFill>
                <a:latin typeface="Microsoft YaHei"/>
              </a:rPr>
              <a:t>04 单位还原</a:t>
            </a:r>
          </a:p>
          <a:p>
            <a:pPr algn="ctr"/>
            <a:r>
              <a:rPr sz="1200" b="0">
                <a:solidFill>
                  <a:srgbClr val="1F3040"/>
                </a:solidFill>
                <a:latin typeface="Microsoft YaHei"/>
              </a:rPr>
              <a:t>x1000 -&gt; 物理量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37560"/>
            <a:ext cx="2148840" cy="1051560"/>
          </a:xfrm>
          <a:prstGeom prst="roundRect">
            <a:avLst/>
          </a:prstGeom>
          <a:solidFill>
            <a:srgbClr val="E8F5E9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70AD47"/>
                </a:solidFill>
                <a:latin typeface="Microsoft YaHei"/>
              </a:rPr>
              <a:t>05 窗口切片</a:t>
            </a:r>
          </a:p>
          <a:p>
            <a:pPr algn="ctr"/>
            <a:r>
              <a:rPr sz="1200" b="0">
                <a:solidFill>
                  <a:srgbClr val="1F3040"/>
                </a:solidFill>
                <a:latin typeface="Microsoft YaHei"/>
              </a:rPr>
              <a:t>按标签分开切片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685032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3337560"/>
            <a:ext cx="2148840" cy="1051560"/>
          </a:xfrm>
          <a:prstGeom prst="roundRect">
            <a:avLst/>
          </a:prstGeom>
          <a:solidFill>
            <a:srgbClr val="E8F5E9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70AD47"/>
                </a:solidFill>
                <a:latin typeface="Microsoft YaHei"/>
              </a:rPr>
              <a:t>06 提取特征</a:t>
            </a:r>
          </a:p>
          <a:p>
            <a:pPr algn="ctr"/>
            <a:r>
              <a:rPr sz="1200" b="0">
                <a:solidFill>
                  <a:srgbClr val="1F3040"/>
                </a:solidFill>
                <a:latin typeface="Microsoft YaHei"/>
              </a:rPr>
              <a:t>时域 + 频域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685032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3337560"/>
            <a:ext cx="2148840" cy="1051560"/>
          </a:xfrm>
          <a:prstGeom prst="roundRect">
            <a:avLst/>
          </a:prstGeom>
          <a:solidFill>
            <a:srgbClr val="E8F5E9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70AD47"/>
                </a:solidFill>
                <a:latin typeface="Microsoft YaHei"/>
              </a:rPr>
              <a:t>07 保存输出</a:t>
            </a:r>
          </a:p>
          <a:p>
            <a:pPr algn="ctr"/>
            <a:r>
              <a:rPr sz="1200" b="0">
                <a:solidFill>
                  <a:srgbClr val="1F3040"/>
                </a:solidFill>
                <a:latin typeface="Microsoft YaHei"/>
              </a:rPr>
              <a:t>CSV + 字典 + 摘要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685032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3337560"/>
            <a:ext cx="2148840" cy="1051560"/>
          </a:xfrm>
          <a:prstGeom prst="roundRect">
            <a:avLst/>
          </a:prstGeom>
          <a:solidFill>
            <a:srgbClr val="E8F5E9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70AD47"/>
                </a:solidFill>
                <a:latin typeface="Microsoft YaHei"/>
              </a:rPr>
              <a:t>08 生成图片</a:t>
            </a:r>
          </a:p>
          <a:p>
            <a:pPr algn="ctr"/>
            <a:r>
              <a:rPr sz="1200" b="0">
                <a:solidFill>
                  <a:srgbClr val="1F3040"/>
                </a:solidFill>
                <a:latin typeface="Microsoft YaHei"/>
              </a:rPr>
              <a:t>plots/*.png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93792"/>
            <a:ext cx="10652760" cy="960120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为什么这样设计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界面只是入口，真正的数据处理逻辑集中在 run_feature_pipeline。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课堂演示、命令行复现、后续模型训练使用同一套输出文件。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嵌入式工程最怕流程不可复现，所以每一步都要有日志、有文件、有参数。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为什么要把 Day12 做成上位机小工具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初次接触 Python 时，不需要先记住一长串命令行参数。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路径、标签、窗口参数、输出目录都在界面里可见。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运行日志能告诉我们每一步是否真正完成。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输出图可以直接预览，方便马上判断数据是否可用。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不是为了让 Python 变“花哨”，而是降低实验门槛。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不是隐藏原理，后面仍然会逐项解释参数和输出。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不是替代工程记录，界面选择的参数仍要写进实验记录。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不是训练模型本身，它只负责把数据变成特征表。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GUI 的定位是“实验控制台”：让初学者先跑通流程，再回头理解每个参数。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实验准备与启动方式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本节实验脚本：
  day12_feature_extraction_visualization.py
启动 GUI：
python day12_feature_extraction_visualization.py --gui
直接运行脚本：
python day12_feature_extraction_visualization.py
没有真实数据时验证流程：
python day12_feature_extraction_visualization.py --demo --out day12_demo_outputs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脚本可以直接打开 GUI，也可以通过命令行运行。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真实实验使用 Day11 采集得到的 clean.csv 数据。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没有真实数据时，可以先使用 demo 验证完整流程。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运行完成后，会生成特征表、摘要文件和可视化图片。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GUI 总览：四个标签页对应四个实验动作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数据源与标签：决定读哪些数据、写到哪里、处理哪些动作。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特征参数：决定窗口怎么切、频域怎么算。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运行与日志：执行 pipeline，并把关键结果打印出来。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可视化预览：快速检查输出图，判断数据和特征是否可靠。</a:t>
            </a:r>
          </a:p>
        </p:txBody>
      </p:sp>
      <p:pic>
        <p:nvPicPr>
          <p:cNvPr id="12" name="Picture 11" descr="day12_gu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93081"/>
            <a:ext cx="5897880" cy="331755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对初学者来说，先按标签页顺序操作，不要一上来就改很多参数。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标签页 1：数据源与标签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真实数据模式：读取 Day11 采集得到的 *_clean.csv。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Demo 模式：没有板子时验证脚本流程，不用于正式训练。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输入路径可以是目录，也可以是单个 CSV 文件。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标签勾选会过滤数据，只处理选中的动作类别。</a:t>
            </a:r>
          </a:p>
        </p:txBody>
      </p:sp>
      <p:pic>
        <p:nvPicPr>
          <p:cNvPr id="12" name="Picture 11" descr="day12_gui_data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93081"/>
            <a:ext cx="5897880" cy="331755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演示：选择输入目录与输出目录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输入目录选择 Day11 采集出来的 clean.csv 所在文件夹。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确认列表里能看到 idle_clean.csv、walk_clean.csv、stairs_clean.csv。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输出目录默认使用 day12_feature_outputs，也可以手动选择。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如果列表为空，先不要运行，说明路径大概率选错。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输入目录回答“从哪里读数据”。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输出目录回答“处理结果保存到哪里”。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二者不是同一个概念，不要把输出文件混到原始采集数据里。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每次调参数时，可以换一个新的输出目录，方便对比。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路径问题是 Python 初学者最常见的问题：先看文件列表，再点开始。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标签选择：idle、walk、stairs 到底控制什么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标签不是文件名装饰，而是监督学习里的类别答案。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每个窗口最终都会带上 label 或 label_id。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按标签分开切窗口，避免一个窗口混入两种动作。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标签选错，模型会学到错误答案。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idle：板子静止或人保持不动，用来让模型认识“无动作”。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walk：平地走路，通常有较稳定的周期节奏。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stairs：上楼梯，通常冲击和姿态变化更明显。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过滤标签可以帮助我们单独检查某一类数据质量。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在 AI 训练里，标签就是标准答案；答案错了，模型越认真学越糟糕。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标签页 2：特征参数总览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采样率决定时间轴和频率轴是否正确。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窗口大小决定每个样本包含多长时间的动作。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窗口步长决定样本数量和相邻样本重叠程度。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频段参数决定低频、中频、高频能量怎么统计。</a:t>
            </a:r>
          </a:p>
        </p:txBody>
      </p:sp>
      <p:pic>
        <p:nvPicPr>
          <p:cNvPr id="12" name="Picture 11" descr="day12_gui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93081"/>
            <a:ext cx="5897880" cy="331755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采样率 sample_rate_hz：每秒采多少个点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Day11 默认约 20ms 采样一次，也就是 50Hz。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50Hz 表示 1 秒钟有 50 行传感器数据。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频域分析时，采样率决定 FFT 频率刻度。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采样率填错，主频、频谱质心、频带能量都会错。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嵌入式直觉：采样周期越短，采样率越高。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50Hz 的奈奎斯特频率是 25Hz。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人的走路、上楼梯主要在低频范围，50Hz 对本 case 足够。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如果固件采样周期改了，GUI 这里也必须同步改。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采样率不是随便填的，它必须和板子实际输出数据的频率一致。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窗口大小 window_size：一个训练样本包含多长动作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默认 64 个点，在 50Hz 下约 1.28 秒。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窗口太短：可能看不到完整步态周期。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窗口太长：可能混入动作变化，实时性也会变差。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窗口大小会影响时域统计和 FFT 分辨率。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静止：窗口里应该整体平稳。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走路：窗口里最好覆盖 1 到 2 个明显节奏。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上楼梯：窗口里要能看到冲击和姿态变化。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后续部署：窗口越长，RAM 缓冲越大，等待时间越长。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窗口就是把连续数据切成一段一段样本；模型不是看无限长的数据流。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窗口步长 step_size：相邻样本之间移动多少点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默认 32 个点，窗口大小 64 时相当于 50% 重叠。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步长越小：样本数量越多，但相邻样本越相似。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步长越大：样本更独立，但数量变少。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步长不能大于理解范围，否则容易漏掉动作变化。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window_size=64, step_size=64：不重叠。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window_size=64, step_size=32：一半重叠。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window_size=64, step_size=16：高度重叠。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课程默认 50% 重叠，兼顾样本数量和差异性。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窗口大小看“每段多长”，窗口步长看“下一段从哪里开始”。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频段参数：低频、中频、高频分别看什么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低频段默认 0.3 到 3Hz，主要观察人体动作节律。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中频段默认 3 到 8Hz，观察较快晃动和局部变化。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高频段默认 8 到 25Hz，观察冲击、抖动和噪声。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频带能量不是单个点，而是一段频率范围内 power 的和。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走路通常会有比较稳定的低频节奏。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上楼梯可能在低频基础上有更强冲击和高频成分。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静止状态理想情况下能量应该较低。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频段边界可以调整，但必须结合采样率和动作特点。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频带能量回答的问题是：这个动作的能量主要集中在哪些频率范围。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谐波容差与 invalid 样本处理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谐波：主频的 2 倍、3 倍附近能量。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容差：不是只看一个频点，而是看目标频率附近一小段范围。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默认 0.4Hz，适合课堂数据的粗略节奏分析。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动作频率会轻微变化，所以需要容差。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valid=0 表示 Day11 清洗阶段认为该点无效。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默认丢弃包含 invalid 点的窗口。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这样能减少异常数据污染训练集。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如果调试清洗算法，也可以暂时保留 invalid 窗口观察影响。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容差处理的是“动作不可能完全标准”；invalid 处理的是“坏数据不要轻易进训练集”。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标签页 3：运行与日志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点击“开始特征提取”后，pipeline 会依次执行 6 个步骤。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日志会显示数据行数、标签分布、窗口数量和特征列数。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如果失败，先看日志最后一行错误，而不是盲目改代码。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运行完成后，可以直接打开输出目录。</a:t>
            </a:r>
          </a:p>
        </p:txBody>
      </p:sp>
      <p:pic>
        <p:nvPicPr>
          <p:cNvPr id="12" name="Picture 11" descr="day12_gui_run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93081"/>
            <a:ext cx="5897880" cy="331755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2801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81328"/>
            <a:ext cx="87782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第四部分：Python 核心代码讲解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87782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Microsoft YaHei"/>
              </a:rPr>
              <a:t>GUI 只是入口，真正要理解的是数据如何一步一步变成 features_all.csv。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45720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26364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DCE6F1"/>
                </a:solidFill>
                <a:latin typeface="Microsoft YaHe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代码总览：GUI 和命令行最终调用同一条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def main() -&gt; int:
    if len(sys.argv) == 1:
        return run_gui()
    args = parse_args()
    if args.gui:
        return run_gui()
    cfg = WindowConfig(...)
    result = run_feature_pipeline(
        args.input, args.demo, args.out, cfg,
        labels=args.labels
   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直接运行脚本时，默认打开 GUI。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带 --gui 参数时，也打开 GUI。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带 --input 或 --demo 时，走命令行处理。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无论入口如何，核心处理都交给 run_feature_pipeline。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界面入口和命令行入口不能各写一套算法，否则很容易出现结果不一致。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代码讲解：读取数据与发现 clean.csv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def discover_clean_csvs(input_path: Path) -&gt; list[Path]:
    if input_path.is_file():
        return [input_path]
    files = sorted(input_path.rglob("*_clean.csv"))
    if not files:
        files = sorted(input_path.rglob("*clean*.csv"))
    return files
def load_dataset(input_path, demo):
    if demo:
        return generate_demo_data()
    files = discover_clean_csvs(input_path)
    frames = [read_clean_csv(path) for path in files]
    return pd.concat(frames, ignore_index=True)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input_path 可以是单个 CSV，也可以是一个目录。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rglob 会递归进入子目录寻找 clean.csv。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demo 模式不读文件，而是生成模拟数据。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多个 CSV 会合并成一个完整 DataFrame。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DataFrame 可以先理解成 Python 里的表格，类似 Excel 表，但更适合批量计算。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代码讲解：单位还原与模长计算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df = pd.read_csv(path)
out["lin_ax_mps2"] = df["lin_ax_mps2_x1000"] / 1000.0
out["gx_radps"] = df["gx_radps_x1000"] / 1000.0
out["lin_acc_mag_mps2"] = np.sqrt(
    out["lin_ax_mps2"]**2 +
    out["lin_ay_mps2"]**2 +
    out["lin_az_mps2"]**2
)
out["gyro_mag_radps"] = np.sqrt(gx**2 + gy**2 + gz**2)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Day11 串口为了兼容性输出 x1000 整数。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Day12 先除以 1000，还原成 m/s² 和 rad/s。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加速度模长把 x、y、z 三轴合成一个整体强度。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陀螺仪模长把旋转速度合成一个整体强度。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模长能降低板子安装方向影响，但也会丢掉方向信息；这是工程上的取舍。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代码讲解：标签过滤与窗口切片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def filter_by_labels(raw, labels):
    if not labels:
        return raw
    return raw[raw["label"].astype(str).isin(labels)].copy()
for start in range(0, len(label_df) - window_size + 1, step_size):
    win = label_df.iloc[start:start + window_size].copy()
    if drop_invalid and (win["valid"] == 0).any():
        continue
    yield label, window_id, 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filter_by_labels 对应 GUI 里的 idle/walk/stairs 勾选。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窗口切片前先按 label 分组，避免混入不同动作。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window_size 决定每个窗口有多少行。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step_size 决定下一个窗口从哪里开始。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一个窗口必须对应一个动作标签；混合动作窗口会让模型学到错误答案。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代码讲解：时域特征函数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mean = np.mean(x)
variance = np.mean((x - mean) ** 2)
std = math.sqrt(variance)
rms = np.sqrt(np.mean(x ** 2))
slope = sum((t - t_mean) * (x - mean)) / sum((t - t_mean) ** 2)
change_rate = np.mean(np.abs(np.diff(x))) * sample_rate
skewness = mean(centered ** 3) / (std ** 3 + EPS)
kurtosis = mean(centered ** 4) / (std ** 4 + EPS)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输入 x 是一个窗口里某个信号的一列数据。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均值、方差、标准差描述整体水平和离散程度。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RMS、峰峰值描述动作强度和波动范围。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斜率、变化率、偏度、峭度描述趋势和波形形态。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时域特征直接在原始曲线上计算，不需要 FFT，后续部署到 MCU 相对容易。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代码讲解：频域特征函数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x = x - np.mean(x)
window = np.hanning(len(x))
spectrum = np.fft.rfft(x * window)
freqs = np.fft.rfftfreq(len(x), d=1.0 / sample_rate)
magnitude = np.abs(spectrum)
power = magnitude ** 2
dominant_freq = freqs[argmax(magnitude, f &gt; 0)]
spectral_centroid = sum(freqs * power) / sum(power)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先去均值，减少 0Hz 直流分量干扰。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汉宁窗用于减小频谱泄漏。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rfft 把时间序列转换到频率域。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power 用来计算主频、频带能量、频谱质心和谐波。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频域特征回答的是：动作能量主要集中在哪些节奏和频率范围。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代码讲解：频带能量与谐波比例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low_energy = band_energy(freqs, power, cfg.low_band)
mid_energy = band_energy(freqs, power, cfg.mid_band)
high_energy = band_energy(freqs, power, cfg.high_band)
low_band_ratio = low_energy / total_energy
high_band_ratio = high_energy / total_energy
h2 = 2.0 * dominant_freq
h3 = 3.0 * dominant_freq
harmonic_2_ratio = harmonic_ratio(freqs, power, h2, tolerance)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band_energy 统计某个频率范围内的能量总和。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ratio 用频带能量除以总能量，便于不同强度样本之间比较。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h2、h3 是主频的 2 倍和 3 倍。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harmonic_ratio 观察周期动作是否有明显倍频结构。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频带比例比绝对能量更适合比较不同人、不同速度、不同佩戴强度的数据。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代码讲解：保存特征表和生成图片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57784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00">
                <a:solidFill>
                  <a:srgbClr val="1F3040"/>
                </a:solidFill>
                <a:latin typeface="Consolas"/>
              </a:rPr>
              <a:t>raw.to_csv(out_dir / "clean_data_normalized.csv", index=False)
features.to_csv(out_dir / "features_all.csv", index=False)
write_summary(raw, features, out_dir)
write_feature_dictionary(out_dir, cfg)
make_plots(raw, features, cfg, out_dir)
return {
    "feature_path": out_dir / "features_all.csv",
    "plots_dir": out_dir / "plots"
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25880"/>
            <a:ext cx="470916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clean_data_normalized.csv 保存单位还原后的原始清洗数据。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features_all.csv 保存每个窗口提取出的完整特征。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dataset_summary.csv 和 feature_dictionary.md 用于检查和复现。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make_plots 负责生成后续要讲的所有可视化图片。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代码讲解的最终落点是 features_all.csv：它就是 Day13 模型训练的输入表。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标签页 4：可视化预览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左侧列表显示 plots 目录下生成的 PNG。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右侧可以快速预览当前选中的图片。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先用图判断数据质量，再进入模型训练。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可视化不是装饰，而是训练前的体检。</a:t>
            </a:r>
          </a:p>
        </p:txBody>
      </p:sp>
      <p:pic>
        <p:nvPicPr>
          <p:cNvPr id="12" name="Picture 11" descr="day12_gui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93081"/>
            <a:ext cx="5897880" cy="331755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输出文件：每个文件应该怎么用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features_all.csv：每个窗口一行，是 Day13 训练模型的核心输入。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clean_data_normalized.csv：单位还原后的清洗数据，便于排查原始曲线。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dataset_summary.csv：每类样本行数、窗口数和持续时间摘要。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feature_dictionary.md：记录特征公式、含义和参数配置。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average_fft_lin_acc_mag.csv：平均频谱的数值版本。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plots/time_series_by_label.png：看原始动作曲线。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plots/average_fft_lin_acc_mag.png：看频率节奏。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plots/feature_distribution_boxplots.png：看关键特征区分度。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plots/feature_correlation_heatmap.png：看特征是否重复。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plots/feature_pca_like_scatter.png：看整体分离趋势。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Day13 最主要读取 features_all.csv；其他文件用于解释、排错和筛选特征。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2801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81328"/>
            <a:ext cx="87782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第五部分：可视化结果深讲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87782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Microsoft YaHei"/>
              </a:rPr>
              <a:t>不是为了画漂亮图，而是用图提前发现数据、特征和参数的问题。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45720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26364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DCE6F1"/>
                </a:solidFill>
                <a:latin typeface="Microsoft YaHei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时间序列图：先确认数据像不像动作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横轴是时间，纵轴是线性加速度模长和陀螺仪模长。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先看 idle 是否平稳，静止不应该出现大幅周期波动。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再看 walk 是否有比较规律的上下波动。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最后看 stairs 是否比 walk 更强、更不平滑或冲击更明显。</a:t>
            </a:r>
          </a:p>
        </p:txBody>
      </p:sp>
      <p:pic>
        <p:nvPicPr>
          <p:cNvPr id="12" name="Picture 11" descr="time_series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535049"/>
            <a:ext cx="5897880" cy="383362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时间序列图：常见异常应该怎么判断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idle 波动很大：静止采集不稳定，可能手持或桌面震动。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walk 没有周期：动作太短、标签切换错、传感器固定方式不稳定。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stairs 和 walk 完全重叠：采集动作差异不明显，或样本太少。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曲线突然尖峰很多：可能撞击、线缆拉扯、传感器限幅或清洗参数不合适。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回到 Day11 重新采集更稳定的数据。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检查 GUI 采集时是否按对了当前动作标签。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查看 dataset_summary.csv，确认每类数据时长是否足够。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必要时调整 Day11 清洗参数，再重新生成 Day12 特征。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不要指望模型帮你修复坏数据；坏数据进入训练集，模型只会学到混乱规律。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平均 FFT 频谱图：看动作节奏集中在哪些频率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横轴是频率 Hz，纵轴是平均功率。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先忽略 0Hz，重点看 0.3 到 8Hz 范围。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峰值位置对应动作中的主要节奏。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walk 和 stairs 的峰值、能量宽度和高频尾部可能不同。</a:t>
            </a:r>
          </a:p>
        </p:txBody>
      </p:sp>
      <p:pic>
        <p:nvPicPr>
          <p:cNvPr id="12" name="Picture 11" descr="average_fft_lin_acc_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43347"/>
            <a:ext cx="5897880" cy="32170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从频谱图读出主频、频带能量和频谱质心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主频：非 0Hz 中能量最大的频率点。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低频能量：人体动作节律通常集中的区域。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高频能量：冲击、抖动、噪声或快速变化更明显。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频谱质心：能量整体偏低频还是偏高频。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walk：常见表现是低频节奏较稳定。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stairs：可能低频节奏存在，同时高频或谐波更明显。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idle：理想情况是总能量较低，没有强主峰。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如果三类频谱几乎一样，频域特征的帮助会有限。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频域特征不是背公式，而是把“动作节奏”和“能量分布”变成数字。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特征箱线图：判断某个特征有没有区分度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每个小图对应一个关键特征。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每个箱子对应一个动作类别的窗口分布。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箱子分得开，说明这个特征可能有用。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箱子大量重叠，说明单靠这个特征很难区分类别。</a:t>
            </a:r>
          </a:p>
        </p:txBody>
      </p:sp>
      <p:pic>
        <p:nvPicPr>
          <p:cNvPr id="12" name="Picture 11" descr="feature_distribution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66751"/>
            <a:ext cx="5897880" cy="3370217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相关性热力图：哪些特征在重复表达同一件事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横轴和纵轴都是特征名。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颜色接近 +1，表示两个特征同步变化。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颜色接近 -1，表示一个增大时另一个减小。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颜色接近 0，表示线性相关性弱。</a:t>
            </a:r>
          </a:p>
        </p:txBody>
      </p:sp>
      <p:pic>
        <p:nvPicPr>
          <p:cNvPr id="12" name="Picture 11" descr="featur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45" y="1325880"/>
            <a:ext cx="531495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二维投影图：从整体上看类别分离趋势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298448"/>
            <a:ext cx="4617720" cy="434340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重点内容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每个点代表一个窗口样本。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颜色代表 idle、walk、stairs 标签。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距离近表示特征整体更相似。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类别分得开，说明特征组合可能对模型有帮助。</a:t>
            </a:r>
          </a:p>
        </p:txBody>
      </p:sp>
      <p:pic>
        <p:nvPicPr>
          <p:cNvPr id="12" name="Picture 11" descr="feature_pca_lik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217" y="1325880"/>
            <a:ext cx="5466805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从图回到工程决策：什么时候重新采集，什么时候调参数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时间序列异常：优先重新采集或检查标签。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FFT 没有差异：检查动作节奏是否明显，或调整窗口大小。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箱线图重叠严重：考虑增加/替换特征，或改善数据质量。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热力图高度重复：部署前考虑删减冗余特征。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二维投影混在一起：不要直接期待模型奇迹。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样本数量太少：回到 Day11 补采数据。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某类波动很大：检查佩戴位置和动作标准。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参数调整后要另存输出目录，方便对比。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可视化的最终目的，是让我们知道下一步该改数据、改参数，还是进入训练。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常见问题：为什么没有生成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直接运行旧版脚本时，如果没有 --input 或 --demo，就不会处理数据。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新版脚本直接运行会打开 GUI，降低误操作概率。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命令行模式仍然必须明确指定输入或 demo。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默认输出会生成到 day12_feature_outputs，避免生成到未知目录。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GUI 里文件列表为空：输入路径不对。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日志提示没有窗口：窗口大小太大，或某类样本太少。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只生成部分标签：检查标签勾选和 clean.csv 文件名。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图片没有更新：确认输出目录是否是当前查看的目录。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排错顺序：先看路径，再看标签，再看窗口参数，最后才怀疑代码。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训练和部署必须使用同一套特征逻辑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Python 里怎么切窗口，MCU 端就要能复现。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Python 里怎么单位还原，部署端就要保持一致。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训练用了哪些特征，部署时也必须计算同样特征。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FFT 特征要额外评估 MCU 计算成本。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如果部署只想用时域特征，训练时不要依赖大量频域特征。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如果训练用 64 点窗口，部署也要缓存 64 点。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如果训练用模长，部署端也要计算模长。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feature_dictionary.md 就是为了记录这些约定。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TinyML 最怕电脑上训练一套，板子上运行另一套。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Day13 如何使用 features_all.csv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features_all.csv 是模型训练的数据表。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每一行是一个窗口样本。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特征列是模型输入 X。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label 或 label_id 是模型要学习的答案 y。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Day13 会划分训练集、验证集、测试集。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会比较不同模型和不同特征组合。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会关注准确率，也会关注部署成本。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最终目标是让 STM32N647 能识别静止、走路、上楼梯。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Day12 负责把连续传感器数据变成表格；Day13 才开始训练分类模型。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本节课小结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理解了特征工程连接 Day11 数据采集和 Day13 模型训练。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掌握了 GUI 上位机工具的四个标签页。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理解了采样率、窗口大小、窗口步长和频段参数。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知道每张可视化图应该先看什么、怎么看异常。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会从 Day11 clean.csv 生成 features_all.csv。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会用日志判断流程是否跑通。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会用时间序列、FFT、箱线图、热力图、二维投影检查特征。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知道训练和部署特征逻辑必须一致。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学完 Day12，你应该能把传感器数据整理成一张可训练、可解释、可排查的特征表。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</a:rPr>
              <a:t>Day12 特征提取与可视化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F3040"/>
                </a:solidFill>
                <a:latin typeface="Microsoft YaHei"/>
              </a:rPr>
              <a:t>课后练习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33271"/>
            <a:ext cx="111556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201168"/>
            <a:ext cx="6400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Microsoft YaHei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Microsoft YaHei"/>
              </a:rPr>
              <a:t>公众号：玩转单片机与嵌入式 | Day12 特征提取与可视化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25880"/>
            <a:ext cx="5074920" cy="4297680"/>
          </a:xfrm>
          <a:prstGeom prst="roundRect">
            <a:avLst/>
          </a:prstGeom>
          <a:solidFill>
            <a:srgbClr val="F2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2E75B6"/>
                </a:solidFill>
                <a:latin typeface="Microsoft YaHei"/>
              </a:rPr>
              <a:t>先看什么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用自己的 Day11 数据运行 GUI，生成 features_all.csv。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分别用窗口大小 32、64、128 运行三次，保存到不同输出目录。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比较时间序列、FFT 和箱线图的变化。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记录哪一组参数让 walk 和 stairs 更容易分开。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074920" cy="4297680"/>
          </a:xfrm>
          <a:prstGeom prst="roundRect">
            <a:avLst/>
          </a:prstGeom>
          <a:solidFill>
            <a:srgbClr val="E8F5E9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700" b="1">
                <a:solidFill>
                  <a:srgbClr val="70AD47"/>
                </a:solidFill>
                <a:latin typeface="Microsoft YaHei"/>
              </a:rPr>
              <a:t>再判断什么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只勾选 walk 和 stairs，观察二维投影图。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尝试只看时域特征，思考部署是否更容易。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打开 dataset_summary.csv，确认每类窗口数量是否均衡。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3040"/>
                </a:solidFill>
                <a:latin typeface="Microsoft YaHei"/>
              </a:rPr>
              <a:t>• 为 Day13 准备一份你认为质量最好的 features_all.csv。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42432"/>
            <a:ext cx="106984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ctr"/>
            <a:r>
              <a:rPr sz="1400" b="1">
                <a:solidFill>
                  <a:srgbClr val="ED7D31"/>
                </a:solidFill>
                <a:latin typeface="Microsoft YaHei"/>
              </a:rPr>
              <a:t>学习要点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1F3040"/>
                </a:solidFill>
                <a:latin typeface="Microsoft YaHei"/>
              </a:rPr>
              <a:t>• 课后练习的目标不是跑一次脚本，而是学会用图和参数判断数据是否适合训练。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3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4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5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6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7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8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9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0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1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2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3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4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5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6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7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8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19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0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1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2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3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4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5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6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7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8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ags/tag29.xml><?xml version="1.0" encoding="utf-8"?>
<p:tagLst xmlns:p="http://schemas.openxmlformats.org/presentationml/2006/main">
  <p:tag name="KSO_WM_DIAGRAM_VIRTUALLY_FRAME" val="{&quot;height&quot;:151.55,&quot;left&quot;:50.4,&quot;top&quot;:144,&quot;width&quot;:887.0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18635</Words>
  <Application>WPS 演示</Application>
  <PresentationFormat>宽屏</PresentationFormat>
  <Paragraphs>1422</Paragraphs>
  <Slides>68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68</vt:i4>
      </vt:variant>
    </vt:vector>
  </HeadingPairs>
  <TitlesOfParts>
    <vt:vector size="92" baseType="lpstr">
      <vt:lpstr>Arial</vt:lpstr>
      <vt:lpstr>宋体</vt:lpstr>
      <vt:lpstr>Wingdings</vt:lpstr>
      <vt:lpstr>微软雅黑</vt:lpstr>
      <vt:lpstr>微软雅黑 Light</vt:lpstr>
      <vt:lpstr>Calibri</vt:lpstr>
      <vt:lpstr>Open Sans</vt:lpstr>
      <vt:lpstr>Montserrat Bold</vt:lpstr>
      <vt:lpstr>Montserrat</vt:lpstr>
      <vt:lpstr>思源黑体 CN Medium</vt:lpstr>
      <vt:lpstr>字魂58号-创中黑</vt:lpstr>
      <vt:lpstr>Helvetica Neue Medium</vt:lpstr>
      <vt:lpstr>Poppins Light</vt:lpstr>
      <vt:lpstr>OPPOSans L</vt:lpstr>
      <vt:lpstr>Wingdings</vt:lpstr>
      <vt:lpstr>等线</vt:lpstr>
      <vt:lpstr>Arial Unicode MS</vt:lpstr>
      <vt:lpstr>Consolas</vt:lpstr>
      <vt:lpstr>等线 Light</vt:lpstr>
      <vt:lpstr>Segoe Print</vt:lpstr>
      <vt:lpstr>黑体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个人年度任务项规划</dc:title>
  <dc:creator>马超/Chao Ma</dc:creator>
  <cp:lastModifiedBy>贺增甫</cp:lastModifiedBy>
  <cp:revision>484</cp:revision>
  <dcterms:created xsi:type="dcterms:W3CDTF">2024-02-28T02:14:00Z</dcterms:created>
  <dcterms:modified xsi:type="dcterms:W3CDTF">2026-05-31T11:34:52Z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CC9E1D37E2414E83BF830E484B3709AA_12</vt:lpwstr>
  </property>
</Properties>
</file>