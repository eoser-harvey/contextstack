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82"/>
  </p:handoutMasterIdLst>
  <p:sldIdLst>
    <p:sldId id="333" r:id="rId3"/>
    <p:sldId id="334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</p:sldIdLst>
  <p:sldSz cx="12191365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F7FA"/>
    <a:srgbClr val="FFFFFF"/>
    <a:srgbClr val="4472C4"/>
    <a:srgbClr val="0000FF"/>
    <a:srgbClr val="F5FCFC"/>
    <a:srgbClr val="37D0E2"/>
    <a:srgbClr val="36C7D7"/>
    <a:srgbClr val="18C3D6"/>
    <a:srgbClr val="22D3EF"/>
    <a:srgbClr val="2D31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6" autoAdjust="0"/>
    <p:restoredTop sz="79567" autoAdjust="0"/>
  </p:normalViewPr>
  <p:slideViewPr>
    <p:cSldViewPr snapToGrid="0">
      <p:cViewPr varScale="1">
        <p:scale>
          <a:sx n="88" d="100"/>
          <a:sy n="88" d="100"/>
        </p:scale>
        <p:origin x="1500" y="8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322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5" Type="http://schemas.openxmlformats.org/officeDocument/2006/relationships/tableStyles" Target="tableStyles.xml"/><Relationship Id="rId84" Type="http://schemas.openxmlformats.org/officeDocument/2006/relationships/viewProps" Target="viewProps.xml"/><Relationship Id="rId83" Type="http://schemas.openxmlformats.org/officeDocument/2006/relationships/presProps" Target="presProps.xml"/><Relationship Id="rId82" Type="http://schemas.openxmlformats.org/officeDocument/2006/relationships/handoutMaster" Target="handoutMasters/handoutMaster1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7D4B29-400F-4285-9793-B47B16C71F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ACCE3-0533-47BF-BD7F-1911409AB83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0AFF34-85D7-4EB3-877C-EC34D62261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021AA-CC5A-4C02-BCCC-FFFB3AB36BB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image" Target="../media/image9.svg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黑暗里有星球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8"/>
          <a:stretch>
            <a:fillRect/>
          </a:stretch>
        </p:blipFill>
        <p:spPr>
          <a:xfrm flipV="1">
            <a:off x="0" y="0"/>
            <a:ext cx="12192000" cy="7454900"/>
          </a:xfrm>
          <a:prstGeom prst="rect">
            <a:avLst/>
          </a:prstGeom>
        </p:spPr>
      </p:pic>
      <p:sp>
        <p:nvSpPr>
          <p:cNvPr id="28" name="文本占位符 27"/>
          <p:cNvSpPr>
            <a:spLocks noGrp="1"/>
          </p:cNvSpPr>
          <p:nvPr>
            <p:ph type="body" sz="quarter" idx="10" hasCustomPrompt="1"/>
          </p:nvPr>
        </p:nvSpPr>
        <p:spPr>
          <a:xfrm>
            <a:off x="4932793" y="2537392"/>
            <a:ext cx="6751207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None/>
              <a:defRPr sz="400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一级标题</a:t>
            </a:r>
            <a:endParaRPr lang="en-US" altLang="zh-CN" dirty="0"/>
          </a:p>
        </p:txBody>
      </p:sp>
      <p:sp>
        <p:nvSpPr>
          <p:cNvPr id="30" name="文本占位符 27"/>
          <p:cNvSpPr>
            <a:spLocks noGrp="1"/>
          </p:cNvSpPr>
          <p:nvPr>
            <p:ph type="body" sz="quarter" idx="11" hasCustomPrompt="1"/>
          </p:nvPr>
        </p:nvSpPr>
        <p:spPr>
          <a:xfrm>
            <a:off x="4932793" y="3296705"/>
            <a:ext cx="6751207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  <a:endParaRPr lang="en-US" altLang="zh-CN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 样式01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文本占位符 56"/>
          <p:cNvSpPr>
            <a:spLocks noGrp="1"/>
          </p:cNvSpPr>
          <p:nvPr>
            <p:ph type="body" sz="quarter" idx="11" hasCustomPrompt="1"/>
          </p:nvPr>
        </p:nvSpPr>
        <p:spPr>
          <a:xfrm>
            <a:off x="740320" y="2001020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58" name="文本占位符 56"/>
          <p:cNvSpPr>
            <a:spLocks noGrp="1"/>
          </p:cNvSpPr>
          <p:nvPr>
            <p:ph type="body" sz="quarter" idx="12" hasCustomPrompt="1"/>
          </p:nvPr>
        </p:nvSpPr>
        <p:spPr>
          <a:xfrm>
            <a:off x="740320" y="2373337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1" name="文本占位符 56"/>
          <p:cNvSpPr>
            <a:spLocks noGrp="1"/>
          </p:cNvSpPr>
          <p:nvPr>
            <p:ph type="body" sz="quarter" idx="13" hasCustomPrompt="1"/>
          </p:nvPr>
        </p:nvSpPr>
        <p:spPr>
          <a:xfrm>
            <a:off x="4329340" y="2001020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62" name="文本占位符 56"/>
          <p:cNvSpPr>
            <a:spLocks noGrp="1"/>
          </p:cNvSpPr>
          <p:nvPr>
            <p:ph type="body" sz="quarter" idx="14" hasCustomPrompt="1"/>
          </p:nvPr>
        </p:nvSpPr>
        <p:spPr>
          <a:xfrm>
            <a:off x="4329340" y="2373337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7" name="文本占位符 56"/>
          <p:cNvSpPr>
            <a:spLocks noGrp="1"/>
          </p:cNvSpPr>
          <p:nvPr>
            <p:ph type="body" sz="quarter" idx="15" hasCustomPrompt="1"/>
          </p:nvPr>
        </p:nvSpPr>
        <p:spPr>
          <a:xfrm>
            <a:off x="740320" y="2907797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8" name="文本占位符 56"/>
          <p:cNvSpPr>
            <a:spLocks noGrp="1"/>
          </p:cNvSpPr>
          <p:nvPr>
            <p:ph type="body" sz="quarter" idx="16" hasCustomPrompt="1"/>
          </p:nvPr>
        </p:nvSpPr>
        <p:spPr>
          <a:xfrm>
            <a:off x="740320" y="3280114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9" name="文本占位符 56"/>
          <p:cNvSpPr>
            <a:spLocks noGrp="1"/>
          </p:cNvSpPr>
          <p:nvPr>
            <p:ph type="body" sz="quarter" idx="17" hasCustomPrompt="1"/>
          </p:nvPr>
        </p:nvSpPr>
        <p:spPr>
          <a:xfrm>
            <a:off x="4329340" y="2907797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70" name="文本占位符 56"/>
          <p:cNvSpPr>
            <a:spLocks noGrp="1"/>
          </p:cNvSpPr>
          <p:nvPr>
            <p:ph type="body" sz="quarter" idx="18" hasCustomPrompt="1"/>
          </p:nvPr>
        </p:nvSpPr>
        <p:spPr>
          <a:xfrm>
            <a:off x="4329340" y="3280114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1" name="文本占位符 56"/>
          <p:cNvSpPr>
            <a:spLocks noGrp="1"/>
          </p:cNvSpPr>
          <p:nvPr>
            <p:ph type="body" sz="quarter" idx="19" hasCustomPrompt="1"/>
          </p:nvPr>
        </p:nvSpPr>
        <p:spPr>
          <a:xfrm>
            <a:off x="740320" y="3808549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72" name="文本占位符 56"/>
          <p:cNvSpPr>
            <a:spLocks noGrp="1"/>
          </p:cNvSpPr>
          <p:nvPr>
            <p:ph type="body" sz="quarter" idx="20" hasCustomPrompt="1"/>
          </p:nvPr>
        </p:nvSpPr>
        <p:spPr>
          <a:xfrm>
            <a:off x="740320" y="4180866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3" name="文本占位符 56"/>
          <p:cNvSpPr>
            <a:spLocks noGrp="1"/>
          </p:cNvSpPr>
          <p:nvPr>
            <p:ph type="body" sz="quarter" idx="21" hasCustomPrompt="1"/>
          </p:nvPr>
        </p:nvSpPr>
        <p:spPr>
          <a:xfrm>
            <a:off x="4329340" y="3808549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74" name="文本占位符 56"/>
          <p:cNvSpPr>
            <a:spLocks noGrp="1"/>
          </p:cNvSpPr>
          <p:nvPr>
            <p:ph type="body" sz="quarter" idx="22" hasCustomPrompt="1"/>
          </p:nvPr>
        </p:nvSpPr>
        <p:spPr>
          <a:xfrm>
            <a:off x="4329340" y="4180866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5" name="文本占位符 56"/>
          <p:cNvSpPr>
            <a:spLocks noGrp="1"/>
          </p:cNvSpPr>
          <p:nvPr>
            <p:ph type="body" sz="quarter" idx="23" hasCustomPrompt="1"/>
          </p:nvPr>
        </p:nvSpPr>
        <p:spPr>
          <a:xfrm>
            <a:off x="740320" y="4716125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07</a:t>
            </a:r>
            <a:endParaRPr lang="zh-CN" altLang="en-US" dirty="0"/>
          </a:p>
        </p:txBody>
      </p:sp>
      <p:sp>
        <p:nvSpPr>
          <p:cNvPr id="76" name="文本占位符 56"/>
          <p:cNvSpPr>
            <a:spLocks noGrp="1"/>
          </p:cNvSpPr>
          <p:nvPr>
            <p:ph type="body" sz="quarter" idx="24" hasCustomPrompt="1"/>
          </p:nvPr>
        </p:nvSpPr>
        <p:spPr>
          <a:xfrm>
            <a:off x="740320" y="5088442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7" name="文本占位符 56"/>
          <p:cNvSpPr>
            <a:spLocks noGrp="1"/>
          </p:cNvSpPr>
          <p:nvPr>
            <p:ph type="body" sz="quarter" idx="25" hasCustomPrompt="1"/>
          </p:nvPr>
        </p:nvSpPr>
        <p:spPr>
          <a:xfrm>
            <a:off x="4329340" y="4716125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08</a:t>
            </a:r>
            <a:endParaRPr lang="zh-CN" altLang="en-US" dirty="0"/>
          </a:p>
        </p:txBody>
      </p:sp>
      <p:sp>
        <p:nvSpPr>
          <p:cNvPr id="78" name="文本占位符 56"/>
          <p:cNvSpPr>
            <a:spLocks noGrp="1"/>
          </p:cNvSpPr>
          <p:nvPr>
            <p:ph type="body" sz="quarter" idx="26" hasCustomPrompt="1"/>
          </p:nvPr>
        </p:nvSpPr>
        <p:spPr>
          <a:xfrm>
            <a:off x="4329340" y="5088442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83" name="文本占位符 81"/>
          <p:cNvSpPr>
            <a:spLocks noGrp="1"/>
          </p:cNvSpPr>
          <p:nvPr>
            <p:ph type="body" sz="quarter" idx="27" hasCustomPrompt="1"/>
          </p:nvPr>
        </p:nvSpPr>
        <p:spPr>
          <a:xfrm>
            <a:off x="740320" y="938117"/>
            <a:ext cx="9404590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4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 样式02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31"/>
          </p:nvPr>
        </p:nvSpPr>
        <p:spPr>
          <a:xfrm>
            <a:off x="6062393" y="0"/>
            <a:ext cx="6120000" cy="685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1" name="文本占位符 81"/>
          <p:cNvSpPr>
            <a:spLocks noGrp="1"/>
          </p:cNvSpPr>
          <p:nvPr>
            <p:ph type="body" sz="quarter" idx="27" hasCustomPrompt="1"/>
          </p:nvPr>
        </p:nvSpPr>
        <p:spPr>
          <a:xfrm>
            <a:off x="740320" y="938117"/>
            <a:ext cx="9404590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4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22" name="文本占位符 56"/>
          <p:cNvSpPr>
            <a:spLocks noGrp="1"/>
          </p:cNvSpPr>
          <p:nvPr>
            <p:ph type="body" sz="quarter" idx="11" hasCustomPrompt="1"/>
          </p:nvPr>
        </p:nvSpPr>
        <p:spPr>
          <a:xfrm>
            <a:off x="740320" y="2001020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23" name="文本占位符 56"/>
          <p:cNvSpPr>
            <a:spLocks noGrp="1"/>
          </p:cNvSpPr>
          <p:nvPr>
            <p:ph type="body" sz="quarter" idx="12" hasCustomPrompt="1"/>
          </p:nvPr>
        </p:nvSpPr>
        <p:spPr>
          <a:xfrm>
            <a:off x="740320" y="2373337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5" name="文本占位符 56"/>
          <p:cNvSpPr>
            <a:spLocks noGrp="1"/>
          </p:cNvSpPr>
          <p:nvPr>
            <p:ph type="body" sz="quarter" idx="15" hasCustomPrompt="1"/>
          </p:nvPr>
        </p:nvSpPr>
        <p:spPr>
          <a:xfrm>
            <a:off x="740320" y="2907797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7" name="文本占位符 56"/>
          <p:cNvSpPr>
            <a:spLocks noGrp="1"/>
          </p:cNvSpPr>
          <p:nvPr>
            <p:ph type="body" sz="quarter" idx="16" hasCustomPrompt="1"/>
          </p:nvPr>
        </p:nvSpPr>
        <p:spPr>
          <a:xfrm>
            <a:off x="740320" y="3280114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9" name="文本占位符 56"/>
          <p:cNvSpPr>
            <a:spLocks noGrp="1"/>
          </p:cNvSpPr>
          <p:nvPr>
            <p:ph type="body" sz="quarter" idx="19" hasCustomPrompt="1"/>
          </p:nvPr>
        </p:nvSpPr>
        <p:spPr>
          <a:xfrm>
            <a:off x="740320" y="3808549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31" name="文本占位符 56"/>
          <p:cNvSpPr>
            <a:spLocks noGrp="1"/>
          </p:cNvSpPr>
          <p:nvPr>
            <p:ph type="body" sz="quarter" idx="20" hasCustomPrompt="1"/>
          </p:nvPr>
        </p:nvSpPr>
        <p:spPr>
          <a:xfrm>
            <a:off x="740320" y="4180866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3" name="文本占位符 56"/>
          <p:cNvSpPr>
            <a:spLocks noGrp="1"/>
          </p:cNvSpPr>
          <p:nvPr>
            <p:ph type="body" sz="quarter" idx="23" hasCustomPrompt="1"/>
          </p:nvPr>
        </p:nvSpPr>
        <p:spPr>
          <a:xfrm>
            <a:off x="740320" y="4716125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07</a:t>
            </a:r>
            <a:endParaRPr lang="zh-CN" altLang="en-US" dirty="0"/>
          </a:p>
        </p:txBody>
      </p:sp>
      <p:sp>
        <p:nvSpPr>
          <p:cNvPr id="35" name="文本占位符 56"/>
          <p:cNvSpPr>
            <a:spLocks noGrp="1"/>
          </p:cNvSpPr>
          <p:nvPr>
            <p:ph type="body" sz="quarter" idx="24" hasCustomPrompt="1"/>
          </p:nvPr>
        </p:nvSpPr>
        <p:spPr>
          <a:xfrm>
            <a:off x="740320" y="5088442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块介绍页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" descr="preencoded.png"/>
          <p:cNvPicPr/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473700" y="0"/>
            <a:ext cx="6718300" cy="6858000"/>
          </a:xfrm>
          <a:prstGeom prst="rect">
            <a:avLst/>
          </a:prstGeom>
        </p:spPr>
      </p:pic>
      <p:sp>
        <p:nvSpPr>
          <p:cNvPr id="6" name="文本占位符 81"/>
          <p:cNvSpPr>
            <a:spLocks noGrp="1"/>
          </p:cNvSpPr>
          <p:nvPr>
            <p:ph type="body" sz="quarter" idx="27" hasCustomPrompt="1"/>
          </p:nvPr>
        </p:nvSpPr>
        <p:spPr>
          <a:xfrm>
            <a:off x="740320" y="2535018"/>
            <a:ext cx="9404590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4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endParaRPr lang="en-US" altLang="zh-CN" dirty="0"/>
          </a:p>
        </p:txBody>
      </p:sp>
      <p:sp>
        <p:nvSpPr>
          <p:cNvPr id="7" name="文本占位符 56"/>
          <p:cNvSpPr>
            <a:spLocks noGrp="1"/>
          </p:cNvSpPr>
          <p:nvPr>
            <p:ph type="body" sz="quarter" idx="16" hasCustomPrompt="1"/>
          </p:nvPr>
        </p:nvSpPr>
        <p:spPr>
          <a:xfrm>
            <a:off x="740319" y="3280114"/>
            <a:ext cx="9404590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6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浅色空白页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文版式01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5"/>
          <p:cNvSpPr>
            <a:spLocks noGrp="1" noChangeAspect="1"/>
          </p:cNvSpPr>
          <p:nvPr>
            <p:ph type="pic" sz="quarter" idx="21"/>
          </p:nvPr>
        </p:nvSpPr>
        <p:spPr>
          <a:xfrm>
            <a:off x="5520532" y="2028190"/>
            <a:ext cx="1150937" cy="114935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5277441" y="3301287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23" hasCustomPrompt="1"/>
          </p:nvPr>
        </p:nvSpPr>
        <p:spPr>
          <a:xfrm>
            <a:off x="5277441" y="3628005"/>
            <a:ext cx="163711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  <a:endParaRPr lang="zh-CN" altLang="en-US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4522311" y="3899323"/>
            <a:ext cx="31473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spc="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介绍字段</a:t>
            </a:r>
            <a:endParaRPr lang="zh-CN" altLang="en-US" dirty="0"/>
          </a:p>
        </p:txBody>
      </p:sp>
      <p:sp>
        <p:nvSpPr>
          <p:cNvPr id="14" name="图片占位符 5"/>
          <p:cNvSpPr>
            <a:spLocks noGrp="1" noChangeAspect="1"/>
          </p:cNvSpPr>
          <p:nvPr>
            <p:ph type="pic" sz="quarter" idx="25"/>
          </p:nvPr>
        </p:nvSpPr>
        <p:spPr>
          <a:xfrm>
            <a:off x="1885792" y="2028190"/>
            <a:ext cx="1150937" cy="114935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1642701" y="3301287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27" hasCustomPrompt="1"/>
          </p:nvPr>
        </p:nvSpPr>
        <p:spPr>
          <a:xfrm>
            <a:off x="1642701" y="3628005"/>
            <a:ext cx="163711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  <a:endParaRPr lang="zh-CN" altLang="en-US" dirty="0"/>
          </a:p>
        </p:txBody>
      </p:sp>
      <p:sp>
        <p:nvSpPr>
          <p:cNvPr id="18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887571" y="3899323"/>
            <a:ext cx="31473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spc="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介绍字段</a:t>
            </a:r>
            <a:endParaRPr lang="zh-CN" altLang="en-US" dirty="0"/>
          </a:p>
        </p:txBody>
      </p:sp>
      <p:sp>
        <p:nvSpPr>
          <p:cNvPr id="19" name="图片占位符 5"/>
          <p:cNvSpPr>
            <a:spLocks noGrp="1" noChangeAspect="1"/>
          </p:cNvSpPr>
          <p:nvPr>
            <p:ph type="pic" sz="quarter" idx="29"/>
          </p:nvPr>
        </p:nvSpPr>
        <p:spPr>
          <a:xfrm>
            <a:off x="9155272" y="2028190"/>
            <a:ext cx="1150937" cy="114935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20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8912181" y="3301287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31" hasCustomPrompt="1"/>
          </p:nvPr>
        </p:nvSpPr>
        <p:spPr>
          <a:xfrm>
            <a:off x="8912181" y="3628005"/>
            <a:ext cx="163711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32" hasCustomPrompt="1"/>
          </p:nvPr>
        </p:nvSpPr>
        <p:spPr>
          <a:xfrm>
            <a:off x="8157051" y="3899323"/>
            <a:ext cx="31473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spc="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介绍字段</a:t>
            </a:r>
            <a:endParaRPr lang="zh-CN" altLang="en-US" dirty="0"/>
          </a:p>
        </p:txBody>
      </p:sp>
      <p:sp>
        <p:nvSpPr>
          <p:cNvPr id="2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1297404"/>
            <a:ext cx="6188400" cy="46404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8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6636602" y="1834974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6636602" y="2185482"/>
            <a:ext cx="48150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lang="zh-CN" altLang="en-US" sz="1200" kern="120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介绍字段</a:t>
            </a:r>
            <a:endParaRPr lang="zh-CN" altLang="en-US" dirty="0"/>
          </a:p>
        </p:txBody>
      </p:sp>
      <p:sp>
        <p:nvSpPr>
          <p:cNvPr id="1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1489587"/>
            <a:ext cx="12192000" cy="262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370016" y="4406257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 15"/>
          <p:cNvSpPr txBox="1"/>
          <p:nvPr/>
        </p:nvSpPr>
        <p:spPr>
          <a:xfrm>
            <a:off x="6982160" y="4586034"/>
            <a:ext cx="4707426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600" dirty="0"/>
              <a:t>标题</a:t>
            </a:r>
            <a:endParaRPr lang="zh-CN" altLang="en-US" sz="1600" dirty="0"/>
          </a:p>
        </p:txBody>
      </p:sp>
      <p:sp>
        <p:nvSpPr>
          <p:cNvPr id="18" name="标题 15"/>
          <p:cNvSpPr txBox="1"/>
          <p:nvPr userDrawn="1"/>
        </p:nvSpPr>
        <p:spPr>
          <a:xfrm>
            <a:off x="6370016" y="4979587"/>
            <a:ext cx="531957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介绍字段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502414" y="4406257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标题 15"/>
          <p:cNvSpPr txBox="1"/>
          <p:nvPr userDrawn="1"/>
        </p:nvSpPr>
        <p:spPr>
          <a:xfrm>
            <a:off x="1114558" y="4586034"/>
            <a:ext cx="4730235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600" dirty="0"/>
              <a:t>标题</a:t>
            </a:r>
            <a:endParaRPr lang="zh-CN" altLang="en-US" sz="1600" dirty="0"/>
          </a:p>
        </p:txBody>
      </p:sp>
      <p:sp>
        <p:nvSpPr>
          <p:cNvPr id="22" name="标题 15"/>
          <p:cNvSpPr txBox="1"/>
          <p:nvPr userDrawn="1"/>
        </p:nvSpPr>
        <p:spPr>
          <a:xfrm>
            <a:off x="502414" y="4979587"/>
            <a:ext cx="531957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介绍字段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1489587"/>
            <a:ext cx="12192000" cy="262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8" name="标题 15"/>
          <p:cNvSpPr txBox="1"/>
          <p:nvPr userDrawn="1"/>
        </p:nvSpPr>
        <p:spPr>
          <a:xfrm>
            <a:off x="502414" y="4586034"/>
            <a:ext cx="5319570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600" dirty="0"/>
              <a:t>标题</a:t>
            </a:r>
            <a:endParaRPr lang="zh-CN" altLang="en-US" sz="1600" dirty="0"/>
          </a:p>
        </p:txBody>
      </p:sp>
      <p:sp>
        <p:nvSpPr>
          <p:cNvPr id="9" name="标题 15"/>
          <p:cNvSpPr txBox="1"/>
          <p:nvPr userDrawn="1"/>
        </p:nvSpPr>
        <p:spPr>
          <a:xfrm>
            <a:off x="502414" y="4979587"/>
            <a:ext cx="531957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介绍字段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标题 15"/>
          <p:cNvSpPr txBox="1"/>
          <p:nvPr userDrawn="1"/>
        </p:nvSpPr>
        <p:spPr>
          <a:xfrm>
            <a:off x="6562858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11" name="标题 15"/>
          <p:cNvSpPr txBox="1"/>
          <p:nvPr userDrawn="1"/>
        </p:nvSpPr>
        <p:spPr>
          <a:xfrm>
            <a:off x="6558795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标题 15"/>
          <p:cNvSpPr txBox="1"/>
          <p:nvPr userDrawn="1"/>
        </p:nvSpPr>
        <p:spPr>
          <a:xfrm>
            <a:off x="8425695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标题 15"/>
          <p:cNvSpPr txBox="1"/>
          <p:nvPr userDrawn="1"/>
        </p:nvSpPr>
        <p:spPr>
          <a:xfrm>
            <a:off x="10284469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标题 15"/>
          <p:cNvSpPr txBox="1"/>
          <p:nvPr userDrawn="1"/>
        </p:nvSpPr>
        <p:spPr>
          <a:xfrm>
            <a:off x="6562858" y="5391326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17" name="标题 15"/>
          <p:cNvSpPr txBox="1"/>
          <p:nvPr userDrawn="1"/>
        </p:nvSpPr>
        <p:spPr>
          <a:xfrm>
            <a:off x="6558795" y="5784879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标题 15"/>
          <p:cNvSpPr txBox="1"/>
          <p:nvPr userDrawn="1"/>
        </p:nvSpPr>
        <p:spPr>
          <a:xfrm>
            <a:off x="8425695" y="5784879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标题 15"/>
          <p:cNvSpPr txBox="1"/>
          <p:nvPr userDrawn="1"/>
        </p:nvSpPr>
        <p:spPr>
          <a:xfrm>
            <a:off x="10284469" y="5784879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2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标题 15"/>
          <p:cNvSpPr txBox="1"/>
          <p:nvPr userDrawn="1"/>
        </p:nvSpPr>
        <p:spPr>
          <a:xfrm>
            <a:off x="8425695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3" name="标题 15"/>
          <p:cNvSpPr txBox="1"/>
          <p:nvPr userDrawn="1"/>
        </p:nvSpPr>
        <p:spPr>
          <a:xfrm>
            <a:off x="8425695" y="5391326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7" name="标题 15"/>
          <p:cNvSpPr txBox="1"/>
          <p:nvPr userDrawn="1"/>
        </p:nvSpPr>
        <p:spPr>
          <a:xfrm>
            <a:off x="10278375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23" name="标题 15"/>
          <p:cNvSpPr txBox="1"/>
          <p:nvPr userDrawn="1"/>
        </p:nvSpPr>
        <p:spPr>
          <a:xfrm>
            <a:off x="10278375" y="5391326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15865253650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 样式02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31"/>
          </p:nvPr>
        </p:nvSpPr>
        <p:spPr>
          <a:xfrm>
            <a:off x="6062393" y="0"/>
            <a:ext cx="6120000" cy="685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740320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740321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文本占位符 21"/>
          <p:cNvSpPr>
            <a:spLocks noGrp="1"/>
          </p:cNvSpPr>
          <p:nvPr>
            <p:ph type="body" sz="quarter" idx="32" hasCustomPrompt="1"/>
          </p:nvPr>
        </p:nvSpPr>
        <p:spPr>
          <a:xfrm>
            <a:off x="740320" y="3042936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" name="文本占位符 23"/>
          <p:cNvSpPr>
            <a:spLocks noGrp="1"/>
          </p:cNvSpPr>
          <p:nvPr>
            <p:ph type="body" sz="quarter" idx="33" hasCustomPrompt="1"/>
          </p:nvPr>
        </p:nvSpPr>
        <p:spPr>
          <a:xfrm>
            <a:off x="740321" y="2736018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1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740320" y="4116478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740321" y="3809560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740319" y="5190020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740320" y="4883102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4"/>
          <p:cNvSpPr>
            <a:spLocks noGrp="1"/>
          </p:cNvSpPr>
          <p:nvPr>
            <p:ph type="pic" sz="quarter" idx="31"/>
          </p:nvPr>
        </p:nvSpPr>
        <p:spPr>
          <a:xfrm>
            <a:off x="6072000" y="0"/>
            <a:ext cx="6120000" cy="33782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8" name="图片占位符 4"/>
          <p:cNvSpPr>
            <a:spLocks noGrp="1"/>
          </p:cNvSpPr>
          <p:nvPr>
            <p:ph type="pic" sz="quarter" idx="32"/>
          </p:nvPr>
        </p:nvSpPr>
        <p:spPr>
          <a:xfrm>
            <a:off x="6072000" y="3486625"/>
            <a:ext cx="6120000" cy="33782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9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740320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740321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1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4"/>
          <p:cNvSpPr>
            <a:spLocks noGrp="1"/>
          </p:cNvSpPr>
          <p:nvPr>
            <p:ph type="pic" sz="quarter" idx="32"/>
          </p:nvPr>
        </p:nvSpPr>
        <p:spPr>
          <a:xfrm>
            <a:off x="504000" y="1521725"/>
            <a:ext cx="5535771" cy="307255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1" name="图片占位符 4"/>
          <p:cNvSpPr>
            <a:spLocks noGrp="1"/>
          </p:cNvSpPr>
          <p:nvPr>
            <p:ph type="pic" sz="quarter" idx="33"/>
          </p:nvPr>
        </p:nvSpPr>
        <p:spPr>
          <a:xfrm>
            <a:off x="6152228" y="1521725"/>
            <a:ext cx="5535771" cy="307255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5176515"/>
            <a:ext cx="1118399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4001" y="4869597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4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4"/>
          <p:cNvSpPr>
            <a:spLocks noGrp="1"/>
          </p:cNvSpPr>
          <p:nvPr>
            <p:ph type="pic" sz="quarter" idx="32"/>
          </p:nvPr>
        </p:nvSpPr>
        <p:spPr>
          <a:xfrm>
            <a:off x="504001" y="1466229"/>
            <a:ext cx="5277040" cy="296833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1" name="图片占位符 4"/>
          <p:cNvSpPr>
            <a:spLocks noGrp="1"/>
          </p:cNvSpPr>
          <p:nvPr>
            <p:ph type="pic" sz="quarter" idx="33"/>
          </p:nvPr>
        </p:nvSpPr>
        <p:spPr>
          <a:xfrm>
            <a:off x="6410959" y="2844262"/>
            <a:ext cx="5277040" cy="296833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504001" y="4685756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1116145" y="4869597"/>
            <a:ext cx="327542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5259086"/>
            <a:ext cx="527704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2" name="文本框 21"/>
          <p:cNvSpPr txBox="1"/>
          <p:nvPr userDrawn="1"/>
        </p:nvSpPr>
        <p:spPr>
          <a:xfrm>
            <a:off x="6410960" y="1455823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3"/>
          <p:cNvSpPr>
            <a:spLocks noGrp="1"/>
          </p:cNvSpPr>
          <p:nvPr>
            <p:ph type="body" sz="quarter" idx="34" hasCustomPrompt="1"/>
          </p:nvPr>
        </p:nvSpPr>
        <p:spPr>
          <a:xfrm>
            <a:off x="7023104" y="1639664"/>
            <a:ext cx="327542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35" hasCustomPrompt="1"/>
          </p:nvPr>
        </p:nvSpPr>
        <p:spPr>
          <a:xfrm>
            <a:off x="6410959" y="2029153"/>
            <a:ext cx="527704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图片占位符 4"/>
          <p:cNvSpPr>
            <a:spLocks noGrp="1"/>
          </p:cNvSpPr>
          <p:nvPr>
            <p:ph type="pic" sz="quarter" idx="32"/>
          </p:nvPr>
        </p:nvSpPr>
        <p:spPr>
          <a:xfrm>
            <a:off x="4407394" y="3800616"/>
            <a:ext cx="3377214" cy="2532912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7" name="图片占位符 4"/>
          <p:cNvSpPr>
            <a:spLocks noGrp="1"/>
          </p:cNvSpPr>
          <p:nvPr>
            <p:ph type="pic" sz="quarter" idx="33"/>
          </p:nvPr>
        </p:nvSpPr>
        <p:spPr>
          <a:xfrm>
            <a:off x="8310787" y="1466229"/>
            <a:ext cx="3377214" cy="2532912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8" name="图片占位符 4"/>
          <p:cNvSpPr>
            <a:spLocks noGrp="1"/>
          </p:cNvSpPr>
          <p:nvPr>
            <p:ph type="pic" sz="quarter" idx="34"/>
          </p:nvPr>
        </p:nvSpPr>
        <p:spPr>
          <a:xfrm>
            <a:off x="504000" y="1466229"/>
            <a:ext cx="3377214" cy="2532912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8" name="文本框 27"/>
          <p:cNvSpPr txBox="1"/>
          <p:nvPr userDrawn="1"/>
        </p:nvSpPr>
        <p:spPr>
          <a:xfrm>
            <a:off x="504000" y="4214574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1116144" y="4398415"/>
            <a:ext cx="276507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0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4787904"/>
            <a:ext cx="337721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1" name="文本框 30"/>
          <p:cNvSpPr txBox="1"/>
          <p:nvPr userDrawn="1"/>
        </p:nvSpPr>
        <p:spPr>
          <a:xfrm>
            <a:off x="4407392" y="1468850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5019536" y="1652691"/>
            <a:ext cx="276507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3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4407391" y="2042180"/>
            <a:ext cx="337721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4" name="文本框 33"/>
          <p:cNvSpPr txBox="1"/>
          <p:nvPr userDrawn="1"/>
        </p:nvSpPr>
        <p:spPr>
          <a:xfrm>
            <a:off x="8310789" y="4214574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8922933" y="4398415"/>
            <a:ext cx="276507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6" name="文本占位符 21"/>
          <p:cNvSpPr>
            <a:spLocks noGrp="1"/>
          </p:cNvSpPr>
          <p:nvPr>
            <p:ph type="body" sz="quarter" idx="38" hasCustomPrompt="1"/>
          </p:nvPr>
        </p:nvSpPr>
        <p:spPr>
          <a:xfrm>
            <a:off x="8310788" y="4787904"/>
            <a:ext cx="337721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8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12" name="图片占位符 4"/>
          <p:cNvSpPr>
            <a:spLocks noGrp="1"/>
          </p:cNvSpPr>
          <p:nvPr>
            <p:ph type="pic" sz="quarter" idx="34"/>
          </p:nvPr>
        </p:nvSpPr>
        <p:spPr>
          <a:xfrm>
            <a:off x="504000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4000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5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6" name="图片占位符 4"/>
          <p:cNvSpPr>
            <a:spLocks noGrp="1"/>
          </p:cNvSpPr>
          <p:nvPr>
            <p:ph type="pic" sz="quarter" idx="35"/>
          </p:nvPr>
        </p:nvSpPr>
        <p:spPr>
          <a:xfrm>
            <a:off x="3464453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36" hasCustomPrompt="1"/>
          </p:nvPr>
        </p:nvSpPr>
        <p:spPr>
          <a:xfrm>
            <a:off x="3464453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37" hasCustomPrompt="1"/>
          </p:nvPr>
        </p:nvSpPr>
        <p:spPr>
          <a:xfrm>
            <a:off x="3464453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图片占位符 4"/>
          <p:cNvSpPr>
            <a:spLocks noGrp="1"/>
          </p:cNvSpPr>
          <p:nvPr>
            <p:ph type="pic" sz="quarter" idx="38"/>
          </p:nvPr>
        </p:nvSpPr>
        <p:spPr>
          <a:xfrm>
            <a:off x="6427848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0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6427848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6427848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2" name="图片占位符 4"/>
          <p:cNvSpPr>
            <a:spLocks noGrp="1"/>
          </p:cNvSpPr>
          <p:nvPr>
            <p:ph type="pic" sz="quarter" idx="41"/>
          </p:nvPr>
        </p:nvSpPr>
        <p:spPr>
          <a:xfrm>
            <a:off x="9385358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3" name="文本占位符 23"/>
          <p:cNvSpPr>
            <a:spLocks noGrp="1"/>
          </p:cNvSpPr>
          <p:nvPr>
            <p:ph type="body" sz="quarter" idx="42" hasCustomPrompt="1"/>
          </p:nvPr>
        </p:nvSpPr>
        <p:spPr>
          <a:xfrm>
            <a:off x="9385358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43" hasCustomPrompt="1"/>
          </p:nvPr>
        </p:nvSpPr>
        <p:spPr>
          <a:xfrm>
            <a:off x="9385358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9" name="图片占位符 4"/>
          <p:cNvSpPr>
            <a:spLocks noGrp="1"/>
          </p:cNvSpPr>
          <p:nvPr>
            <p:ph type="pic" sz="quarter" idx="34"/>
          </p:nvPr>
        </p:nvSpPr>
        <p:spPr>
          <a:xfrm>
            <a:off x="504000" y="1801504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31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2882237" y="1801504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2882237" y="223303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6" name="图片占位符 4"/>
          <p:cNvSpPr>
            <a:spLocks noGrp="1"/>
          </p:cNvSpPr>
          <p:nvPr>
            <p:ph type="pic" sz="quarter" idx="35"/>
          </p:nvPr>
        </p:nvSpPr>
        <p:spPr>
          <a:xfrm>
            <a:off x="6479105" y="1801504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37" name="文本占位符 23"/>
          <p:cNvSpPr>
            <a:spLocks noGrp="1"/>
          </p:cNvSpPr>
          <p:nvPr>
            <p:ph type="body" sz="quarter" idx="36" hasCustomPrompt="1"/>
          </p:nvPr>
        </p:nvSpPr>
        <p:spPr>
          <a:xfrm>
            <a:off x="8857342" y="1801504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8" name="文本占位符 21"/>
          <p:cNvSpPr>
            <a:spLocks noGrp="1"/>
          </p:cNvSpPr>
          <p:nvPr>
            <p:ph type="body" sz="quarter" idx="37" hasCustomPrompt="1"/>
          </p:nvPr>
        </p:nvSpPr>
        <p:spPr>
          <a:xfrm>
            <a:off x="8857342" y="223303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5" name="图片占位符 4"/>
          <p:cNvSpPr>
            <a:spLocks noGrp="1"/>
          </p:cNvSpPr>
          <p:nvPr>
            <p:ph type="pic" sz="quarter" idx="38"/>
          </p:nvPr>
        </p:nvSpPr>
        <p:spPr>
          <a:xfrm>
            <a:off x="504000" y="3957851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6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2882237" y="3957851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7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2882237" y="4389382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8" name="图片占位符 4"/>
          <p:cNvSpPr>
            <a:spLocks noGrp="1"/>
          </p:cNvSpPr>
          <p:nvPr>
            <p:ph type="pic" sz="quarter" idx="41"/>
          </p:nvPr>
        </p:nvSpPr>
        <p:spPr>
          <a:xfrm>
            <a:off x="6479105" y="3957851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9" name="文本占位符 23"/>
          <p:cNvSpPr>
            <a:spLocks noGrp="1"/>
          </p:cNvSpPr>
          <p:nvPr>
            <p:ph type="body" sz="quarter" idx="42" hasCustomPrompt="1"/>
          </p:nvPr>
        </p:nvSpPr>
        <p:spPr>
          <a:xfrm>
            <a:off x="8857342" y="3957851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50" name="文本占位符 21"/>
          <p:cNvSpPr>
            <a:spLocks noGrp="1"/>
          </p:cNvSpPr>
          <p:nvPr>
            <p:ph type="body" sz="quarter" idx="43" hasCustomPrompt="1"/>
          </p:nvPr>
        </p:nvSpPr>
        <p:spPr>
          <a:xfrm>
            <a:off x="8857342" y="4389382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图片占位符 4"/>
          <p:cNvSpPr>
            <a:spLocks noGrp="1"/>
          </p:cNvSpPr>
          <p:nvPr>
            <p:ph type="pic" sz="quarter" idx="34"/>
          </p:nvPr>
        </p:nvSpPr>
        <p:spPr>
          <a:xfrm>
            <a:off x="-702" y="4224090"/>
            <a:ext cx="12192701" cy="262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01666" y="1710879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1150620" y="2085756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1150620" y="1707191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6751919" y="1710879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6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endParaRPr lang="zh-CN" altLang="en-US" sz="3600" kern="12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7400873" y="2085756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16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7400873" y="1707191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501666" y="3028272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6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  <a:endParaRPr lang="zh-CN" altLang="en-US" sz="3600" kern="12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1150620" y="3403149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1150620" y="3024584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0" name="文本框 19"/>
          <p:cNvSpPr txBox="1"/>
          <p:nvPr userDrawn="1"/>
        </p:nvSpPr>
        <p:spPr>
          <a:xfrm>
            <a:off x="6751919" y="3028272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6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04</a:t>
            </a:r>
            <a:endParaRPr lang="zh-CN" altLang="en-US" sz="3600" kern="12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7400873" y="3403149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7400873" y="3024584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3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6" y="2937840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0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1556" y="3268114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1" name="图片占位符 4"/>
          <p:cNvSpPr>
            <a:spLocks noGrp="1"/>
          </p:cNvSpPr>
          <p:nvPr>
            <p:ph type="pic" sz="quarter" idx="34"/>
          </p:nvPr>
        </p:nvSpPr>
        <p:spPr>
          <a:xfrm>
            <a:off x="501556" y="1390866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5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4253632" y="2937840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6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4253632" y="3268114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7" name="图片占位符 4"/>
          <p:cNvSpPr>
            <a:spLocks noGrp="1"/>
          </p:cNvSpPr>
          <p:nvPr>
            <p:ph type="pic" sz="quarter" idx="37"/>
          </p:nvPr>
        </p:nvSpPr>
        <p:spPr>
          <a:xfrm>
            <a:off x="4253632" y="1390866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8" name="文本占位符 23"/>
          <p:cNvSpPr>
            <a:spLocks noGrp="1"/>
          </p:cNvSpPr>
          <p:nvPr>
            <p:ph type="body" sz="quarter" idx="38" hasCustomPrompt="1"/>
          </p:nvPr>
        </p:nvSpPr>
        <p:spPr>
          <a:xfrm>
            <a:off x="8032837" y="2937840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9" name="文本占位符 21"/>
          <p:cNvSpPr>
            <a:spLocks noGrp="1"/>
          </p:cNvSpPr>
          <p:nvPr>
            <p:ph type="body" sz="quarter" idx="39" hasCustomPrompt="1"/>
          </p:nvPr>
        </p:nvSpPr>
        <p:spPr>
          <a:xfrm>
            <a:off x="8032837" y="3268114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51" name="图片占位符 4"/>
          <p:cNvSpPr>
            <a:spLocks noGrp="1"/>
          </p:cNvSpPr>
          <p:nvPr>
            <p:ph type="pic" sz="quarter" idx="40"/>
          </p:nvPr>
        </p:nvSpPr>
        <p:spPr>
          <a:xfrm>
            <a:off x="8032837" y="1390866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1" name="文本占位符 23"/>
          <p:cNvSpPr>
            <a:spLocks noGrp="1"/>
          </p:cNvSpPr>
          <p:nvPr>
            <p:ph type="body" sz="quarter" idx="41" hasCustomPrompt="1"/>
          </p:nvPr>
        </p:nvSpPr>
        <p:spPr>
          <a:xfrm>
            <a:off x="501556" y="5362983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2" name="文本占位符 21"/>
          <p:cNvSpPr>
            <a:spLocks noGrp="1"/>
          </p:cNvSpPr>
          <p:nvPr>
            <p:ph type="body" sz="quarter" idx="42" hasCustomPrompt="1"/>
          </p:nvPr>
        </p:nvSpPr>
        <p:spPr>
          <a:xfrm>
            <a:off x="501556" y="5693257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63" name="图片占位符 4"/>
          <p:cNvSpPr>
            <a:spLocks noGrp="1"/>
          </p:cNvSpPr>
          <p:nvPr>
            <p:ph type="pic" sz="quarter" idx="43"/>
          </p:nvPr>
        </p:nvSpPr>
        <p:spPr>
          <a:xfrm>
            <a:off x="501556" y="3816009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4" name="文本占位符 23"/>
          <p:cNvSpPr>
            <a:spLocks noGrp="1"/>
          </p:cNvSpPr>
          <p:nvPr>
            <p:ph type="body" sz="quarter" idx="44" hasCustomPrompt="1"/>
          </p:nvPr>
        </p:nvSpPr>
        <p:spPr>
          <a:xfrm>
            <a:off x="4253632" y="5362983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5" name="文本占位符 21"/>
          <p:cNvSpPr>
            <a:spLocks noGrp="1"/>
          </p:cNvSpPr>
          <p:nvPr>
            <p:ph type="body" sz="quarter" idx="45" hasCustomPrompt="1"/>
          </p:nvPr>
        </p:nvSpPr>
        <p:spPr>
          <a:xfrm>
            <a:off x="4253632" y="5693257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66" name="图片占位符 4"/>
          <p:cNvSpPr>
            <a:spLocks noGrp="1"/>
          </p:cNvSpPr>
          <p:nvPr>
            <p:ph type="pic" sz="quarter" idx="46"/>
          </p:nvPr>
        </p:nvSpPr>
        <p:spPr>
          <a:xfrm>
            <a:off x="4253632" y="3816009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7" name="文本占位符 23"/>
          <p:cNvSpPr>
            <a:spLocks noGrp="1"/>
          </p:cNvSpPr>
          <p:nvPr>
            <p:ph type="body" sz="quarter" idx="47" hasCustomPrompt="1"/>
          </p:nvPr>
        </p:nvSpPr>
        <p:spPr>
          <a:xfrm>
            <a:off x="8032837" y="5362983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8" name="文本占位符 21"/>
          <p:cNvSpPr>
            <a:spLocks noGrp="1"/>
          </p:cNvSpPr>
          <p:nvPr>
            <p:ph type="body" sz="quarter" idx="48" hasCustomPrompt="1"/>
          </p:nvPr>
        </p:nvSpPr>
        <p:spPr>
          <a:xfrm>
            <a:off x="8032837" y="5693257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69" name="图片占位符 4"/>
          <p:cNvSpPr>
            <a:spLocks noGrp="1"/>
          </p:cNvSpPr>
          <p:nvPr>
            <p:ph type="pic" sz="quarter" idx="49"/>
          </p:nvPr>
        </p:nvSpPr>
        <p:spPr>
          <a:xfrm>
            <a:off x="8032837" y="3816009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14" name="图片占位符 5"/>
          <p:cNvSpPr>
            <a:spLocks noGrp="1" noChangeAspect="1"/>
          </p:cNvSpPr>
          <p:nvPr>
            <p:ph type="pic" sz="quarter" idx="25"/>
          </p:nvPr>
        </p:nvSpPr>
        <p:spPr>
          <a:xfrm>
            <a:off x="821106" y="2684381"/>
            <a:ext cx="2868149" cy="286419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5" name="图片占位符 5"/>
          <p:cNvSpPr>
            <a:spLocks noGrp="1" noChangeAspect="1"/>
          </p:cNvSpPr>
          <p:nvPr>
            <p:ph type="pic" sz="quarter" idx="26"/>
          </p:nvPr>
        </p:nvSpPr>
        <p:spPr>
          <a:xfrm>
            <a:off x="2686429" y="1563330"/>
            <a:ext cx="1350187" cy="1348325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6" name="图片占位符 5"/>
          <p:cNvSpPr>
            <a:spLocks noGrp="1" noChangeAspect="1"/>
          </p:cNvSpPr>
          <p:nvPr>
            <p:ph type="pic" sz="quarter" idx="27"/>
          </p:nvPr>
        </p:nvSpPr>
        <p:spPr>
          <a:xfrm>
            <a:off x="3419704" y="4867915"/>
            <a:ext cx="683710" cy="682767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7" name="图片占位符 5"/>
          <p:cNvSpPr>
            <a:spLocks noGrp="1" noChangeAspect="1"/>
          </p:cNvSpPr>
          <p:nvPr>
            <p:ph type="pic" sz="quarter" idx="28"/>
          </p:nvPr>
        </p:nvSpPr>
        <p:spPr>
          <a:xfrm>
            <a:off x="743286" y="2192025"/>
            <a:ext cx="683710" cy="682767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6151656" y="2069417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6151658" y="1762499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32" hasCustomPrompt="1"/>
          </p:nvPr>
        </p:nvSpPr>
        <p:spPr>
          <a:xfrm>
            <a:off x="6151656" y="3142959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33" hasCustomPrompt="1"/>
          </p:nvPr>
        </p:nvSpPr>
        <p:spPr>
          <a:xfrm>
            <a:off x="6151658" y="2836041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6151656" y="4216501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3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6151658" y="3909583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6151655" y="5290043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6151657" y="4983125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9" name="SmartArt 占位符 8"/>
          <p:cNvSpPr>
            <a:spLocks noGrp="1"/>
          </p:cNvSpPr>
          <p:nvPr>
            <p:ph type="dgm" sz="quarter" idx="10"/>
          </p:nvPr>
        </p:nvSpPr>
        <p:spPr>
          <a:xfrm>
            <a:off x="7022625" y="1590223"/>
            <a:ext cx="4591360" cy="459136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11" hasCustomPrompt="1"/>
          </p:nvPr>
        </p:nvSpPr>
        <p:spPr>
          <a:xfrm>
            <a:off x="501556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7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 rot="10800000">
            <a:off x="8890370" y="1562098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3301630" y="1562098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6097308" y="1562101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504000" y="1562101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32" hasCustomPrompt="1"/>
          </p:nvPr>
        </p:nvSpPr>
        <p:spPr>
          <a:xfrm>
            <a:off x="911610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33" hasCustomPrompt="1"/>
          </p:nvPr>
        </p:nvSpPr>
        <p:spPr>
          <a:xfrm>
            <a:off x="911611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01</a:t>
            </a:r>
            <a:endParaRPr lang="zh-CN" altLang="en-US" dirty="0"/>
          </a:p>
        </p:txBody>
      </p:sp>
      <p:cxnSp>
        <p:nvCxnSpPr>
          <p:cNvPr id="12" name="Straight Connector 5"/>
          <p:cNvCxnSpPr/>
          <p:nvPr userDrawn="1"/>
        </p:nvCxnSpPr>
        <p:spPr>
          <a:xfrm>
            <a:off x="911610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占位符 21"/>
          <p:cNvSpPr>
            <a:spLocks noGrp="1"/>
          </p:cNvSpPr>
          <p:nvPr>
            <p:ph type="body" sz="quarter" idx="11" hasCustomPrompt="1"/>
          </p:nvPr>
        </p:nvSpPr>
        <p:spPr>
          <a:xfrm>
            <a:off x="911610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911611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6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3702718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3702719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02</a:t>
            </a:r>
            <a:endParaRPr lang="zh-CN" altLang="en-US" dirty="0"/>
          </a:p>
        </p:txBody>
      </p:sp>
      <p:cxnSp>
        <p:nvCxnSpPr>
          <p:cNvPr id="18" name="Straight Connector 5"/>
          <p:cNvCxnSpPr/>
          <p:nvPr userDrawn="1"/>
        </p:nvCxnSpPr>
        <p:spPr>
          <a:xfrm>
            <a:off x="3702718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3702718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0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3702719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38" hasCustomPrompt="1"/>
          </p:nvPr>
        </p:nvSpPr>
        <p:spPr>
          <a:xfrm>
            <a:off x="6506870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6506871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cxnSp>
        <p:nvCxnSpPr>
          <p:cNvPr id="23" name="Straight Connector 5"/>
          <p:cNvCxnSpPr/>
          <p:nvPr userDrawn="1"/>
        </p:nvCxnSpPr>
        <p:spPr>
          <a:xfrm>
            <a:off x="6506870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6506870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41" hasCustomPrompt="1"/>
          </p:nvPr>
        </p:nvSpPr>
        <p:spPr>
          <a:xfrm>
            <a:off x="6506871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2" name="文本占位符 21"/>
          <p:cNvSpPr>
            <a:spLocks noGrp="1"/>
          </p:cNvSpPr>
          <p:nvPr>
            <p:ph type="body" sz="quarter" idx="42" hasCustomPrompt="1"/>
          </p:nvPr>
        </p:nvSpPr>
        <p:spPr>
          <a:xfrm>
            <a:off x="9302548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33" name="文本占位符 23"/>
          <p:cNvSpPr>
            <a:spLocks noGrp="1"/>
          </p:cNvSpPr>
          <p:nvPr>
            <p:ph type="body" sz="quarter" idx="43" hasCustomPrompt="1"/>
          </p:nvPr>
        </p:nvSpPr>
        <p:spPr>
          <a:xfrm>
            <a:off x="9302549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04</a:t>
            </a:r>
            <a:endParaRPr lang="zh-CN" altLang="en-US" dirty="0"/>
          </a:p>
        </p:txBody>
      </p:sp>
      <p:cxnSp>
        <p:nvCxnSpPr>
          <p:cNvPr id="34" name="Straight Connector 5"/>
          <p:cNvCxnSpPr/>
          <p:nvPr userDrawn="1"/>
        </p:nvCxnSpPr>
        <p:spPr>
          <a:xfrm>
            <a:off x="9302548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占位符 21"/>
          <p:cNvSpPr>
            <a:spLocks noGrp="1"/>
          </p:cNvSpPr>
          <p:nvPr>
            <p:ph type="body" sz="quarter" idx="44" hasCustomPrompt="1"/>
          </p:nvPr>
        </p:nvSpPr>
        <p:spPr>
          <a:xfrm>
            <a:off x="9302548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6" name="文本占位符 23"/>
          <p:cNvSpPr>
            <a:spLocks noGrp="1"/>
          </p:cNvSpPr>
          <p:nvPr>
            <p:ph type="body" sz="quarter" idx="45" hasCustomPrompt="1"/>
          </p:nvPr>
        </p:nvSpPr>
        <p:spPr>
          <a:xfrm>
            <a:off x="9302549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mage 2" descr="preencoded.png"/>
          <p:cNvSpPr/>
          <p:nvPr/>
        </p:nvSpPr>
        <p:spPr>
          <a:xfrm>
            <a:off x="3384550" y="3099634"/>
            <a:ext cx="2965660" cy="2965660"/>
          </a:xfrm>
          <a:custGeom>
            <a:avLst/>
            <a:gdLst>
              <a:gd name="connsiteX0" fmla="*/ 2965661 w 2965660"/>
              <a:gd name="connsiteY0" fmla="*/ 1482830 h 2965660"/>
              <a:gd name="connsiteX1" fmla="*/ 1482830 w 2965660"/>
              <a:gd name="connsiteY1" fmla="*/ 2965661 h 2965660"/>
              <a:gd name="connsiteX2" fmla="*/ 0 w 2965660"/>
              <a:gd name="connsiteY2" fmla="*/ 1482831 h 2965660"/>
              <a:gd name="connsiteX3" fmla="*/ 1482830 w 2965660"/>
              <a:gd name="connsiteY3" fmla="*/ 0 h 2965660"/>
              <a:gd name="connsiteX4" fmla="*/ 2965661 w 2965660"/>
              <a:gd name="connsiteY4" fmla="*/ 1482830 h 296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660" h="2965660">
                <a:moveTo>
                  <a:pt x="2965661" y="1482830"/>
                </a:moveTo>
                <a:cubicBezTo>
                  <a:pt x="2965661" y="2301775"/>
                  <a:pt x="2301775" y="2965661"/>
                  <a:pt x="1482830" y="2965661"/>
                </a:cubicBezTo>
                <a:cubicBezTo>
                  <a:pt x="663886" y="2965661"/>
                  <a:pt x="0" y="2301775"/>
                  <a:pt x="0" y="1482831"/>
                </a:cubicBezTo>
                <a:cubicBezTo>
                  <a:pt x="0" y="663886"/>
                  <a:pt x="663886" y="0"/>
                  <a:pt x="1482830" y="0"/>
                </a:cubicBezTo>
                <a:cubicBezTo>
                  <a:pt x="2301775" y="0"/>
                  <a:pt x="2965661" y="663886"/>
                  <a:pt x="2965661" y="1482830"/>
                </a:cubicBezTo>
                <a:close/>
              </a:path>
            </a:pathLst>
          </a:custGeom>
          <a:gradFill>
            <a:gsLst>
              <a:gs pos="0">
                <a:srgbClr val="E6F7FA">
                  <a:alpha val="0"/>
                </a:srgbClr>
              </a:gs>
              <a:gs pos="50000">
                <a:srgbClr val="99E1EB">
                  <a:alpha val="49804"/>
                </a:srgbClr>
              </a:gs>
              <a:gs pos="100000">
                <a:srgbClr val="008FA3"/>
              </a:gs>
            </a:gsLst>
            <a:lin ang="19560000" scaled="0"/>
          </a:gradFill>
          <a:ln w="633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/>
          </a:p>
        </p:txBody>
      </p:sp>
      <p:sp>
        <p:nvSpPr>
          <p:cNvPr id="15" name="Image 0" descr="preencoded.png"/>
          <p:cNvSpPr/>
          <p:nvPr/>
        </p:nvSpPr>
        <p:spPr>
          <a:xfrm>
            <a:off x="4616450" y="1009875"/>
            <a:ext cx="2965660" cy="2965660"/>
          </a:xfrm>
          <a:custGeom>
            <a:avLst/>
            <a:gdLst>
              <a:gd name="connsiteX0" fmla="*/ 2965661 w 2965660"/>
              <a:gd name="connsiteY0" fmla="*/ 1482830 h 2965660"/>
              <a:gd name="connsiteX1" fmla="*/ 1482830 w 2965660"/>
              <a:gd name="connsiteY1" fmla="*/ 2965661 h 2965660"/>
              <a:gd name="connsiteX2" fmla="*/ 0 w 2965660"/>
              <a:gd name="connsiteY2" fmla="*/ 1482831 h 2965660"/>
              <a:gd name="connsiteX3" fmla="*/ 1482830 w 2965660"/>
              <a:gd name="connsiteY3" fmla="*/ 0 h 2965660"/>
              <a:gd name="connsiteX4" fmla="*/ 2965661 w 2965660"/>
              <a:gd name="connsiteY4" fmla="*/ 1482830 h 296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660" h="2965660">
                <a:moveTo>
                  <a:pt x="2965661" y="1482830"/>
                </a:moveTo>
                <a:cubicBezTo>
                  <a:pt x="2965661" y="2301775"/>
                  <a:pt x="2301775" y="2965661"/>
                  <a:pt x="1482830" y="2965661"/>
                </a:cubicBezTo>
                <a:cubicBezTo>
                  <a:pt x="663886" y="2965661"/>
                  <a:pt x="0" y="2301775"/>
                  <a:pt x="0" y="1482831"/>
                </a:cubicBezTo>
                <a:cubicBezTo>
                  <a:pt x="0" y="663886"/>
                  <a:pt x="663886" y="0"/>
                  <a:pt x="1482830" y="0"/>
                </a:cubicBezTo>
                <a:cubicBezTo>
                  <a:pt x="2301775" y="0"/>
                  <a:pt x="2965661" y="663886"/>
                  <a:pt x="2965661" y="1482830"/>
                </a:cubicBezTo>
                <a:close/>
              </a:path>
            </a:pathLst>
          </a:custGeom>
          <a:gradFill>
            <a:gsLst>
              <a:gs pos="0">
                <a:srgbClr val="E6F7FA">
                  <a:alpha val="0"/>
                </a:srgbClr>
              </a:gs>
              <a:gs pos="50000">
                <a:srgbClr val="99E1EB">
                  <a:alpha val="49804"/>
                </a:srgbClr>
              </a:gs>
              <a:gs pos="100000">
                <a:srgbClr val="008FA3"/>
              </a:gs>
            </a:gsLst>
            <a:lin ang="5400000" scaled="0"/>
          </a:gradFill>
          <a:ln w="633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dirty="0"/>
          </a:p>
        </p:txBody>
      </p:sp>
      <p:sp>
        <p:nvSpPr>
          <p:cNvPr id="14" name="Image 4" descr="preencoded.png"/>
          <p:cNvSpPr/>
          <p:nvPr/>
        </p:nvSpPr>
        <p:spPr>
          <a:xfrm>
            <a:off x="5842000" y="3099634"/>
            <a:ext cx="2965660" cy="2965660"/>
          </a:xfrm>
          <a:custGeom>
            <a:avLst/>
            <a:gdLst>
              <a:gd name="connsiteX0" fmla="*/ 2965661 w 2965660"/>
              <a:gd name="connsiteY0" fmla="*/ 1482830 h 2965660"/>
              <a:gd name="connsiteX1" fmla="*/ 1482830 w 2965660"/>
              <a:gd name="connsiteY1" fmla="*/ 2965661 h 2965660"/>
              <a:gd name="connsiteX2" fmla="*/ 0 w 2965660"/>
              <a:gd name="connsiteY2" fmla="*/ 1482831 h 2965660"/>
              <a:gd name="connsiteX3" fmla="*/ 1482830 w 2965660"/>
              <a:gd name="connsiteY3" fmla="*/ 0 h 2965660"/>
              <a:gd name="connsiteX4" fmla="*/ 2965661 w 2965660"/>
              <a:gd name="connsiteY4" fmla="*/ 1482830 h 296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660" h="2965660">
                <a:moveTo>
                  <a:pt x="2965661" y="1482830"/>
                </a:moveTo>
                <a:cubicBezTo>
                  <a:pt x="2965661" y="2301775"/>
                  <a:pt x="2301775" y="2965661"/>
                  <a:pt x="1482830" y="2965661"/>
                </a:cubicBezTo>
                <a:cubicBezTo>
                  <a:pt x="663886" y="2965661"/>
                  <a:pt x="0" y="2301775"/>
                  <a:pt x="0" y="1482831"/>
                </a:cubicBezTo>
                <a:cubicBezTo>
                  <a:pt x="0" y="663886"/>
                  <a:pt x="663886" y="0"/>
                  <a:pt x="1482830" y="0"/>
                </a:cubicBezTo>
                <a:cubicBezTo>
                  <a:pt x="2301775" y="0"/>
                  <a:pt x="2965661" y="663886"/>
                  <a:pt x="2965661" y="1482830"/>
                </a:cubicBezTo>
                <a:close/>
              </a:path>
            </a:pathLst>
          </a:custGeom>
          <a:gradFill>
            <a:gsLst>
              <a:gs pos="0">
                <a:srgbClr val="E6F7FA">
                  <a:alpha val="0"/>
                </a:srgbClr>
              </a:gs>
              <a:gs pos="50000">
                <a:srgbClr val="99E1EB">
                  <a:alpha val="49804"/>
                </a:srgbClr>
              </a:gs>
              <a:gs pos="100000">
                <a:srgbClr val="008FA3"/>
              </a:gs>
            </a:gsLst>
            <a:lin ang="13440000" scaled="0"/>
          </a:gradFill>
          <a:ln w="633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102749" y="2349742"/>
            <a:ext cx="198650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" name="文本占位符 23"/>
          <p:cNvSpPr>
            <a:spLocks noGrp="1"/>
          </p:cNvSpPr>
          <p:nvPr>
            <p:ph type="body" sz="quarter" idx="19" hasCustomPrompt="1"/>
          </p:nvPr>
        </p:nvSpPr>
        <p:spPr>
          <a:xfrm>
            <a:off x="3875664" y="4439196"/>
            <a:ext cx="198650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6333114" y="4439196"/>
            <a:ext cx="198650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pic>
        <p:nvPicPr>
          <p:cNvPr id="19" name="图形 1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0299" y="1939772"/>
            <a:ext cx="1209675" cy="1219200"/>
          </a:xfrm>
          <a:prstGeom prst="rect">
            <a:avLst/>
          </a:prstGeom>
        </p:spPr>
      </p:pic>
      <p:pic>
        <p:nvPicPr>
          <p:cNvPr id="23" name="图形 22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54631" y="5504253"/>
            <a:ext cx="1209675" cy="1219200"/>
          </a:xfrm>
          <a:prstGeom prst="rect">
            <a:avLst/>
          </a:prstGeom>
        </p:spPr>
      </p:pic>
      <p:pic>
        <p:nvPicPr>
          <p:cNvPr id="25" name="图形 24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91292" y="3363112"/>
            <a:ext cx="1209675" cy="1219200"/>
          </a:xfrm>
          <a:prstGeom prst="rect">
            <a:avLst/>
          </a:prstGeom>
        </p:spPr>
      </p:pic>
      <p:sp>
        <p:nvSpPr>
          <p:cNvPr id="32" name="Image 6" descr="preencoded.png"/>
          <p:cNvSpPr/>
          <p:nvPr userDrawn="1"/>
        </p:nvSpPr>
        <p:spPr>
          <a:xfrm>
            <a:off x="2354281" y="4890434"/>
            <a:ext cx="254000" cy="6315"/>
          </a:xfrm>
          <a:custGeom>
            <a:avLst/>
            <a:gdLst>
              <a:gd name="connsiteX0" fmla="*/ 0 w 254000"/>
              <a:gd name="connsiteY0" fmla="*/ 0 h 6315"/>
              <a:gd name="connsiteX1" fmla="*/ 254000 w 254000"/>
              <a:gd name="connsiteY1" fmla="*/ 0 h 6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0" h="6315">
                <a:moveTo>
                  <a:pt x="0" y="0"/>
                </a:moveTo>
                <a:lnTo>
                  <a:pt x="254000" y="0"/>
                </a:lnTo>
              </a:path>
            </a:pathLst>
          </a:custGeom>
          <a:noFill/>
          <a:ln w="31671" cap="flat">
            <a:solidFill>
              <a:srgbClr val="33C2D6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3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2354281" y="5028930"/>
            <a:ext cx="2504551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altLang="zh-CN" sz="1200" kern="1200" dirty="0" smtClean="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4" name="Image 6" descr="preencoded.png"/>
          <p:cNvSpPr/>
          <p:nvPr userDrawn="1"/>
        </p:nvSpPr>
        <p:spPr>
          <a:xfrm>
            <a:off x="1784874" y="2141875"/>
            <a:ext cx="254000" cy="6315"/>
          </a:xfrm>
          <a:custGeom>
            <a:avLst/>
            <a:gdLst>
              <a:gd name="connsiteX0" fmla="*/ 0 w 254000"/>
              <a:gd name="connsiteY0" fmla="*/ 0 h 6315"/>
              <a:gd name="connsiteX1" fmla="*/ 254000 w 254000"/>
              <a:gd name="connsiteY1" fmla="*/ 0 h 6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0" h="6315">
                <a:moveTo>
                  <a:pt x="0" y="0"/>
                </a:moveTo>
                <a:lnTo>
                  <a:pt x="254000" y="0"/>
                </a:lnTo>
              </a:path>
            </a:pathLst>
          </a:custGeom>
          <a:noFill/>
          <a:ln w="31671" cap="flat">
            <a:solidFill>
              <a:srgbClr val="33C2D6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5" name="文本占位符 21"/>
          <p:cNvSpPr>
            <a:spLocks noGrp="1"/>
          </p:cNvSpPr>
          <p:nvPr>
            <p:ph type="body" sz="quarter" idx="35" hasCustomPrompt="1"/>
          </p:nvPr>
        </p:nvSpPr>
        <p:spPr>
          <a:xfrm>
            <a:off x="1784874" y="2280371"/>
            <a:ext cx="2504551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altLang="zh-CN" sz="1200" kern="1200" dirty="0" smtClean="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6" name="Image 6" descr="preencoded.png"/>
          <p:cNvSpPr/>
          <p:nvPr userDrawn="1"/>
        </p:nvSpPr>
        <p:spPr>
          <a:xfrm>
            <a:off x="8763630" y="3029147"/>
            <a:ext cx="254000" cy="6315"/>
          </a:xfrm>
          <a:custGeom>
            <a:avLst/>
            <a:gdLst>
              <a:gd name="connsiteX0" fmla="*/ 0 w 254000"/>
              <a:gd name="connsiteY0" fmla="*/ 0 h 6315"/>
              <a:gd name="connsiteX1" fmla="*/ 254000 w 254000"/>
              <a:gd name="connsiteY1" fmla="*/ 0 h 6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0" h="6315">
                <a:moveTo>
                  <a:pt x="0" y="0"/>
                </a:moveTo>
                <a:lnTo>
                  <a:pt x="254000" y="0"/>
                </a:lnTo>
              </a:path>
            </a:pathLst>
          </a:custGeom>
          <a:noFill/>
          <a:ln w="31671" cap="flat">
            <a:solidFill>
              <a:srgbClr val="33C2D6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7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8763630" y="3167643"/>
            <a:ext cx="2504551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altLang="zh-CN" sz="1200" kern="1200" dirty="0" smtClean="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 flipV="1">
            <a:off x="3987021" y="4525385"/>
            <a:ext cx="1051944" cy="492442"/>
            <a:chOff x="3994675" y="2246302"/>
            <a:chExt cx="1051944" cy="492442"/>
          </a:xfrm>
        </p:grpSpPr>
        <p:cxnSp>
          <p:nvCxnSpPr>
            <p:cNvPr id="7" name="Straight Connector 37"/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38"/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 userDrawn="1"/>
        </p:nvGrpSpPr>
        <p:grpSpPr>
          <a:xfrm rot="10800000">
            <a:off x="7253121" y="4525385"/>
            <a:ext cx="1051944" cy="492442"/>
            <a:chOff x="3994675" y="2246302"/>
            <a:chExt cx="1051944" cy="492442"/>
          </a:xfrm>
        </p:grpSpPr>
        <p:cxnSp>
          <p:nvCxnSpPr>
            <p:cNvPr id="10" name="Straight Connector 37"/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38"/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 userDrawn="1"/>
        </p:nvGrpSpPr>
        <p:grpSpPr>
          <a:xfrm>
            <a:off x="3994675" y="2246302"/>
            <a:ext cx="1051944" cy="492442"/>
            <a:chOff x="3994675" y="2246302"/>
            <a:chExt cx="1051944" cy="492442"/>
          </a:xfrm>
        </p:grpSpPr>
        <p:cxnSp>
          <p:nvCxnSpPr>
            <p:cNvPr id="13" name="Straight Connector 37"/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8"/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 userDrawn="1"/>
        </p:nvGrpSpPr>
        <p:grpSpPr>
          <a:xfrm>
            <a:off x="4178282" y="1825051"/>
            <a:ext cx="3835435" cy="3861041"/>
            <a:chOff x="4336726" y="1927485"/>
            <a:chExt cx="3835435" cy="3861041"/>
          </a:xfrm>
        </p:grpSpPr>
        <p:sp>
          <p:nvSpPr>
            <p:cNvPr id="16" name="Freeform 5"/>
            <p:cNvSpPr/>
            <p:nvPr/>
          </p:nvSpPr>
          <p:spPr bwMode="auto">
            <a:xfrm>
              <a:off x="4336726" y="3259811"/>
              <a:ext cx="1914459" cy="2297350"/>
            </a:xfrm>
            <a:custGeom>
              <a:avLst/>
              <a:gdLst/>
              <a:ahLst/>
              <a:cxnLst>
                <a:cxn ang="0">
                  <a:pos x="248" y="158"/>
                </a:cxn>
                <a:cxn ang="0">
                  <a:pos x="248" y="160"/>
                </a:cxn>
                <a:cxn ang="0">
                  <a:pos x="250" y="192"/>
                </a:cxn>
                <a:cxn ang="0">
                  <a:pos x="321" y="335"/>
                </a:cxn>
                <a:cxn ang="0">
                  <a:pos x="437" y="401"/>
                </a:cxn>
                <a:cxn ang="0">
                  <a:pos x="496" y="408"/>
                </a:cxn>
                <a:cxn ang="0">
                  <a:pos x="496" y="595"/>
                </a:cxn>
                <a:cxn ang="0">
                  <a:pos x="430" y="591"/>
                </a:cxn>
                <a:cxn ang="0">
                  <a:pos x="189" y="468"/>
                </a:cxn>
                <a:cxn ang="0">
                  <a:pos x="62" y="192"/>
                </a:cxn>
                <a:cxn ang="0">
                  <a:pos x="61" y="160"/>
                </a:cxn>
                <a:cxn ang="0">
                  <a:pos x="61" y="158"/>
                </a:cxn>
                <a:cxn ang="0">
                  <a:pos x="0" y="158"/>
                </a:cxn>
                <a:cxn ang="0">
                  <a:pos x="157" y="0"/>
                </a:cxn>
                <a:cxn ang="0">
                  <a:pos x="313" y="158"/>
                </a:cxn>
                <a:cxn ang="0">
                  <a:pos x="248" y="158"/>
                </a:cxn>
              </a:cxnLst>
              <a:rect l="0" t="0" r="r" b="b"/>
              <a:pathLst>
                <a:path w="496" h="595">
                  <a:moveTo>
                    <a:pt x="248" y="158"/>
                  </a:moveTo>
                  <a:cubicBezTo>
                    <a:pt x="248" y="158"/>
                    <a:pt x="248" y="159"/>
                    <a:pt x="248" y="160"/>
                  </a:cubicBezTo>
                  <a:cubicBezTo>
                    <a:pt x="248" y="171"/>
                    <a:pt x="249" y="182"/>
                    <a:pt x="250" y="192"/>
                  </a:cubicBezTo>
                  <a:cubicBezTo>
                    <a:pt x="257" y="247"/>
                    <a:pt x="281" y="295"/>
                    <a:pt x="321" y="335"/>
                  </a:cubicBezTo>
                  <a:cubicBezTo>
                    <a:pt x="355" y="369"/>
                    <a:pt x="393" y="391"/>
                    <a:pt x="437" y="401"/>
                  </a:cubicBezTo>
                  <a:cubicBezTo>
                    <a:pt x="456" y="406"/>
                    <a:pt x="475" y="408"/>
                    <a:pt x="496" y="408"/>
                  </a:cubicBezTo>
                  <a:cubicBezTo>
                    <a:pt x="496" y="595"/>
                    <a:pt x="496" y="595"/>
                    <a:pt x="496" y="595"/>
                  </a:cubicBezTo>
                  <a:cubicBezTo>
                    <a:pt x="474" y="595"/>
                    <a:pt x="452" y="594"/>
                    <a:pt x="430" y="591"/>
                  </a:cubicBezTo>
                  <a:cubicBezTo>
                    <a:pt x="338" y="578"/>
                    <a:pt x="258" y="537"/>
                    <a:pt x="189" y="468"/>
                  </a:cubicBezTo>
                  <a:cubicBezTo>
                    <a:pt x="112" y="390"/>
                    <a:pt x="69" y="299"/>
                    <a:pt x="62" y="192"/>
                  </a:cubicBezTo>
                  <a:cubicBezTo>
                    <a:pt x="61" y="182"/>
                    <a:pt x="61" y="171"/>
                    <a:pt x="61" y="160"/>
                  </a:cubicBezTo>
                  <a:cubicBezTo>
                    <a:pt x="61" y="159"/>
                    <a:pt x="61" y="158"/>
                    <a:pt x="61" y="158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157" y="0"/>
                    <a:pt x="157" y="0"/>
                    <a:pt x="157" y="0"/>
                  </a:cubicBezTo>
                  <a:cubicBezTo>
                    <a:pt x="313" y="158"/>
                    <a:pt x="313" y="158"/>
                    <a:pt x="313" y="158"/>
                  </a:cubicBezTo>
                  <a:lnTo>
                    <a:pt x="248" y="158"/>
                  </a:lnTo>
                  <a:close/>
                </a:path>
              </a:pathLst>
            </a:custGeom>
            <a:solidFill>
              <a:srgbClr val="00B3CC"/>
            </a:solidFill>
            <a:ln w="9525">
              <a:noFill/>
              <a:round/>
            </a:ln>
            <a:effectLst>
              <a:outerShdw blurRad="2286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17" name="Freeform 6"/>
            <p:cNvSpPr/>
            <p:nvPr/>
          </p:nvSpPr>
          <p:spPr bwMode="auto">
            <a:xfrm>
              <a:off x="5633669" y="3869180"/>
              <a:ext cx="2303868" cy="1919346"/>
            </a:xfrm>
            <a:custGeom>
              <a:avLst/>
              <a:gdLst/>
              <a:ahLst/>
              <a:cxnLst>
                <a:cxn ang="0">
                  <a:pos x="403" y="61"/>
                </a:cxn>
                <a:cxn ang="0">
                  <a:pos x="410" y="2"/>
                </a:cxn>
                <a:cxn ang="0">
                  <a:pos x="410" y="0"/>
                </a:cxn>
                <a:cxn ang="0">
                  <a:pos x="597" y="0"/>
                </a:cxn>
                <a:cxn ang="0">
                  <a:pos x="597" y="2"/>
                </a:cxn>
                <a:cxn ang="0">
                  <a:pos x="592" y="68"/>
                </a:cxn>
                <a:cxn ang="0">
                  <a:pos x="469" y="310"/>
                </a:cxn>
                <a:cxn ang="0">
                  <a:pos x="161" y="437"/>
                </a:cxn>
                <a:cxn ang="0">
                  <a:pos x="160" y="437"/>
                </a:cxn>
                <a:cxn ang="0">
                  <a:pos x="160" y="497"/>
                </a:cxn>
                <a:cxn ang="0">
                  <a:pos x="0" y="341"/>
                </a:cxn>
                <a:cxn ang="0">
                  <a:pos x="160" y="185"/>
                </a:cxn>
                <a:cxn ang="0">
                  <a:pos x="160" y="250"/>
                </a:cxn>
                <a:cxn ang="0">
                  <a:pos x="161" y="250"/>
                </a:cxn>
                <a:cxn ang="0">
                  <a:pos x="337" y="177"/>
                </a:cxn>
                <a:cxn ang="0">
                  <a:pos x="403" y="61"/>
                </a:cxn>
              </a:cxnLst>
              <a:rect l="0" t="0" r="r" b="b"/>
              <a:pathLst>
                <a:path w="597" h="497">
                  <a:moveTo>
                    <a:pt x="403" y="61"/>
                  </a:moveTo>
                  <a:cubicBezTo>
                    <a:pt x="408" y="42"/>
                    <a:pt x="410" y="22"/>
                    <a:pt x="410" y="2"/>
                  </a:cubicBezTo>
                  <a:cubicBezTo>
                    <a:pt x="410" y="1"/>
                    <a:pt x="410" y="0"/>
                    <a:pt x="410" y="0"/>
                  </a:cubicBezTo>
                  <a:cubicBezTo>
                    <a:pt x="597" y="0"/>
                    <a:pt x="597" y="0"/>
                    <a:pt x="597" y="0"/>
                  </a:cubicBezTo>
                  <a:cubicBezTo>
                    <a:pt x="597" y="0"/>
                    <a:pt x="597" y="1"/>
                    <a:pt x="597" y="2"/>
                  </a:cubicBezTo>
                  <a:cubicBezTo>
                    <a:pt x="597" y="24"/>
                    <a:pt x="595" y="46"/>
                    <a:pt x="592" y="68"/>
                  </a:cubicBezTo>
                  <a:cubicBezTo>
                    <a:pt x="579" y="160"/>
                    <a:pt x="538" y="241"/>
                    <a:pt x="469" y="310"/>
                  </a:cubicBezTo>
                  <a:cubicBezTo>
                    <a:pt x="384" y="395"/>
                    <a:pt x="281" y="437"/>
                    <a:pt x="161" y="437"/>
                  </a:cubicBezTo>
                  <a:cubicBezTo>
                    <a:pt x="161" y="437"/>
                    <a:pt x="160" y="437"/>
                    <a:pt x="160" y="437"/>
                  </a:cubicBezTo>
                  <a:cubicBezTo>
                    <a:pt x="160" y="497"/>
                    <a:pt x="160" y="497"/>
                    <a:pt x="160" y="497"/>
                  </a:cubicBezTo>
                  <a:cubicBezTo>
                    <a:pt x="0" y="341"/>
                    <a:pt x="0" y="341"/>
                    <a:pt x="0" y="341"/>
                  </a:cubicBezTo>
                  <a:cubicBezTo>
                    <a:pt x="160" y="185"/>
                    <a:pt x="160" y="185"/>
                    <a:pt x="160" y="185"/>
                  </a:cubicBezTo>
                  <a:cubicBezTo>
                    <a:pt x="160" y="250"/>
                    <a:pt x="160" y="250"/>
                    <a:pt x="160" y="250"/>
                  </a:cubicBezTo>
                  <a:cubicBezTo>
                    <a:pt x="160" y="250"/>
                    <a:pt x="161" y="250"/>
                    <a:pt x="161" y="250"/>
                  </a:cubicBezTo>
                  <a:cubicBezTo>
                    <a:pt x="230" y="250"/>
                    <a:pt x="288" y="226"/>
                    <a:pt x="337" y="177"/>
                  </a:cubicBezTo>
                  <a:cubicBezTo>
                    <a:pt x="371" y="143"/>
                    <a:pt x="393" y="104"/>
                    <a:pt x="403" y="61"/>
                  </a:cubicBezTo>
                  <a:close/>
                </a:path>
              </a:pathLst>
            </a:custGeom>
            <a:solidFill>
              <a:srgbClr val="008FA3"/>
            </a:solidFill>
            <a:ln w="9525">
              <a:noFill/>
              <a:round/>
            </a:ln>
            <a:effectLst>
              <a:outerShdw blurRad="635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18" name="Freeform 7"/>
            <p:cNvSpPr/>
            <p:nvPr/>
          </p:nvSpPr>
          <p:spPr bwMode="auto">
            <a:xfrm>
              <a:off x="6251185" y="2189344"/>
              <a:ext cx="1920976" cy="2305496"/>
            </a:xfrm>
            <a:custGeom>
              <a:avLst/>
              <a:gdLst/>
              <a:ahLst/>
              <a:cxnLst>
                <a:cxn ang="0">
                  <a:pos x="67" y="5"/>
                </a:cxn>
                <a:cxn ang="0">
                  <a:pos x="309" y="129"/>
                </a:cxn>
                <a:cxn ang="0">
                  <a:pos x="437" y="435"/>
                </a:cxn>
                <a:cxn ang="0">
                  <a:pos x="498" y="435"/>
                </a:cxn>
                <a:cxn ang="0">
                  <a:pos x="341" y="597"/>
                </a:cxn>
                <a:cxn ang="0">
                  <a:pos x="184" y="435"/>
                </a:cxn>
                <a:cxn ang="0">
                  <a:pos x="250" y="435"/>
                </a:cxn>
                <a:cxn ang="0">
                  <a:pos x="177" y="261"/>
                </a:cxn>
                <a:cxn ang="0">
                  <a:pos x="60" y="194"/>
                </a:cxn>
                <a:cxn ang="0">
                  <a:pos x="1" y="188"/>
                </a:cxn>
                <a:cxn ang="0">
                  <a:pos x="0" y="188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67" y="5"/>
                </a:cxn>
              </a:cxnLst>
              <a:rect l="0" t="0" r="r" b="b"/>
              <a:pathLst>
                <a:path w="498" h="597">
                  <a:moveTo>
                    <a:pt x="67" y="5"/>
                  </a:moveTo>
                  <a:cubicBezTo>
                    <a:pt x="159" y="18"/>
                    <a:pt x="240" y="59"/>
                    <a:pt x="309" y="129"/>
                  </a:cubicBezTo>
                  <a:cubicBezTo>
                    <a:pt x="394" y="213"/>
                    <a:pt x="436" y="315"/>
                    <a:pt x="437" y="435"/>
                  </a:cubicBezTo>
                  <a:cubicBezTo>
                    <a:pt x="498" y="435"/>
                    <a:pt x="498" y="435"/>
                    <a:pt x="498" y="435"/>
                  </a:cubicBezTo>
                  <a:cubicBezTo>
                    <a:pt x="341" y="597"/>
                    <a:pt x="341" y="597"/>
                    <a:pt x="341" y="597"/>
                  </a:cubicBezTo>
                  <a:cubicBezTo>
                    <a:pt x="184" y="435"/>
                    <a:pt x="184" y="435"/>
                    <a:pt x="184" y="435"/>
                  </a:cubicBezTo>
                  <a:cubicBezTo>
                    <a:pt x="250" y="435"/>
                    <a:pt x="250" y="435"/>
                    <a:pt x="250" y="435"/>
                  </a:cubicBezTo>
                  <a:cubicBezTo>
                    <a:pt x="249" y="367"/>
                    <a:pt x="225" y="309"/>
                    <a:pt x="177" y="261"/>
                  </a:cubicBezTo>
                  <a:cubicBezTo>
                    <a:pt x="143" y="227"/>
                    <a:pt x="104" y="205"/>
                    <a:pt x="60" y="194"/>
                  </a:cubicBezTo>
                  <a:cubicBezTo>
                    <a:pt x="41" y="190"/>
                    <a:pt x="21" y="188"/>
                    <a:pt x="1" y="188"/>
                  </a:cubicBezTo>
                  <a:cubicBezTo>
                    <a:pt x="1" y="188"/>
                    <a:pt x="0" y="188"/>
                    <a:pt x="0" y="18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24" y="0"/>
                    <a:pt x="46" y="2"/>
                    <a:pt x="67" y="5"/>
                  </a:cubicBezTo>
                  <a:close/>
                </a:path>
              </a:pathLst>
            </a:custGeom>
            <a:solidFill>
              <a:srgbClr val="006B7A"/>
            </a:solidFill>
            <a:ln w="9525">
              <a:noFill/>
              <a:round/>
            </a:ln>
            <a:effectLst>
              <a:outerShdw blurRad="2286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19" name="Freeform 8"/>
            <p:cNvSpPr>
              <a:spLocks noEditPoints="1"/>
            </p:cNvSpPr>
            <p:nvPr/>
          </p:nvSpPr>
          <p:spPr bwMode="auto">
            <a:xfrm>
              <a:off x="4558836" y="1927485"/>
              <a:ext cx="2297350" cy="1914458"/>
            </a:xfrm>
            <a:custGeom>
              <a:avLst/>
              <a:gdLst/>
              <a:ahLst/>
              <a:cxnLst>
                <a:cxn ang="0">
                  <a:pos x="96" y="338"/>
                </a:cxn>
                <a:cxn ang="0">
                  <a:pos x="95" y="338"/>
                </a:cxn>
                <a:cxn ang="0">
                  <a:pos x="96" y="338"/>
                </a:cxn>
                <a:cxn ang="0">
                  <a:pos x="435" y="0"/>
                </a:cxn>
                <a:cxn ang="0">
                  <a:pos x="595" y="157"/>
                </a:cxn>
                <a:cxn ang="0">
                  <a:pos x="435" y="314"/>
                </a:cxn>
                <a:cxn ang="0">
                  <a:pos x="435" y="249"/>
                </a:cxn>
                <a:cxn ang="0">
                  <a:pos x="260" y="322"/>
                </a:cxn>
                <a:cxn ang="0">
                  <a:pos x="194" y="437"/>
                </a:cxn>
                <a:cxn ang="0">
                  <a:pos x="187" y="496"/>
                </a:cxn>
                <a:cxn ang="0">
                  <a:pos x="0" y="496"/>
                </a:cxn>
                <a:cxn ang="0">
                  <a:pos x="5" y="429"/>
                </a:cxn>
                <a:cxn ang="0">
                  <a:pos x="128" y="190"/>
                </a:cxn>
                <a:cxn ang="0">
                  <a:pos x="435" y="61"/>
                </a:cxn>
                <a:cxn ang="0">
                  <a:pos x="435" y="0"/>
                </a:cxn>
              </a:cxnLst>
              <a:rect l="0" t="0" r="r" b="b"/>
              <a:pathLst>
                <a:path w="595" h="496">
                  <a:moveTo>
                    <a:pt x="96" y="338"/>
                  </a:moveTo>
                  <a:cubicBezTo>
                    <a:pt x="96" y="338"/>
                    <a:pt x="95" y="338"/>
                    <a:pt x="95" y="338"/>
                  </a:cubicBezTo>
                  <a:cubicBezTo>
                    <a:pt x="96" y="338"/>
                    <a:pt x="96" y="338"/>
                    <a:pt x="96" y="338"/>
                  </a:cubicBezTo>
                  <a:close/>
                  <a:moveTo>
                    <a:pt x="435" y="0"/>
                  </a:moveTo>
                  <a:cubicBezTo>
                    <a:pt x="595" y="157"/>
                    <a:pt x="595" y="157"/>
                    <a:pt x="595" y="157"/>
                  </a:cubicBezTo>
                  <a:cubicBezTo>
                    <a:pt x="435" y="314"/>
                    <a:pt x="435" y="314"/>
                    <a:pt x="435" y="314"/>
                  </a:cubicBezTo>
                  <a:cubicBezTo>
                    <a:pt x="435" y="249"/>
                    <a:pt x="435" y="249"/>
                    <a:pt x="435" y="249"/>
                  </a:cubicBezTo>
                  <a:cubicBezTo>
                    <a:pt x="367" y="249"/>
                    <a:pt x="309" y="273"/>
                    <a:pt x="260" y="322"/>
                  </a:cubicBezTo>
                  <a:cubicBezTo>
                    <a:pt x="227" y="356"/>
                    <a:pt x="204" y="394"/>
                    <a:pt x="194" y="437"/>
                  </a:cubicBezTo>
                  <a:cubicBezTo>
                    <a:pt x="190" y="456"/>
                    <a:pt x="187" y="475"/>
                    <a:pt x="187" y="496"/>
                  </a:cubicBezTo>
                  <a:cubicBezTo>
                    <a:pt x="0" y="496"/>
                    <a:pt x="0" y="496"/>
                    <a:pt x="0" y="496"/>
                  </a:cubicBezTo>
                  <a:cubicBezTo>
                    <a:pt x="0" y="473"/>
                    <a:pt x="2" y="451"/>
                    <a:pt x="5" y="429"/>
                  </a:cubicBezTo>
                  <a:cubicBezTo>
                    <a:pt x="18" y="338"/>
                    <a:pt x="59" y="258"/>
                    <a:pt x="128" y="190"/>
                  </a:cubicBezTo>
                  <a:cubicBezTo>
                    <a:pt x="213" y="104"/>
                    <a:pt x="315" y="62"/>
                    <a:pt x="435" y="61"/>
                  </a:cubicBezTo>
                  <a:lnTo>
                    <a:pt x="435" y="0"/>
                  </a:lnTo>
                  <a:close/>
                </a:path>
              </a:pathLst>
            </a:custGeom>
            <a:solidFill>
              <a:srgbClr val="004852"/>
            </a:solidFill>
            <a:ln w="9525">
              <a:noFill/>
              <a:round/>
            </a:ln>
            <a:effectLst>
              <a:outerShdw blurRad="2286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20" name="Text Placeholder 3"/>
            <p:cNvSpPr txBox="1"/>
            <p:nvPr/>
          </p:nvSpPr>
          <p:spPr>
            <a:xfrm>
              <a:off x="6120243" y="2353088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1219200">
                <a:spcBef>
                  <a:spcPct val="20000"/>
                </a:spcBef>
                <a:defRPr/>
              </a:pPr>
              <a:r>
                <a: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02</a:t>
              </a:r>
              <a:endPara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1" name="Text Placeholder 3"/>
            <p:cNvSpPr txBox="1"/>
            <p:nvPr/>
          </p:nvSpPr>
          <p:spPr>
            <a:xfrm>
              <a:off x="7367955" y="3888615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defPPr>
                <a:defRPr lang="zh-CN"/>
              </a:defPPr>
              <a:lvl1pPr indent="0" algn="ctr" defTabSz="1219200">
                <a:spcBef>
                  <a:spcPct val="20000"/>
                </a:spcBef>
                <a:buNone/>
                <a:defRPr sz="3200" b="1" baseline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r>
                <a: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Placeholder 3"/>
            <p:cNvSpPr txBox="1"/>
            <p:nvPr/>
          </p:nvSpPr>
          <p:spPr>
            <a:xfrm>
              <a:off x="6020689" y="5019435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defPPr>
                <a:defRPr lang="zh-CN"/>
              </a:defPPr>
              <a:lvl1pPr indent="0" algn="ctr" defTabSz="1219200">
                <a:spcBef>
                  <a:spcPct val="20000"/>
                </a:spcBef>
                <a:buNone/>
                <a:defRPr sz="3200" b="1" baseline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r>
                <a: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9"/>
            <p:cNvSpPr/>
            <p:nvPr userDrawn="1"/>
          </p:nvSpPr>
          <p:spPr bwMode="auto">
            <a:xfrm>
              <a:off x="4338271" y="3264133"/>
              <a:ext cx="1207332" cy="739714"/>
            </a:xfrm>
            <a:custGeom>
              <a:avLst/>
              <a:gdLst/>
              <a:ahLst/>
              <a:cxnLst>
                <a:cxn ang="0">
                  <a:pos x="250" y="192"/>
                </a:cxn>
                <a:cxn ang="0">
                  <a:pos x="62" y="192"/>
                </a:cxn>
                <a:cxn ang="0">
                  <a:pos x="61" y="160"/>
                </a:cxn>
                <a:cxn ang="0">
                  <a:pos x="61" y="158"/>
                </a:cxn>
                <a:cxn ang="0">
                  <a:pos x="0" y="158"/>
                </a:cxn>
                <a:cxn ang="0">
                  <a:pos x="157" y="0"/>
                </a:cxn>
                <a:cxn ang="0">
                  <a:pos x="313" y="158"/>
                </a:cxn>
                <a:cxn ang="0">
                  <a:pos x="248" y="158"/>
                </a:cxn>
                <a:cxn ang="0">
                  <a:pos x="248" y="160"/>
                </a:cxn>
                <a:cxn ang="0">
                  <a:pos x="250" y="192"/>
                </a:cxn>
              </a:cxnLst>
              <a:rect l="0" t="0" r="r" b="b"/>
              <a:pathLst>
                <a:path w="313" h="192">
                  <a:moveTo>
                    <a:pt x="250" y="192"/>
                  </a:moveTo>
                  <a:cubicBezTo>
                    <a:pt x="62" y="192"/>
                    <a:pt x="62" y="192"/>
                    <a:pt x="62" y="192"/>
                  </a:cubicBezTo>
                  <a:cubicBezTo>
                    <a:pt x="61" y="182"/>
                    <a:pt x="61" y="171"/>
                    <a:pt x="61" y="160"/>
                  </a:cubicBezTo>
                  <a:cubicBezTo>
                    <a:pt x="61" y="159"/>
                    <a:pt x="61" y="158"/>
                    <a:pt x="61" y="158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157" y="0"/>
                    <a:pt x="157" y="0"/>
                    <a:pt x="157" y="0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248" y="158"/>
                    <a:pt x="248" y="158"/>
                    <a:pt x="248" y="158"/>
                  </a:cubicBezTo>
                  <a:cubicBezTo>
                    <a:pt x="248" y="158"/>
                    <a:pt x="248" y="159"/>
                    <a:pt x="248" y="160"/>
                  </a:cubicBezTo>
                  <a:cubicBezTo>
                    <a:pt x="248" y="171"/>
                    <a:pt x="249" y="182"/>
                    <a:pt x="250" y="192"/>
                  </a:cubicBezTo>
                  <a:close/>
                </a:path>
              </a:pathLst>
            </a:custGeom>
            <a:solidFill>
              <a:srgbClr val="00B3CC"/>
            </a:solidFill>
            <a:ln w="9525">
              <a:noFill/>
              <a:round/>
            </a:ln>
            <a:effectLst>
              <a:outerShdw blurRad="228600" sx="102000" sy="102000" algn="ctr" rotWithShape="0">
                <a:srgbClr val="DCE4F4">
                  <a:alpha val="24000"/>
                </a:srgb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24" name="Text Placeholder 3"/>
            <p:cNvSpPr txBox="1"/>
            <p:nvPr/>
          </p:nvSpPr>
          <p:spPr>
            <a:xfrm>
              <a:off x="4753105" y="3616259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defPPr>
                <a:defRPr lang="zh-CN"/>
              </a:defPPr>
              <a:lvl1pPr indent="0" algn="ctr" defTabSz="1219200">
                <a:spcBef>
                  <a:spcPct val="20000"/>
                </a:spcBef>
                <a:buNone/>
                <a:defRPr sz="3200" b="1" baseline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pPr>
                <a:defRPr/>
              </a:pPr>
              <a:r>
                <a: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 userDrawn="1"/>
        </p:nvGrpSpPr>
        <p:grpSpPr>
          <a:xfrm rot="10800000" flipV="1">
            <a:off x="7136876" y="2246302"/>
            <a:ext cx="1051944" cy="492442"/>
            <a:chOff x="3994675" y="2246302"/>
            <a:chExt cx="1051944" cy="492442"/>
          </a:xfrm>
        </p:grpSpPr>
        <p:cxnSp>
          <p:nvCxnSpPr>
            <p:cNvPr id="26" name="Straight Connector 37"/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38"/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1557" y="2085756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2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6" y="1707191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0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501557" y="5138600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31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501556" y="4760035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2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8396610" y="2085756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33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8396609" y="1707191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8396610" y="5138600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35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8396609" y="4760035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pic>
        <p:nvPicPr>
          <p:cNvPr id="25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0800000">
            <a:off x="4996187" y="3951171"/>
            <a:ext cx="2196439" cy="26497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997780" y="1233488"/>
            <a:ext cx="2196439" cy="2649775"/>
          </a:xfrm>
          <a:prstGeom prst="rect">
            <a:avLst/>
          </a:prstGeom>
        </p:spPr>
      </p:pic>
      <p:pic>
        <p:nvPicPr>
          <p:cNvPr id="31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6200000" flipH="1" flipV="1">
            <a:off x="6356218" y="2592435"/>
            <a:ext cx="2196439" cy="2649775"/>
          </a:xfrm>
          <a:prstGeom prst="rect">
            <a:avLst/>
          </a:prstGeom>
        </p:spPr>
      </p:pic>
      <p:pic>
        <p:nvPicPr>
          <p:cNvPr id="2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6200000">
            <a:off x="3641250" y="2590692"/>
            <a:ext cx="2196439" cy="2649775"/>
          </a:xfrm>
          <a:prstGeom prst="rect">
            <a:avLst/>
          </a:prstGeom>
        </p:spPr>
      </p:pic>
      <p:sp>
        <p:nvSpPr>
          <p:cNvPr id="11" name="文本占位符 2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181600" y="2167805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2" name="文本占位符 23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181600" y="1789240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占位符 21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5181600" y="5334227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文本占位符 23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5181600" y="4955662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5" name="文本占位符 21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638427" y="379938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6" name="文本占位符 23"/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3638427" y="342082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7" name="文本占位符 21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754220" y="379938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8" name="文本占位符 23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6754220" y="342082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3"/>
          <p:cNvSpPr/>
          <p:nvPr/>
        </p:nvSpPr>
        <p:spPr>
          <a:xfrm>
            <a:off x="6550911" y="1906318"/>
            <a:ext cx="2351648" cy="2351648"/>
          </a:xfrm>
          <a:prstGeom prst="ellipse">
            <a:avLst/>
          </a:prstGeom>
          <a:solidFill>
            <a:srgbClr val="1353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14"/>
          <p:cNvSpPr/>
          <p:nvPr/>
        </p:nvSpPr>
        <p:spPr>
          <a:xfrm>
            <a:off x="8582535" y="2085415"/>
            <a:ext cx="2172551" cy="2172551"/>
          </a:xfrm>
          <a:prstGeom prst="ellipse">
            <a:avLst/>
          </a:prstGeom>
          <a:solidFill>
            <a:srgbClr val="00B3C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7"/>
          <p:cNvSpPr/>
          <p:nvPr/>
        </p:nvSpPr>
        <p:spPr>
          <a:xfrm>
            <a:off x="2962471" y="1656141"/>
            <a:ext cx="2601825" cy="2601826"/>
          </a:xfrm>
          <a:prstGeom prst="ellipse">
            <a:avLst/>
          </a:prstGeom>
          <a:solidFill>
            <a:srgbClr val="1353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20"/>
          <p:cNvSpPr/>
          <p:nvPr/>
        </p:nvSpPr>
        <p:spPr>
          <a:xfrm>
            <a:off x="5244272" y="2631304"/>
            <a:ext cx="1626662" cy="1626662"/>
          </a:xfrm>
          <a:prstGeom prst="ellipse">
            <a:avLst/>
          </a:prstGeom>
          <a:solidFill>
            <a:srgbClr val="00B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id-ID" b="0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1" name="Oval 2"/>
          <p:cNvSpPr/>
          <p:nvPr/>
        </p:nvSpPr>
        <p:spPr>
          <a:xfrm>
            <a:off x="1436914" y="2412384"/>
            <a:ext cx="1845582" cy="1845582"/>
          </a:xfrm>
          <a:prstGeom prst="ellipse">
            <a:avLst/>
          </a:prstGeom>
          <a:solidFill>
            <a:srgbClr val="00B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26"/>
          <p:cNvSpPr/>
          <p:nvPr userDrawn="1"/>
        </p:nvSpPr>
        <p:spPr>
          <a:xfrm>
            <a:off x="0" y="3279454"/>
            <a:ext cx="12192000" cy="3578546"/>
          </a:xfrm>
          <a:prstGeom prst="rect">
            <a:avLst/>
          </a:prstGeom>
          <a:solidFill>
            <a:srgbClr val="E6F7FA"/>
          </a:solidFill>
          <a:ln>
            <a:noFill/>
          </a:ln>
          <a:effectLst>
            <a:outerShdw blurRad="622300" dist="292100" dir="16200000" sx="94000" sy="94000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4145545"/>
            <a:ext cx="1118399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031E2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5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4001" y="3818155"/>
            <a:ext cx="327542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420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3343257" y="258349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27" hasCustomPrompt="1"/>
          </p:nvPr>
        </p:nvSpPr>
        <p:spPr>
          <a:xfrm>
            <a:off x="6812335" y="26313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1702586" y="2857758"/>
            <a:ext cx="1308111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5606387" y="2866522"/>
            <a:ext cx="976566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9014754" y="2866522"/>
            <a:ext cx="1308111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" name="文本框 5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788526" y="2103880"/>
            <a:ext cx="8742314" cy="3217422"/>
            <a:chOff x="2175241" y="2429082"/>
            <a:chExt cx="7968884" cy="2932778"/>
          </a:xfrm>
        </p:grpSpPr>
        <p:sp>
          <p:nvSpPr>
            <p:cNvPr id="7" name="Freeform 5"/>
            <p:cNvSpPr/>
            <p:nvPr/>
          </p:nvSpPr>
          <p:spPr bwMode="auto">
            <a:xfrm>
              <a:off x="7715206" y="2985075"/>
              <a:ext cx="1832616" cy="1822284"/>
            </a:xfrm>
            <a:custGeom>
              <a:avLst/>
              <a:gdLst>
                <a:gd name="T0" fmla="*/ 0 w 320"/>
                <a:gd name="T1" fmla="*/ 189 h 316"/>
                <a:gd name="T2" fmla="*/ 200 w 320"/>
                <a:gd name="T3" fmla="*/ 0 h 316"/>
                <a:gd name="T4" fmla="*/ 320 w 320"/>
                <a:gd name="T5" fmla="*/ 127 h 316"/>
                <a:gd name="T6" fmla="*/ 120 w 320"/>
                <a:gd name="T7" fmla="*/ 316 h 316"/>
                <a:gd name="T8" fmla="*/ 0 w 320"/>
                <a:gd name="T9" fmla="*/ 189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316">
                  <a:moveTo>
                    <a:pt x="0" y="189"/>
                  </a:moveTo>
                  <a:cubicBezTo>
                    <a:pt x="102" y="179"/>
                    <a:pt x="185" y="101"/>
                    <a:pt x="200" y="0"/>
                  </a:cubicBezTo>
                  <a:cubicBezTo>
                    <a:pt x="320" y="127"/>
                    <a:pt x="320" y="127"/>
                    <a:pt x="320" y="127"/>
                  </a:cubicBezTo>
                  <a:cubicBezTo>
                    <a:pt x="218" y="137"/>
                    <a:pt x="135" y="215"/>
                    <a:pt x="120" y="316"/>
                  </a:cubicBezTo>
                  <a:lnTo>
                    <a:pt x="0" y="18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81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R="0" lvl="0" indent="0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8" name="Freeform 6"/>
            <p:cNvSpPr/>
            <p:nvPr/>
          </p:nvSpPr>
          <p:spPr bwMode="auto">
            <a:xfrm>
              <a:off x="2731814" y="2991272"/>
              <a:ext cx="1799559" cy="1816087"/>
            </a:xfrm>
            <a:custGeom>
              <a:avLst/>
              <a:gdLst>
                <a:gd name="T0" fmla="*/ 127 w 314"/>
                <a:gd name="T1" fmla="*/ 0 h 315"/>
                <a:gd name="T2" fmla="*/ 314 w 314"/>
                <a:gd name="T3" fmla="*/ 189 h 315"/>
                <a:gd name="T4" fmla="*/ 187 w 314"/>
                <a:gd name="T5" fmla="*/ 315 h 315"/>
                <a:gd name="T6" fmla="*/ 0 w 314"/>
                <a:gd name="T7" fmla="*/ 125 h 315"/>
                <a:gd name="T8" fmla="*/ 127 w 314"/>
                <a:gd name="T9" fmla="*/ 0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4" h="315">
                  <a:moveTo>
                    <a:pt x="127" y="0"/>
                  </a:moveTo>
                  <a:cubicBezTo>
                    <a:pt x="141" y="97"/>
                    <a:pt x="217" y="174"/>
                    <a:pt x="314" y="189"/>
                  </a:cubicBezTo>
                  <a:cubicBezTo>
                    <a:pt x="187" y="315"/>
                    <a:pt x="187" y="315"/>
                    <a:pt x="187" y="315"/>
                  </a:cubicBezTo>
                  <a:cubicBezTo>
                    <a:pt x="173" y="217"/>
                    <a:pt x="97" y="140"/>
                    <a:pt x="0" y="125"/>
                  </a:cubicBezTo>
                  <a:lnTo>
                    <a:pt x="12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27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4370219" y="2985075"/>
              <a:ext cx="1838814" cy="1822284"/>
            </a:xfrm>
            <a:custGeom>
              <a:avLst/>
              <a:gdLst>
                <a:gd name="T0" fmla="*/ 0 w 321"/>
                <a:gd name="T1" fmla="*/ 189 h 316"/>
                <a:gd name="T2" fmla="*/ 201 w 321"/>
                <a:gd name="T3" fmla="*/ 0 h 316"/>
                <a:gd name="T4" fmla="*/ 321 w 321"/>
                <a:gd name="T5" fmla="*/ 127 h 316"/>
                <a:gd name="T6" fmla="*/ 120 w 321"/>
                <a:gd name="T7" fmla="*/ 316 h 316"/>
                <a:gd name="T8" fmla="*/ 0 w 321"/>
                <a:gd name="T9" fmla="*/ 189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1" h="316">
                  <a:moveTo>
                    <a:pt x="0" y="189"/>
                  </a:moveTo>
                  <a:cubicBezTo>
                    <a:pt x="102" y="179"/>
                    <a:pt x="185" y="101"/>
                    <a:pt x="201" y="0"/>
                  </a:cubicBezTo>
                  <a:cubicBezTo>
                    <a:pt x="321" y="127"/>
                    <a:pt x="321" y="127"/>
                    <a:pt x="321" y="127"/>
                  </a:cubicBezTo>
                  <a:cubicBezTo>
                    <a:pt x="218" y="137"/>
                    <a:pt x="136" y="215"/>
                    <a:pt x="120" y="316"/>
                  </a:cubicBezTo>
                  <a:lnTo>
                    <a:pt x="0" y="18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81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R="0" lvl="0" indent="0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6054075" y="2985075"/>
              <a:ext cx="1809888" cy="1822284"/>
            </a:xfrm>
            <a:custGeom>
              <a:avLst/>
              <a:gdLst>
                <a:gd name="T0" fmla="*/ 126 w 316"/>
                <a:gd name="T1" fmla="*/ 0 h 316"/>
                <a:gd name="T2" fmla="*/ 316 w 316"/>
                <a:gd name="T3" fmla="*/ 190 h 316"/>
                <a:gd name="T4" fmla="*/ 191 w 316"/>
                <a:gd name="T5" fmla="*/ 316 h 316"/>
                <a:gd name="T6" fmla="*/ 0 w 316"/>
                <a:gd name="T7" fmla="*/ 126 h 316"/>
                <a:gd name="T8" fmla="*/ 126 w 316"/>
                <a:gd name="T9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" h="316">
                  <a:moveTo>
                    <a:pt x="126" y="0"/>
                  </a:moveTo>
                  <a:cubicBezTo>
                    <a:pt x="140" y="99"/>
                    <a:pt x="218" y="176"/>
                    <a:pt x="316" y="190"/>
                  </a:cubicBezTo>
                  <a:cubicBezTo>
                    <a:pt x="191" y="316"/>
                    <a:pt x="191" y="316"/>
                    <a:pt x="191" y="316"/>
                  </a:cubicBezTo>
                  <a:cubicBezTo>
                    <a:pt x="176" y="217"/>
                    <a:pt x="99" y="140"/>
                    <a:pt x="0" y="126"/>
                  </a:cubicBezTo>
                  <a:lnTo>
                    <a:pt x="126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27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R="0" lvl="0" indent="0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b="0" i="0" u="none" strike="noStrike" cap="none" spc="0" normalizeH="0" baseline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11" name="Oval 36"/>
            <p:cNvSpPr/>
            <p:nvPr/>
          </p:nvSpPr>
          <p:spPr>
            <a:xfrm>
              <a:off x="2175241" y="2429082"/>
              <a:ext cx="1292099" cy="1292096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  <p:sp>
          <p:nvSpPr>
            <p:cNvPr id="12" name="Oval 37"/>
            <p:cNvSpPr/>
            <p:nvPr/>
          </p:nvSpPr>
          <p:spPr>
            <a:xfrm>
              <a:off x="5491306" y="2429082"/>
              <a:ext cx="1292099" cy="1292096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  <p:sp>
          <p:nvSpPr>
            <p:cNvPr id="13" name="Oval 39"/>
            <p:cNvSpPr/>
            <p:nvPr/>
          </p:nvSpPr>
          <p:spPr>
            <a:xfrm>
              <a:off x="8852026" y="2429082"/>
              <a:ext cx="1292099" cy="1292096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  <p:sp>
          <p:nvSpPr>
            <p:cNvPr id="14" name="Oval 42"/>
            <p:cNvSpPr/>
            <p:nvPr/>
          </p:nvSpPr>
          <p:spPr>
            <a:xfrm>
              <a:off x="7140833" y="4069764"/>
              <a:ext cx="1292099" cy="1292096"/>
            </a:xfrm>
            <a:prstGeom prst="ellipse">
              <a:avLst/>
            </a:prstGeom>
            <a:solidFill>
              <a:srgbClr val="B3E8F0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indent="0" algn="ctr" defTabSz="457200" fontAlgn="auto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6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</a:endParaRPr>
            </a:p>
          </p:txBody>
        </p:sp>
        <p:sp>
          <p:nvSpPr>
            <p:cNvPr id="15" name="Oval 43"/>
            <p:cNvSpPr/>
            <p:nvPr/>
          </p:nvSpPr>
          <p:spPr>
            <a:xfrm>
              <a:off x="3786312" y="4069764"/>
              <a:ext cx="1292099" cy="1292096"/>
            </a:xfrm>
            <a:prstGeom prst="ellipse">
              <a:avLst/>
            </a:prstGeom>
            <a:solidFill>
              <a:srgbClr val="B3E8F0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</p:grpSp>
      <p:sp>
        <p:nvSpPr>
          <p:cNvPr id="16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3401833" y="2695668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3401833" y="23171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7063141" y="2695668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7063141" y="23171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5196513" y="4513764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5196513" y="4135199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1459409" y="4513764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3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59409" y="4135199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8904638" y="4513764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8904638" y="4135199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9" name="图形 28" descr="网络 纯色填充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3122" y="2441383"/>
            <a:ext cx="720000" cy="720000"/>
          </a:xfrm>
          <a:prstGeom prst="rect">
            <a:avLst/>
          </a:prstGeom>
        </p:spPr>
      </p:pic>
      <p:pic>
        <p:nvPicPr>
          <p:cNvPr id="31" name="图形 30" descr="循环流程图 纯色填充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3332" y="4226611"/>
            <a:ext cx="720000" cy="720000"/>
          </a:xfrm>
          <a:prstGeom prst="rect">
            <a:avLst/>
          </a:prstGeom>
        </p:spPr>
      </p:pic>
      <p:pic>
        <p:nvPicPr>
          <p:cNvPr id="34" name="图形 33" descr="网络 纯色填充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0913" y="2441383"/>
            <a:ext cx="720000" cy="720000"/>
          </a:xfrm>
          <a:prstGeom prst="rect">
            <a:avLst/>
          </a:prstGeom>
        </p:spPr>
      </p:pic>
      <p:pic>
        <p:nvPicPr>
          <p:cNvPr id="35" name="图形 34" descr="网络 纯色填充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59038" y="2441383"/>
            <a:ext cx="720000" cy="720000"/>
          </a:xfrm>
          <a:prstGeom prst="rect">
            <a:avLst/>
          </a:prstGeom>
        </p:spPr>
      </p:pic>
      <p:pic>
        <p:nvPicPr>
          <p:cNvPr id="36" name="图形 35" descr="循环流程图 纯色填充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5598" y="4226611"/>
            <a:ext cx="720000" cy="72000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6" name="Freeform 5"/>
          <p:cNvSpPr/>
          <p:nvPr userDrawn="1"/>
        </p:nvSpPr>
        <p:spPr bwMode="auto">
          <a:xfrm rot="16200000">
            <a:off x="4020967" y="619313"/>
            <a:ext cx="4148975" cy="8427602"/>
          </a:xfrm>
          <a:custGeom>
            <a:avLst/>
            <a:gdLst>
              <a:gd name="T0" fmla="*/ 0 w 483"/>
              <a:gd name="T1" fmla="*/ 965 h 965"/>
              <a:gd name="T2" fmla="*/ 483 w 483"/>
              <a:gd name="T3" fmla="*/ 482 h 965"/>
              <a:gd name="T4" fmla="*/ 0 w 483"/>
              <a:gd name="T5" fmla="*/ 0 h 965"/>
              <a:gd name="T6" fmla="*/ 0 w 483"/>
              <a:gd name="T7" fmla="*/ 965 h 9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3" h="965">
                <a:moveTo>
                  <a:pt x="0" y="965"/>
                </a:moveTo>
                <a:cubicBezTo>
                  <a:pt x="267" y="965"/>
                  <a:pt x="483" y="749"/>
                  <a:pt x="483" y="482"/>
                </a:cubicBezTo>
                <a:cubicBezTo>
                  <a:pt x="483" y="216"/>
                  <a:pt x="267" y="0"/>
                  <a:pt x="0" y="0"/>
                </a:cubicBezTo>
                <a:lnTo>
                  <a:pt x="0" y="965"/>
                </a:lnTo>
                <a:close/>
              </a:path>
            </a:pathLst>
          </a:custGeom>
          <a:noFill/>
          <a:ln>
            <a:solidFill>
              <a:schemeClr val="tx1">
                <a:alpha val="20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Oval 8"/>
          <p:cNvSpPr/>
          <p:nvPr userDrawn="1"/>
        </p:nvSpPr>
        <p:spPr>
          <a:xfrm rot="10800000">
            <a:off x="1981273" y="5626964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Oval 9"/>
          <p:cNvSpPr/>
          <p:nvPr userDrawn="1"/>
        </p:nvSpPr>
        <p:spPr>
          <a:xfrm rot="10800000">
            <a:off x="2916705" y="3988990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Oval 10"/>
          <p:cNvSpPr/>
          <p:nvPr userDrawn="1"/>
        </p:nvSpPr>
        <p:spPr>
          <a:xfrm rot="10800000">
            <a:off x="9118454" y="4035733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Oval 11"/>
          <p:cNvSpPr/>
          <p:nvPr userDrawn="1"/>
        </p:nvSpPr>
        <p:spPr>
          <a:xfrm rot="10800000">
            <a:off x="10046573" y="5625584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Oval 12"/>
          <p:cNvSpPr/>
          <p:nvPr userDrawn="1"/>
        </p:nvSpPr>
        <p:spPr>
          <a:xfrm rot="10800000">
            <a:off x="6004158" y="2651289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2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2269812" y="600414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2269812" y="562558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4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3184212" y="439950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3184212" y="402094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6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5181600" y="3326110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5181600" y="2947545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29" hasCustomPrompt="1"/>
          </p:nvPr>
        </p:nvSpPr>
        <p:spPr>
          <a:xfrm>
            <a:off x="7178990" y="439950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7178990" y="402094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31" hasCustomPrompt="1"/>
          </p:nvPr>
        </p:nvSpPr>
        <p:spPr>
          <a:xfrm>
            <a:off x="8118153" y="600414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32" hasCustomPrompt="1"/>
          </p:nvPr>
        </p:nvSpPr>
        <p:spPr>
          <a:xfrm>
            <a:off x="8118153" y="562558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4424798" y="2126861"/>
            <a:ext cx="3240000" cy="3240000"/>
            <a:chOff x="4388172" y="2235404"/>
            <a:chExt cx="3240000" cy="3240000"/>
          </a:xfrm>
        </p:grpSpPr>
        <p:sp>
          <p:nvSpPr>
            <p:cNvPr id="7" name="图形"/>
            <p:cNvSpPr>
              <a:spLocks noChangeArrowheads="1"/>
            </p:cNvSpPr>
            <p:nvPr/>
          </p:nvSpPr>
          <p:spPr bwMode="auto">
            <a:xfrm>
              <a:off x="4748172" y="2595404"/>
              <a:ext cx="2520000" cy="2520000"/>
            </a:xfrm>
            <a:prstGeom prst="ellipse">
              <a:avLst/>
            </a:prstGeom>
            <a:noFill/>
            <a:ln w="9525">
              <a:solidFill>
                <a:srgbClr val="00B3CC">
                  <a:alpha val="50000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65097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dirty="0">
                <a:solidFill>
                  <a:srgbClr val="000000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  <p:sp>
          <p:nvSpPr>
            <p:cNvPr id="8" name="图形"/>
            <p:cNvSpPr>
              <a:spLocks noChangeArrowheads="1"/>
            </p:cNvSpPr>
            <p:nvPr/>
          </p:nvSpPr>
          <p:spPr bwMode="auto">
            <a:xfrm>
              <a:off x="4388172" y="2235404"/>
              <a:ext cx="3240000" cy="3240000"/>
            </a:xfrm>
            <a:prstGeom prst="ellipse">
              <a:avLst/>
            </a:prstGeom>
            <a:noFill/>
            <a:ln w="6350">
              <a:solidFill>
                <a:srgbClr val="00B3CC">
                  <a:alpha val="40000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dirty="0">
                <a:solidFill>
                  <a:srgbClr val="000000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  <p:sp>
          <p:nvSpPr>
            <p:cNvPr id="9" name="图形"/>
            <p:cNvSpPr>
              <a:spLocks noChangeArrowheads="1"/>
            </p:cNvSpPr>
            <p:nvPr/>
          </p:nvSpPr>
          <p:spPr bwMode="auto">
            <a:xfrm>
              <a:off x="5108172" y="2955404"/>
              <a:ext cx="1800000" cy="1800000"/>
            </a:xfrm>
            <a:prstGeom prst="ellipse">
              <a:avLst/>
            </a:prstGeom>
            <a:noFill/>
            <a:ln w="12700">
              <a:solidFill>
                <a:srgbClr val="00B3CC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srgbClr val="000000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  <p:sp>
          <p:nvSpPr>
            <p:cNvPr id="10" name="图形"/>
            <p:cNvSpPr>
              <a:spLocks noChangeArrowheads="1"/>
            </p:cNvSpPr>
            <p:nvPr/>
          </p:nvSpPr>
          <p:spPr bwMode="auto">
            <a:xfrm>
              <a:off x="5468172" y="3315404"/>
              <a:ext cx="1080000" cy="1080000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zh-CN" altLang="en-US" sz="2800" b="1" dirty="0">
                <a:solidFill>
                  <a:srgbClr val="FFFFFF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</p:grpSp>
      <p:cxnSp>
        <p:nvCxnSpPr>
          <p:cNvPr id="35" name="图形"/>
          <p:cNvCxnSpPr/>
          <p:nvPr/>
        </p:nvCxnSpPr>
        <p:spPr>
          <a:xfrm flipH="1">
            <a:off x="504000" y="2836969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3448050" y="1861555"/>
            <a:ext cx="715010" cy="715010"/>
            <a:chOff x="3448050" y="2005330"/>
            <a:chExt cx="715010" cy="715010"/>
          </a:xfrm>
        </p:grpSpPr>
        <p:sp>
          <p:nvSpPr>
            <p:cNvPr id="37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38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39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40" name="图形"/>
              <p:cNvCxnSpPr>
                <a:stCxn id="39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6" name="图形"/>
          <p:cNvCxnSpPr/>
          <p:nvPr/>
        </p:nvCxnSpPr>
        <p:spPr>
          <a:xfrm flipH="1">
            <a:off x="504000" y="4305239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3448050" y="3329825"/>
            <a:ext cx="715010" cy="715010"/>
            <a:chOff x="3448050" y="2005330"/>
            <a:chExt cx="715010" cy="715010"/>
          </a:xfrm>
        </p:grpSpPr>
        <p:sp>
          <p:nvSpPr>
            <p:cNvPr id="28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29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30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31" name="图形"/>
              <p:cNvCxnSpPr>
                <a:stCxn id="30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" name="图形"/>
          <p:cNvCxnSpPr/>
          <p:nvPr/>
        </p:nvCxnSpPr>
        <p:spPr>
          <a:xfrm flipH="1">
            <a:off x="504000" y="5773509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3448050" y="4798095"/>
            <a:ext cx="715010" cy="715010"/>
            <a:chOff x="3448050" y="2005330"/>
            <a:chExt cx="715010" cy="715010"/>
          </a:xfrm>
        </p:grpSpPr>
        <p:sp>
          <p:nvSpPr>
            <p:cNvPr id="19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20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21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22" name="图形"/>
              <p:cNvCxnSpPr>
                <a:stCxn id="21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6" name="图形"/>
          <p:cNvCxnSpPr/>
          <p:nvPr/>
        </p:nvCxnSpPr>
        <p:spPr>
          <a:xfrm flipH="1">
            <a:off x="7926536" y="2805456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组合 66"/>
          <p:cNvGrpSpPr/>
          <p:nvPr/>
        </p:nvGrpSpPr>
        <p:grpSpPr>
          <a:xfrm rot="10800000">
            <a:off x="8024116" y="1830042"/>
            <a:ext cx="715010" cy="715010"/>
            <a:chOff x="3448050" y="2005330"/>
            <a:chExt cx="715010" cy="715010"/>
          </a:xfrm>
        </p:grpSpPr>
        <p:sp>
          <p:nvSpPr>
            <p:cNvPr id="68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69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70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71" name="图形"/>
              <p:cNvCxnSpPr>
                <a:stCxn id="70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7" name="图形"/>
          <p:cNvCxnSpPr/>
          <p:nvPr/>
        </p:nvCxnSpPr>
        <p:spPr>
          <a:xfrm flipH="1">
            <a:off x="7926536" y="4273726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/>
          <p:cNvGrpSpPr/>
          <p:nvPr/>
        </p:nvGrpSpPr>
        <p:grpSpPr>
          <a:xfrm rot="10800000">
            <a:off x="8024116" y="3298312"/>
            <a:ext cx="715010" cy="715010"/>
            <a:chOff x="3448050" y="2005330"/>
            <a:chExt cx="715010" cy="715010"/>
          </a:xfrm>
        </p:grpSpPr>
        <p:sp>
          <p:nvSpPr>
            <p:cNvPr id="59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60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61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62" name="图形"/>
              <p:cNvCxnSpPr>
                <a:stCxn id="61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8" name="图形"/>
          <p:cNvCxnSpPr/>
          <p:nvPr/>
        </p:nvCxnSpPr>
        <p:spPr>
          <a:xfrm flipH="1">
            <a:off x="7926536" y="5741996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/>
          <p:cNvGrpSpPr/>
          <p:nvPr/>
        </p:nvGrpSpPr>
        <p:grpSpPr>
          <a:xfrm rot="10800000">
            <a:off x="8024116" y="4766582"/>
            <a:ext cx="715010" cy="715010"/>
            <a:chOff x="3448050" y="2005330"/>
            <a:chExt cx="715010" cy="715010"/>
          </a:xfrm>
        </p:grpSpPr>
        <p:sp>
          <p:nvSpPr>
            <p:cNvPr id="50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51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52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53" name="图形"/>
              <p:cNvCxnSpPr>
                <a:stCxn id="52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4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622452" y="2206072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75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622452" y="1827507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8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622452" y="3681668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79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622452" y="33031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0" name="文本占位符 21"/>
          <p:cNvSpPr>
            <a:spLocks noGrp="1"/>
          </p:cNvSpPr>
          <p:nvPr>
            <p:ph type="body" sz="quarter" idx="29" hasCustomPrompt="1"/>
          </p:nvPr>
        </p:nvSpPr>
        <p:spPr>
          <a:xfrm>
            <a:off x="622452" y="5149937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1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622452" y="4771372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2" name="文本占位符 21"/>
          <p:cNvSpPr>
            <a:spLocks noGrp="1"/>
          </p:cNvSpPr>
          <p:nvPr>
            <p:ph type="body" sz="quarter" idx="31" hasCustomPrompt="1"/>
          </p:nvPr>
        </p:nvSpPr>
        <p:spPr>
          <a:xfrm>
            <a:off x="8987345" y="2206072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3" name="文本占位符 23"/>
          <p:cNvSpPr>
            <a:spLocks noGrp="1"/>
          </p:cNvSpPr>
          <p:nvPr>
            <p:ph type="body" sz="quarter" idx="32" hasCustomPrompt="1"/>
          </p:nvPr>
        </p:nvSpPr>
        <p:spPr>
          <a:xfrm>
            <a:off x="8987345" y="1827507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4" name="文本占位符 21"/>
          <p:cNvSpPr>
            <a:spLocks noGrp="1"/>
          </p:cNvSpPr>
          <p:nvPr>
            <p:ph type="body" sz="quarter" idx="33" hasCustomPrompt="1"/>
          </p:nvPr>
        </p:nvSpPr>
        <p:spPr>
          <a:xfrm>
            <a:off x="8987345" y="3682481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5" name="文本占位符 23"/>
          <p:cNvSpPr>
            <a:spLocks noGrp="1"/>
          </p:cNvSpPr>
          <p:nvPr>
            <p:ph type="body" sz="quarter" idx="34" hasCustomPrompt="1"/>
          </p:nvPr>
        </p:nvSpPr>
        <p:spPr>
          <a:xfrm>
            <a:off x="8987345" y="3303916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6" name="文本占位符 21"/>
          <p:cNvSpPr>
            <a:spLocks noGrp="1"/>
          </p:cNvSpPr>
          <p:nvPr>
            <p:ph type="body" sz="quarter" idx="35" hasCustomPrompt="1"/>
          </p:nvPr>
        </p:nvSpPr>
        <p:spPr>
          <a:xfrm>
            <a:off x="8987345" y="5145147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7" name="文本占位符 23"/>
          <p:cNvSpPr>
            <a:spLocks noGrp="1"/>
          </p:cNvSpPr>
          <p:nvPr>
            <p:ph type="body" sz="quarter" idx="36" hasCustomPrompt="1"/>
          </p:nvPr>
        </p:nvSpPr>
        <p:spPr>
          <a:xfrm>
            <a:off x="8987345" y="4766582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60070" y="2040972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占位符 21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185994" y="239799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185996" y="209107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6552573" y="2040972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7178497" y="239799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7178499" y="209107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560070" y="3167893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1185994" y="3524914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8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1185996" y="3217996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6552573" y="3167893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7178497" y="3524914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7178499" y="3217996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2" name="文本框 21"/>
          <p:cNvSpPr txBox="1"/>
          <p:nvPr userDrawn="1"/>
        </p:nvSpPr>
        <p:spPr>
          <a:xfrm>
            <a:off x="560070" y="4293266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1185994" y="4650287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1185996" y="4343369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5" name="文本框 24"/>
          <p:cNvSpPr txBox="1"/>
          <p:nvPr userDrawn="1"/>
        </p:nvSpPr>
        <p:spPr>
          <a:xfrm>
            <a:off x="6552573" y="4293266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7178497" y="4650287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7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7178499" y="4343369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任意多边形: 形状 38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733800" y="0"/>
            <a:ext cx="8458200" cy="6858000"/>
          </a:xfrm>
          <a:custGeom>
            <a:avLst/>
            <a:gdLst>
              <a:gd name="connsiteX0" fmla="*/ 0 w 12687300"/>
              <a:gd name="connsiteY0" fmla="*/ 0 h 5829300"/>
              <a:gd name="connsiteX1" fmla="*/ 12687300 w 12687300"/>
              <a:gd name="connsiteY1" fmla="*/ 0 h 5829300"/>
              <a:gd name="connsiteX2" fmla="*/ 12687300 w 12687300"/>
              <a:gd name="connsiteY2" fmla="*/ 5829300 h 5829300"/>
              <a:gd name="connsiteX3" fmla="*/ 0 w 12687300"/>
              <a:gd name="connsiteY3" fmla="*/ 5829300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87300" h="5829300">
                <a:moveTo>
                  <a:pt x="0" y="0"/>
                </a:moveTo>
                <a:lnTo>
                  <a:pt x="12687300" y="0"/>
                </a:lnTo>
                <a:lnTo>
                  <a:pt x="12687300" y="5829300"/>
                </a:lnTo>
                <a:lnTo>
                  <a:pt x="0" y="5829300"/>
                </a:lnTo>
                <a:close/>
              </a:path>
            </a:pathLst>
          </a:custGeom>
          <a:solidFill>
            <a:srgbClr val="DAEEF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 dirty="0"/>
          </a:p>
        </p:txBody>
      </p:sp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Image 0" descr="preencoded.png"/>
          <p:cNvSpPr/>
          <p:nvPr userDrawn="1"/>
        </p:nvSpPr>
        <p:spPr>
          <a:xfrm>
            <a:off x="508000" y="1962150"/>
            <a:ext cx="2781300" cy="6350"/>
          </a:xfrm>
          <a:custGeom>
            <a:avLst/>
            <a:gdLst>
              <a:gd name="connsiteX0" fmla="*/ 0 w 4171950"/>
              <a:gd name="connsiteY0" fmla="*/ 0 h 9525"/>
              <a:gd name="connsiteX1" fmla="*/ 4171950 w 41719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71950" h="9525">
                <a:moveTo>
                  <a:pt x="0" y="0"/>
                </a:moveTo>
                <a:lnTo>
                  <a:pt x="4171950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507999" y="2044260"/>
            <a:ext cx="2777301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2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508000" y="1577985"/>
            <a:ext cx="1828800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6" name="Image 0" descr="preencoded.png"/>
          <p:cNvSpPr/>
          <p:nvPr userDrawn="1"/>
        </p:nvSpPr>
        <p:spPr>
          <a:xfrm>
            <a:off x="508000" y="3966955"/>
            <a:ext cx="2781300" cy="6350"/>
          </a:xfrm>
          <a:custGeom>
            <a:avLst/>
            <a:gdLst>
              <a:gd name="connsiteX0" fmla="*/ 0 w 4171950"/>
              <a:gd name="connsiteY0" fmla="*/ 0 h 9525"/>
              <a:gd name="connsiteX1" fmla="*/ 4171950 w 41719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71950" h="9525">
                <a:moveTo>
                  <a:pt x="0" y="0"/>
                </a:moveTo>
                <a:lnTo>
                  <a:pt x="4171950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507999" y="4049065"/>
            <a:ext cx="2777301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8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508000" y="3582790"/>
            <a:ext cx="1828800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grpSp>
        <p:nvGrpSpPr>
          <p:cNvPr id="47" name="组合 46"/>
          <p:cNvGrpSpPr/>
          <p:nvPr userDrawn="1"/>
        </p:nvGrpSpPr>
        <p:grpSpPr>
          <a:xfrm>
            <a:off x="4178300" y="2969154"/>
            <a:ext cx="7505700" cy="6350"/>
            <a:chOff x="6267450" y="5972175"/>
            <a:chExt cx="11258550" cy="9525"/>
          </a:xfrm>
        </p:grpSpPr>
        <p:sp>
          <p:nvSpPr>
            <p:cNvPr id="48" name="任意多边形: 形状 47"/>
            <p:cNvSpPr/>
            <p:nvPr/>
          </p:nvSpPr>
          <p:spPr>
            <a:xfrm>
              <a:off x="6267450" y="5972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8448675" y="5972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组合 49"/>
          <p:cNvGrpSpPr/>
          <p:nvPr userDrawn="1"/>
        </p:nvGrpSpPr>
        <p:grpSpPr>
          <a:xfrm>
            <a:off x="4178300" y="3982508"/>
            <a:ext cx="7505700" cy="6350"/>
            <a:chOff x="6267450" y="7115175"/>
            <a:chExt cx="11258550" cy="9525"/>
          </a:xfrm>
        </p:grpSpPr>
        <p:sp>
          <p:nvSpPr>
            <p:cNvPr id="51" name="任意多边形: 形状 50"/>
            <p:cNvSpPr/>
            <p:nvPr/>
          </p:nvSpPr>
          <p:spPr>
            <a:xfrm>
              <a:off x="6267450" y="7115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8448675" y="7115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" name="组合 52"/>
          <p:cNvGrpSpPr/>
          <p:nvPr userDrawn="1"/>
        </p:nvGrpSpPr>
        <p:grpSpPr>
          <a:xfrm>
            <a:off x="4178300" y="4995862"/>
            <a:ext cx="7505700" cy="6350"/>
            <a:chOff x="6267450" y="8258175"/>
            <a:chExt cx="11258550" cy="9525"/>
          </a:xfrm>
        </p:grpSpPr>
        <p:sp>
          <p:nvSpPr>
            <p:cNvPr id="54" name="任意多边形: 形状 53"/>
            <p:cNvSpPr/>
            <p:nvPr/>
          </p:nvSpPr>
          <p:spPr>
            <a:xfrm>
              <a:off x="6267450" y="8258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8448675" y="8258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6" name="组合 55"/>
          <p:cNvGrpSpPr/>
          <p:nvPr userDrawn="1"/>
        </p:nvGrpSpPr>
        <p:grpSpPr>
          <a:xfrm>
            <a:off x="4178300" y="6009217"/>
            <a:ext cx="7505700" cy="6350"/>
            <a:chOff x="6267450" y="9401175"/>
            <a:chExt cx="11258550" cy="9525"/>
          </a:xfrm>
        </p:grpSpPr>
        <p:sp>
          <p:nvSpPr>
            <p:cNvPr id="57" name="任意多边形: 形状 56"/>
            <p:cNvSpPr/>
            <p:nvPr/>
          </p:nvSpPr>
          <p:spPr>
            <a:xfrm>
              <a:off x="6267450" y="9401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8448675" y="9401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/>
            </a:p>
          </p:txBody>
        </p:sp>
      </p:grpSp>
      <p:cxnSp>
        <p:nvCxnSpPr>
          <p:cNvPr id="59" name="直接连接符 58"/>
          <p:cNvCxnSpPr/>
          <p:nvPr userDrawn="1"/>
        </p:nvCxnSpPr>
        <p:spPr>
          <a:xfrm>
            <a:off x="4178300" y="1962150"/>
            <a:ext cx="7505669" cy="0"/>
          </a:xfrm>
          <a:prstGeom prst="line">
            <a:avLst/>
          </a:prstGeom>
          <a:ln>
            <a:solidFill>
              <a:srgbClr val="7A8C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5632388" y="2130192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3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5632388" y="3096501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9" name="文本占位符 21"/>
          <p:cNvSpPr>
            <a:spLocks noGrp="1"/>
          </p:cNvSpPr>
          <p:nvPr>
            <p:ph type="body" sz="quarter" idx="33" hasCustomPrompt="1"/>
          </p:nvPr>
        </p:nvSpPr>
        <p:spPr>
          <a:xfrm>
            <a:off x="7755400" y="2157892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0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7755400" y="3124201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3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4178300" y="2116342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95" name="文本占位符 23"/>
          <p:cNvSpPr>
            <a:spLocks noGrp="1"/>
          </p:cNvSpPr>
          <p:nvPr>
            <p:ph type="body" sz="quarter" idx="38" hasCustomPrompt="1"/>
          </p:nvPr>
        </p:nvSpPr>
        <p:spPr>
          <a:xfrm>
            <a:off x="4178300" y="3082651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96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5632388" y="4101879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7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7755400" y="4129579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8" name="文本占位符 23"/>
          <p:cNvSpPr>
            <a:spLocks noGrp="1"/>
          </p:cNvSpPr>
          <p:nvPr>
            <p:ph type="body" sz="quarter" idx="41" hasCustomPrompt="1"/>
          </p:nvPr>
        </p:nvSpPr>
        <p:spPr>
          <a:xfrm>
            <a:off x="4178300" y="4088029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99" name="文本占位符 23"/>
          <p:cNvSpPr>
            <a:spLocks noGrp="1"/>
          </p:cNvSpPr>
          <p:nvPr>
            <p:ph type="body" sz="quarter" idx="42" hasCustomPrompt="1"/>
          </p:nvPr>
        </p:nvSpPr>
        <p:spPr>
          <a:xfrm>
            <a:off x="5632388" y="5131552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0" name="文本占位符 21"/>
          <p:cNvSpPr>
            <a:spLocks noGrp="1"/>
          </p:cNvSpPr>
          <p:nvPr>
            <p:ph type="body" sz="quarter" idx="43" hasCustomPrompt="1"/>
          </p:nvPr>
        </p:nvSpPr>
        <p:spPr>
          <a:xfrm>
            <a:off x="7755400" y="5159252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1" name="文本占位符 23"/>
          <p:cNvSpPr>
            <a:spLocks noGrp="1"/>
          </p:cNvSpPr>
          <p:nvPr>
            <p:ph type="body" sz="quarter" idx="44" hasCustomPrompt="1"/>
          </p:nvPr>
        </p:nvSpPr>
        <p:spPr>
          <a:xfrm>
            <a:off x="4178300" y="5117702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81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1958150" y="1886389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3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1958150" y="2813692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9" name="文本占位符 21"/>
          <p:cNvSpPr>
            <a:spLocks noGrp="1"/>
          </p:cNvSpPr>
          <p:nvPr>
            <p:ph type="body" sz="quarter" idx="33" hasCustomPrompt="1"/>
          </p:nvPr>
        </p:nvSpPr>
        <p:spPr>
          <a:xfrm>
            <a:off x="7755400" y="1886389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0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7755400" y="2813692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3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504062" y="1886389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95" name="文本占位符 23"/>
          <p:cNvSpPr>
            <a:spLocks noGrp="1"/>
          </p:cNvSpPr>
          <p:nvPr>
            <p:ph type="body" sz="quarter" idx="38" hasCustomPrompt="1"/>
          </p:nvPr>
        </p:nvSpPr>
        <p:spPr>
          <a:xfrm>
            <a:off x="504062" y="2813692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96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1958150" y="3753987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7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7755400" y="3753987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8" name="文本占位符 23"/>
          <p:cNvSpPr>
            <a:spLocks noGrp="1"/>
          </p:cNvSpPr>
          <p:nvPr>
            <p:ph type="body" sz="quarter" idx="41" hasCustomPrompt="1"/>
          </p:nvPr>
        </p:nvSpPr>
        <p:spPr>
          <a:xfrm>
            <a:off x="504062" y="3753987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en-US" altLang="zh-CN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99" name="文本占位符 23"/>
          <p:cNvSpPr>
            <a:spLocks noGrp="1"/>
          </p:cNvSpPr>
          <p:nvPr>
            <p:ph type="body" sz="quarter" idx="42" hasCustomPrompt="1"/>
          </p:nvPr>
        </p:nvSpPr>
        <p:spPr>
          <a:xfrm>
            <a:off x="1961740" y="4674454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0" name="文本占位符 21"/>
          <p:cNvSpPr>
            <a:spLocks noGrp="1"/>
          </p:cNvSpPr>
          <p:nvPr>
            <p:ph type="body" sz="quarter" idx="43" hasCustomPrompt="1"/>
          </p:nvPr>
        </p:nvSpPr>
        <p:spPr>
          <a:xfrm>
            <a:off x="7755400" y="4674454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1" name="文本占位符 23"/>
          <p:cNvSpPr>
            <a:spLocks noGrp="1"/>
          </p:cNvSpPr>
          <p:nvPr>
            <p:ph type="body" sz="quarter" idx="44" hasCustomPrompt="1"/>
          </p:nvPr>
        </p:nvSpPr>
        <p:spPr>
          <a:xfrm>
            <a:off x="507652" y="4674454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04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04000" y="1746555"/>
            <a:ext cx="11184000" cy="0"/>
          </a:xfrm>
          <a:prstGeom prst="line">
            <a:avLst/>
          </a:prstGeom>
          <a:ln>
            <a:solidFill>
              <a:srgbClr val="7A8C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: 形状 6"/>
          <p:cNvSpPr/>
          <p:nvPr userDrawn="1"/>
        </p:nvSpPr>
        <p:spPr>
          <a:xfrm>
            <a:off x="504000" y="2672570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1958150" y="2672570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504000" y="3595280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1958150" y="3595280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任意多边形: 形状 10"/>
          <p:cNvSpPr/>
          <p:nvPr userDrawn="1"/>
        </p:nvSpPr>
        <p:spPr>
          <a:xfrm>
            <a:off x="504000" y="4522501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1958150" y="4522501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任意多边形: 形状 12"/>
          <p:cNvSpPr/>
          <p:nvPr userDrawn="1"/>
        </p:nvSpPr>
        <p:spPr>
          <a:xfrm>
            <a:off x="504000" y="5449722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任意多边形: 形状 13"/>
          <p:cNvSpPr/>
          <p:nvPr userDrawn="1"/>
        </p:nvSpPr>
        <p:spPr>
          <a:xfrm>
            <a:off x="1958150" y="5449722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45" hasCustomPrompt="1"/>
          </p:nvPr>
        </p:nvSpPr>
        <p:spPr>
          <a:xfrm>
            <a:off x="1961740" y="5606905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6" name="文本占位符 21"/>
          <p:cNvSpPr>
            <a:spLocks noGrp="1"/>
          </p:cNvSpPr>
          <p:nvPr>
            <p:ph type="body" sz="quarter" idx="46" hasCustomPrompt="1"/>
          </p:nvPr>
        </p:nvSpPr>
        <p:spPr>
          <a:xfrm>
            <a:off x="7755400" y="5606905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47" hasCustomPrompt="1"/>
          </p:nvPr>
        </p:nvSpPr>
        <p:spPr>
          <a:xfrm>
            <a:off x="507652" y="5606905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10109644" y="6308090"/>
            <a:ext cx="1726755" cy="236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en-US" altLang="zh-CN" sz="935" kern="0" dirty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North Valley Research, INC</a:t>
            </a:r>
            <a:endParaRPr lang="zh-CN" altLang="en-US" sz="935" kern="0" dirty="0">
              <a:solidFill>
                <a:srgbClr val="0E3C4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图表占位符 8"/>
          <p:cNvSpPr>
            <a:spLocks noGrp="1"/>
          </p:cNvSpPr>
          <p:nvPr>
            <p:ph type="chart" sz="quarter" idx="10"/>
          </p:nvPr>
        </p:nvSpPr>
        <p:spPr>
          <a:xfrm>
            <a:off x="501650" y="1477963"/>
            <a:ext cx="11080750" cy="222567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10" name="矩形: 圆角 9"/>
          <p:cNvSpPr/>
          <p:nvPr userDrawn="1"/>
        </p:nvSpPr>
        <p:spPr>
          <a:xfrm>
            <a:off x="0" y="4030980"/>
            <a:ext cx="12192000" cy="2827021"/>
          </a:xfrm>
          <a:prstGeom prst="roundRect">
            <a:avLst>
              <a:gd name="adj" fmla="val 0"/>
            </a:avLst>
          </a:prstGeom>
          <a:solidFill>
            <a:srgbClr val="DA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rgbClr val="1FCDC4"/>
              </a:solidFill>
            </a:endParaRPr>
          </a:p>
        </p:txBody>
      </p:sp>
      <p:sp>
        <p:nvSpPr>
          <p:cNvPr id="12" name="图表占位符 11"/>
          <p:cNvSpPr>
            <a:spLocks noGrp="1"/>
          </p:cNvSpPr>
          <p:nvPr>
            <p:ph type="chart" sz="quarter" idx="11"/>
          </p:nvPr>
        </p:nvSpPr>
        <p:spPr>
          <a:xfrm>
            <a:off x="501557" y="447675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2192563" y="4783667"/>
            <a:ext cx="180657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2192565" y="4476749"/>
            <a:ext cx="1806575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图表占位符 11"/>
          <p:cNvSpPr>
            <a:spLocks noGrp="1"/>
          </p:cNvSpPr>
          <p:nvPr>
            <p:ph type="chart" sz="quarter" idx="23"/>
          </p:nvPr>
        </p:nvSpPr>
        <p:spPr>
          <a:xfrm>
            <a:off x="4347209" y="447675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25" name="文本占位符 21"/>
          <p:cNvSpPr>
            <a:spLocks noGrp="1"/>
          </p:cNvSpPr>
          <p:nvPr>
            <p:ph type="body" sz="quarter" idx="24" hasCustomPrompt="1"/>
          </p:nvPr>
        </p:nvSpPr>
        <p:spPr>
          <a:xfrm>
            <a:off x="6038215" y="4783667"/>
            <a:ext cx="180657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6" name="文本占位符 23"/>
          <p:cNvSpPr>
            <a:spLocks noGrp="1"/>
          </p:cNvSpPr>
          <p:nvPr>
            <p:ph type="body" sz="quarter" idx="25" hasCustomPrompt="1"/>
          </p:nvPr>
        </p:nvSpPr>
        <p:spPr>
          <a:xfrm>
            <a:off x="6038217" y="4476749"/>
            <a:ext cx="1806575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7" name="图表占位符 11"/>
          <p:cNvSpPr>
            <a:spLocks noGrp="1"/>
          </p:cNvSpPr>
          <p:nvPr>
            <p:ph type="chart" sz="quarter" idx="26"/>
          </p:nvPr>
        </p:nvSpPr>
        <p:spPr>
          <a:xfrm>
            <a:off x="8192861" y="447675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28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9883867" y="4783667"/>
            <a:ext cx="180657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9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9883869" y="4476749"/>
            <a:ext cx="1806575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6" name="图表占位符 11"/>
          <p:cNvSpPr>
            <a:spLocks noGrp="1"/>
          </p:cNvSpPr>
          <p:nvPr>
            <p:ph type="chart" sz="quarter" idx="11"/>
          </p:nvPr>
        </p:nvSpPr>
        <p:spPr>
          <a:xfrm>
            <a:off x="5866037" y="226147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8" name="图表占位符 11"/>
          <p:cNvSpPr>
            <a:spLocks noGrp="1"/>
          </p:cNvSpPr>
          <p:nvPr>
            <p:ph type="chart" sz="quarter" idx="12"/>
          </p:nvPr>
        </p:nvSpPr>
        <p:spPr>
          <a:xfrm>
            <a:off x="10175908" y="226147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9" name="图表占位符 11"/>
          <p:cNvSpPr>
            <a:spLocks noGrp="1"/>
          </p:cNvSpPr>
          <p:nvPr>
            <p:ph type="chart" sz="quarter" idx="13"/>
          </p:nvPr>
        </p:nvSpPr>
        <p:spPr>
          <a:xfrm>
            <a:off x="8023178" y="226147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14" hasCustomPrompt="1"/>
          </p:nvPr>
        </p:nvSpPr>
        <p:spPr>
          <a:xfrm>
            <a:off x="501556" y="215415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8" y="184723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5866037" y="4147508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5866038" y="429035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任意多边形: 形状 13"/>
          <p:cNvSpPr/>
          <p:nvPr userDrawn="1"/>
        </p:nvSpPr>
        <p:spPr>
          <a:xfrm>
            <a:off x="5866037" y="4863841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21"/>
          <p:cNvSpPr>
            <a:spLocks noGrp="1"/>
          </p:cNvSpPr>
          <p:nvPr>
            <p:ph type="body" sz="quarter" idx="20" hasCustomPrompt="1"/>
          </p:nvPr>
        </p:nvSpPr>
        <p:spPr>
          <a:xfrm>
            <a:off x="5866038" y="5006688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8023178" y="4147508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8023179" y="429035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8" name="任意多边形: 形状 17"/>
          <p:cNvSpPr/>
          <p:nvPr userDrawn="1"/>
        </p:nvSpPr>
        <p:spPr>
          <a:xfrm>
            <a:off x="8023178" y="4863841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占位符 21"/>
          <p:cNvSpPr>
            <a:spLocks noGrp="1"/>
          </p:cNvSpPr>
          <p:nvPr>
            <p:ph type="body" sz="quarter" idx="22" hasCustomPrompt="1"/>
          </p:nvPr>
        </p:nvSpPr>
        <p:spPr>
          <a:xfrm>
            <a:off x="8023179" y="5006688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0" name="任意多边形: 形状 19"/>
          <p:cNvSpPr/>
          <p:nvPr userDrawn="1"/>
        </p:nvSpPr>
        <p:spPr>
          <a:xfrm>
            <a:off x="10175908" y="4147508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10175909" y="429035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2" name="任意多边形: 形状 21"/>
          <p:cNvSpPr/>
          <p:nvPr userDrawn="1"/>
        </p:nvSpPr>
        <p:spPr>
          <a:xfrm>
            <a:off x="10175908" y="4863841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1"/>
          <p:cNvSpPr>
            <a:spLocks noGrp="1"/>
          </p:cNvSpPr>
          <p:nvPr>
            <p:ph type="body" sz="quarter" idx="24" hasCustomPrompt="1"/>
          </p:nvPr>
        </p:nvSpPr>
        <p:spPr>
          <a:xfrm>
            <a:off x="10175909" y="5006688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5866038" y="184213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1"/>
          <p:cNvSpPr>
            <a:spLocks noGrp="1"/>
          </p:cNvSpPr>
          <p:nvPr>
            <p:ph type="body" sz="quarter" idx="26" hasCustomPrompt="1"/>
          </p:nvPr>
        </p:nvSpPr>
        <p:spPr>
          <a:xfrm>
            <a:off x="8023178" y="184213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6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10175908" y="184213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6" name="图表占位符 11"/>
          <p:cNvSpPr>
            <a:spLocks noGrp="1"/>
          </p:cNvSpPr>
          <p:nvPr>
            <p:ph type="chart" sz="quarter" idx="11"/>
          </p:nvPr>
        </p:nvSpPr>
        <p:spPr>
          <a:xfrm>
            <a:off x="3988399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7" name="图表占位符 11"/>
          <p:cNvSpPr>
            <a:spLocks noGrp="1"/>
          </p:cNvSpPr>
          <p:nvPr>
            <p:ph type="chart" sz="quarter" idx="12"/>
          </p:nvPr>
        </p:nvSpPr>
        <p:spPr>
          <a:xfrm>
            <a:off x="9282170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8" name="图表占位符 11"/>
          <p:cNvSpPr>
            <a:spLocks noGrp="1"/>
          </p:cNvSpPr>
          <p:nvPr>
            <p:ph type="chart" sz="quarter" idx="13"/>
          </p:nvPr>
        </p:nvSpPr>
        <p:spPr>
          <a:xfrm>
            <a:off x="6638054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9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3988400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6638055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9282171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2" name="图表占位符 11"/>
          <p:cNvSpPr>
            <a:spLocks noGrp="1"/>
          </p:cNvSpPr>
          <p:nvPr>
            <p:ph type="chart" sz="quarter" idx="24"/>
          </p:nvPr>
        </p:nvSpPr>
        <p:spPr>
          <a:xfrm>
            <a:off x="1338744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1338745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11" hasCustomPrompt="1"/>
          </p:nvPr>
        </p:nvSpPr>
        <p:spPr>
          <a:xfrm>
            <a:off x="501556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7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" name="图表占位符 11"/>
          <p:cNvSpPr>
            <a:spLocks noGrp="1"/>
          </p:cNvSpPr>
          <p:nvPr>
            <p:ph type="chart" sz="quarter" idx="24"/>
          </p:nvPr>
        </p:nvSpPr>
        <p:spPr>
          <a:xfrm>
            <a:off x="7022625" y="1590222"/>
            <a:ext cx="4591360" cy="459135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4" name="Line"/>
          <p:cNvSpPr/>
          <p:nvPr/>
        </p:nvSpPr>
        <p:spPr>
          <a:xfrm>
            <a:off x="495300" y="4636415"/>
            <a:ext cx="3901440" cy="0"/>
          </a:xfrm>
          <a:prstGeom prst="line">
            <a:avLst/>
          </a:prstGeom>
          <a:ln w="9525">
            <a:solidFill>
              <a:srgbClr val="073845">
                <a:alpha val="1469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 defTabSz="274955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065" kern="0" dirty="0">
              <a:solidFill>
                <a:srgbClr val="FFFFFF"/>
              </a:solidFill>
              <a:latin typeface="Poppins Light"/>
              <a:sym typeface="Helvetica Neue Medium"/>
            </a:endParaRPr>
          </a:p>
        </p:txBody>
      </p:sp>
      <p:sp>
        <p:nvSpPr>
          <p:cNvPr id="26" name="文本占位符 23"/>
          <p:cNvSpPr>
            <a:spLocks noGrp="1"/>
          </p:cNvSpPr>
          <p:nvPr>
            <p:ph type="body" sz="quarter" idx="25" hasCustomPrompt="1"/>
          </p:nvPr>
        </p:nvSpPr>
        <p:spPr>
          <a:xfrm>
            <a:off x="495300" y="4322893"/>
            <a:ext cx="25527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8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3285744" y="4322893"/>
            <a:ext cx="1110996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数据值</a:t>
            </a:r>
            <a:endParaRPr lang="zh-CN" altLang="en-US" dirty="0"/>
          </a:p>
        </p:txBody>
      </p:sp>
      <p:sp>
        <p:nvSpPr>
          <p:cNvPr id="29" name="Line"/>
          <p:cNvSpPr/>
          <p:nvPr userDrawn="1"/>
        </p:nvSpPr>
        <p:spPr>
          <a:xfrm>
            <a:off x="495300" y="5075327"/>
            <a:ext cx="3901440" cy="0"/>
          </a:xfrm>
          <a:prstGeom prst="line">
            <a:avLst/>
          </a:prstGeom>
          <a:ln w="9525">
            <a:solidFill>
              <a:srgbClr val="073845">
                <a:alpha val="1469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 defTabSz="274955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065" kern="0" dirty="0">
              <a:solidFill>
                <a:srgbClr val="FFFFFF"/>
              </a:solidFill>
              <a:latin typeface="Poppins Light"/>
              <a:sym typeface="Helvetica Neue Medium"/>
            </a:endParaRPr>
          </a:p>
        </p:txBody>
      </p:sp>
      <p:sp>
        <p:nvSpPr>
          <p:cNvPr id="30" name="文本占位符 23"/>
          <p:cNvSpPr>
            <a:spLocks noGrp="1"/>
          </p:cNvSpPr>
          <p:nvPr>
            <p:ph type="body" sz="quarter" idx="27" hasCustomPrompt="1"/>
          </p:nvPr>
        </p:nvSpPr>
        <p:spPr>
          <a:xfrm>
            <a:off x="495300" y="4761805"/>
            <a:ext cx="25527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1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3285744" y="4761805"/>
            <a:ext cx="1110996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数据值</a:t>
            </a:r>
            <a:endParaRPr lang="zh-CN" altLang="en-US" dirty="0"/>
          </a:p>
        </p:txBody>
      </p:sp>
      <p:sp>
        <p:nvSpPr>
          <p:cNvPr id="32" name="Line"/>
          <p:cNvSpPr/>
          <p:nvPr userDrawn="1"/>
        </p:nvSpPr>
        <p:spPr>
          <a:xfrm>
            <a:off x="495300" y="5514238"/>
            <a:ext cx="3901440" cy="0"/>
          </a:xfrm>
          <a:prstGeom prst="line">
            <a:avLst/>
          </a:prstGeom>
          <a:ln w="9525">
            <a:solidFill>
              <a:srgbClr val="073845">
                <a:alpha val="1469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 defTabSz="274955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065" kern="0" dirty="0">
              <a:solidFill>
                <a:srgbClr val="FFFFFF"/>
              </a:solidFill>
              <a:latin typeface="Poppins Light"/>
              <a:sym typeface="Helvetica Neue Medium"/>
            </a:endParaRPr>
          </a:p>
        </p:txBody>
      </p:sp>
      <p:sp>
        <p:nvSpPr>
          <p:cNvPr id="33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495300" y="5200716"/>
            <a:ext cx="25527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4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3285744" y="5200716"/>
            <a:ext cx="1110996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数据值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矩形: 圆角 248"/>
          <p:cNvSpPr/>
          <p:nvPr userDrawn="1"/>
        </p:nvSpPr>
        <p:spPr>
          <a:xfrm>
            <a:off x="5318760" y="0"/>
            <a:ext cx="6873240" cy="6858001"/>
          </a:xfrm>
          <a:prstGeom prst="roundRect">
            <a:avLst>
              <a:gd name="adj" fmla="val 0"/>
            </a:avLst>
          </a:prstGeom>
          <a:solidFill>
            <a:srgbClr val="DA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rgbClr val="1FCDC4"/>
              </a:solidFill>
            </a:endParaRPr>
          </a:p>
        </p:txBody>
      </p:sp>
      <p:sp>
        <p:nvSpPr>
          <p:cNvPr id="251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52" name="图表占位符 11"/>
          <p:cNvSpPr>
            <a:spLocks noGrp="1"/>
          </p:cNvSpPr>
          <p:nvPr>
            <p:ph type="chart" sz="quarter" idx="24"/>
          </p:nvPr>
        </p:nvSpPr>
        <p:spPr>
          <a:xfrm>
            <a:off x="5996387" y="1590223"/>
            <a:ext cx="5517985" cy="1838777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3" name="图表占位符 11"/>
          <p:cNvSpPr>
            <a:spLocks noGrp="1"/>
          </p:cNvSpPr>
          <p:nvPr>
            <p:ph type="chart" sz="quarter" idx="25"/>
          </p:nvPr>
        </p:nvSpPr>
        <p:spPr>
          <a:xfrm>
            <a:off x="5996387" y="4019015"/>
            <a:ext cx="5517985" cy="1838777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4" name="文本占位符 21"/>
          <p:cNvSpPr>
            <a:spLocks noGrp="1"/>
          </p:cNvSpPr>
          <p:nvPr>
            <p:ph type="body" sz="quarter" idx="14" hasCustomPrompt="1"/>
          </p:nvPr>
        </p:nvSpPr>
        <p:spPr>
          <a:xfrm>
            <a:off x="501556" y="215415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5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8" y="184723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56" name="标题 15"/>
          <p:cNvSpPr txBox="1"/>
          <p:nvPr userDrawn="1"/>
        </p:nvSpPr>
        <p:spPr>
          <a:xfrm>
            <a:off x="501556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257" name="标题 15"/>
          <p:cNvSpPr txBox="1"/>
          <p:nvPr userDrawn="1"/>
        </p:nvSpPr>
        <p:spPr>
          <a:xfrm>
            <a:off x="497493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58" name="直接连接符 257"/>
          <p:cNvCxnSpPr/>
          <p:nvPr userDrawn="1"/>
        </p:nvCxnSpPr>
        <p:spPr>
          <a:xfrm flipV="1">
            <a:off x="2169658" y="4664759"/>
            <a:ext cx="0" cy="4094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标题 15"/>
          <p:cNvSpPr txBox="1"/>
          <p:nvPr userDrawn="1"/>
        </p:nvSpPr>
        <p:spPr>
          <a:xfrm>
            <a:off x="2731849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260" name="标题 15"/>
          <p:cNvSpPr txBox="1"/>
          <p:nvPr userDrawn="1"/>
        </p:nvSpPr>
        <p:spPr>
          <a:xfrm>
            <a:off x="2763268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封底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0930382" y="6308090"/>
            <a:ext cx="906017" cy="236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  <a:endParaRPr lang="zh-CN" altLang="en-US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蓝色的星球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8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黑暗里有星球&#10;&#10;AI 生成的内容可能不正确。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8"/>
          <a:stretch>
            <a:fillRect/>
          </a:stretch>
        </p:blipFill>
        <p:spPr>
          <a:xfrm flipV="1">
            <a:off x="0" y="0"/>
            <a:ext cx="12192000" cy="7454900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底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黑暗里有星球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8"/>
          <a:stretch>
            <a:fillRect/>
          </a:stretch>
        </p:blipFill>
        <p:spPr>
          <a:xfrm flipV="1">
            <a:off x="0" y="0"/>
            <a:ext cx="12192000" cy="745490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010400" y="2226262"/>
            <a:ext cx="42883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dirty="0">
                <a:solidFill>
                  <a:schemeClr val="bg1"/>
                </a:solidFill>
                <a:latin typeface="OPPOSans L" panose="00020600040101010101" pitchFamily="18" charset="-122"/>
                <a:ea typeface="OPPOSans L" panose="00020600040101010101" pitchFamily="18" charset="-122"/>
                <a:cs typeface="OPPOSans L" panose="00020600040101010101" pitchFamily="18" charset="-122"/>
              </a:rPr>
              <a:t>感谢观看</a:t>
            </a:r>
            <a:endParaRPr lang="zh-CN" altLang="en-US" sz="8000" dirty="0">
              <a:solidFill>
                <a:schemeClr val="bg1"/>
              </a:solidFill>
              <a:latin typeface="OPPOSans L" panose="00020600040101010101" pitchFamily="18" charset="-122"/>
              <a:ea typeface="OPPOSans L" panose="00020600040101010101" pitchFamily="18" charset="-122"/>
              <a:cs typeface="OPPOSans L" panose="00020600040101010101" pitchFamily="18" charset="-122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0930382" y="6308090"/>
            <a:ext cx="906017" cy="236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  <a:endParaRPr lang="zh-CN" altLang="en-US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15865253650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9" Type="http://schemas.openxmlformats.org/officeDocument/2006/relationships/theme" Target="../theme/theme1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480994" y="1711187"/>
            <a:ext cx="10289480" cy="700405"/>
          </a:xfrm>
        </p:spPr>
        <p:txBody>
          <a:bodyPr/>
          <a:lstStyle/>
          <a:p>
            <a:r>
              <a:rPr lang="en-US" altLang="zh-CN" sz="4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【A</a:t>
            </a:r>
            <a:r>
              <a:rPr lang="en-GB" altLang="zh-CN" sz="4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I+</a:t>
            </a:r>
            <a:r>
              <a:rPr lang="zh-CN" altLang="en-US" sz="4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嵌入式</a:t>
            </a:r>
            <a:r>
              <a:rPr lang="en-US" altLang="zh-CN" sz="4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】</a:t>
            </a:r>
            <a:r>
              <a:rPr lang="zh-CN" altLang="en-US" sz="4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：让单片机学会思考</a:t>
            </a:r>
            <a:endParaRPr lang="zh-CN" altLang="en-US" sz="44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52132" y="5175840"/>
            <a:ext cx="1211838" cy="1418358"/>
            <a:chOff x="2156460" y="2537392"/>
            <a:chExt cx="2161540" cy="2529908"/>
          </a:xfrm>
        </p:grpSpPr>
        <p:sp>
          <p:nvSpPr>
            <p:cNvPr id="16" name="矩形 15"/>
            <p:cNvSpPr/>
            <p:nvPr/>
          </p:nvSpPr>
          <p:spPr>
            <a:xfrm>
              <a:off x="2156460" y="2537392"/>
              <a:ext cx="2161540" cy="2529908"/>
            </a:xfrm>
            <a:prstGeom prst="rect">
              <a:avLst/>
            </a:prstGeom>
            <a:solidFill>
              <a:srgbClr val="344054"/>
            </a:solidFill>
            <a:ln>
              <a:noFill/>
            </a:ln>
            <a:effectLst>
              <a:glow rad="76200">
                <a:schemeClr val="bg2">
                  <a:lumMod val="90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>
                <a:ln w="22225">
                  <a:solidFill>
                    <a:srgbClr val="E6FAFB"/>
                  </a:solidFill>
                  <a:prstDash val="solid"/>
                </a:ln>
                <a:solidFill>
                  <a:schemeClr val="bg1"/>
                </a:solidFill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224773" y="4661884"/>
              <a:ext cx="1952674" cy="327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00" b="1" dirty="0">
                  <a:solidFill>
                    <a:srgbClr val="2B869D"/>
                  </a:solidFill>
                </a:rPr>
                <a:t>扫码关注，获取更多</a:t>
              </a:r>
              <a:r>
                <a:rPr lang="en-US" altLang="zh-CN" sz="600" b="1" dirty="0">
                  <a:solidFill>
                    <a:srgbClr val="2B869D"/>
                  </a:solidFill>
                </a:rPr>
                <a:t>AI</a:t>
              </a:r>
              <a:r>
                <a:rPr lang="zh-CN" altLang="en-US" sz="600" b="1" dirty="0">
                  <a:solidFill>
                    <a:srgbClr val="2B869D"/>
                  </a:solidFill>
                </a:rPr>
                <a:t>秘籍</a:t>
              </a:r>
              <a:endParaRPr lang="zh-CN" altLang="en-US" sz="600" b="1" dirty="0">
                <a:solidFill>
                  <a:srgbClr val="2B869D"/>
                </a:solidFill>
              </a:endParaRPr>
            </a:p>
          </p:txBody>
        </p:sp>
      </p:grpSp>
      <p:sp>
        <p:nvSpPr>
          <p:cNvPr id="26" name="矩形: 圆角 25"/>
          <p:cNvSpPr/>
          <p:nvPr/>
        </p:nvSpPr>
        <p:spPr>
          <a:xfrm>
            <a:off x="1758975" y="5175840"/>
            <a:ext cx="5587593" cy="1431649"/>
          </a:xfrm>
          <a:prstGeom prst="roundRect">
            <a:avLst/>
          </a:prstGeom>
          <a:solidFill>
            <a:srgbClr val="2D3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1000" dirty="0"/>
              <a:t>拆解 </a:t>
            </a:r>
            <a:r>
              <a:rPr lang="en-US" altLang="zh-CN" sz="1000" dirty="0"/>
              <a:t>AI </a:t>
            </a:r>
            <a:r>
              <a:rPr lang="zh-CN" altLang="en-US" sz="1000" dirty="0"/>
              <a:t>与嵌入式的融合逻辑，让 “单片机 </a:t>
            </a:r>
            <a:r>
              <a:rPr lang="en-US" altLang="zh-CN" sz="1000" dirty="0"/>
              <a:t>+ </a:t>
            </a:r>
            <a:r>
              <a:rPr lang="zh-CN" altLang="en-US" sz="1000" dirty="0"/>
              <a:t>智能” 的复杂原理变清晰</a:t>
            </a:r>
            <a:endParaRPr lang="zh-CN" altLang="en-US" sz="10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1000" dirty="0"/>
              <a:t>手把手带练从硬件选型到 </a:t>
            </a:r>
            <a:r>
              <a:rPr lang="en-US" altLang="zh-CN" sz="1000" dirty="0"/>
              <a:t>AI </a:t>
            </a:r>
            <a:r>
              <a:rPr lang="zh-CN" altLang="en-US" sz="1000" dirty="0"/>
              <a:t>模型部署，实现单片机 “思考能力” 从 </a:t>
            </a:r>
            <a:r>
              <a:rPr lang="en-US" altLang="zh-CN" sz="1000" dirty="0"/>
              <a:t>0 </a:t>
            </a:r>
            <a:r>
              <a:rPr lang="zh-CN" altLang="en-US" sz="1000" dirty="0"/>
              <a:t>到 </a:t>
            </a:r>
            <a:r>
              <a:rPr lang="en-US" altLang="zh-CN" sz="1000" dirty="0"/>
              <a:t>1 </a:t>
            </a:r>
            <a:r>
              <a:rPr lang="zh-CN" altLang="en-US" sz="1000" dirty="0"/>
              <a:t>落地</a:t>
            </a:r>
            <a:endParaRPr lang="zh-CN" altLang="en-US" sz="10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1000" dirty="0"/>
              <a:t>让 </a:t>
            </a:r>
            <a:r>
              <a:rPr lang="en-US" altLang="zh-CN" sz="1000" dirty="0"/>
              <a:t>AI </a:t>
            </a:r>
            <a:r>
              <a:rPr lang="zh-CN" altLang="en-US" sz="1000" dirty="0"/>
              <a:t>不再是遥远的技术概念，成为你操控单片机、开发智能硬件的生产力工具</a:t>
            </a:r>
            <a:endParaRPr lang="zh-CN" altLang="en-US" sz="10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1000" dirty="0"/>
              <a:t>专注普通人能听懂、能上手的实战教学，拒绝堆砌理论，只讲能直接用的技术</a:t>
            </a:r>
            <a:endParaRPr lang="zh-CN" altLang="en-US" sz="1000" dirty="0"/>
          </a:p>
        </p:txBody>
      </p:sp>
      <p:sp>
        <p:nvSpPr>
          <p:cNvPr id="34" name="文本框 33"/>
          <p:cNvSpPr txBox="1"/>
          <p:nvPr/>
        </p:nvSpPr>
        <p:spPr>
          <a:xfrm>
            <a:off x="1758975" y="4069755"/>
            <a:ext cx="3260642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600" b="1" dirty="0">
                <a:solidFill>
                  <a:srgbClr val="22D3EF"/>
                </a:solidFill>
              </a:rPr>
              <a:t>贺老师</a:t>
            </a:r>
            <a:endParaRPr lang="zh-CN" altLang="en-US" sz="3600" b="1" dirty="0">
              <a:solidFill>
                <a:srgbClr val="22D3EF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758975" y="4746210"/>
            <a:ext cx="2878098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dirty="0">
                <a:solidFill>
                  <a:srgbClr val="22D3EF"/>
                </a:solidFill>
              </a:rPr>
              <a:t>嵌入式 </a:t>
            </a:r>
            <a:r>
              <a:rPr lang="en-US" altLang="zh-CN" sz="1400" b="1" dirty="0">
                <a:solidFill>
                  <a:srgbClr val="22D3EF"/>
                </a:solidFill>
              </a:rPr>
              <a:t>AI </a:t>
            </a:r>
            <a:r>
              <a:rPr lang="zh-CN" altLang="en-US" sz="1400" b="1" dirty="0">
                <a:solidFill>
                  <a:srgbClr val="22D3EF"/>
                </a:solidFill>
              </a:rPr>
              <a:t>落地开发专家</a:t>
            </a:r>
            <a:endParaRPr lang="zh-CN" altLang="en-US" sz="1400" b="1" dirty="0">
              <a:solidFill>
                <a:srgbClr val="22D3EF"/>
              </a:solidFill>
            </a:endParaRPr>
          </a:p>
        </p:txBody>
      </p:sp>
      <p:pic>
        <p:nvPicPr>
          <p:cNvPr id="4" name="图片 3" descr="QR 代码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76" y="5266499"/>
            <a:ext cx="1055243" cy="10552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27"/>
          </p:nvPr>
        </p:nvSpPr>
        <p:spPr>
          <a:xfrm>
            <a:off x="740281" y="2535065"/>
            <a:ext cx="9404100" cy="645160"/>
          </a:xfrm>
        </p:spPr>
        <p:txBody>
          <a:bodyPr/>
          <a:lstStyle/>
          <a:p>
            <a:r>
              <a:rPr lang="en-US" altLang="zh-CN" b="1" dirty="0"/>
              <a:t>Day14</a:t>
            </a:r>
            <a:r>
              <a:rPr lang="zh-CN" altLang="en-US" b="1" dirty="0"/>
              <a:t>：模型训练与验证</a:t>
            </a:r>
            <a:endParaRPr lang="zh-CN" altLang="en-US" b="1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740410" y="3280410"/>
            <a:ext cx="10092055" cy="312420"/>
          </a:xfrm>
        </p:spPr>
        <p:txBody>
          <a:bodyPr wrap="square"/>
          <a:lstStyle/>
          <a:p>
            <a:r>
              <a:rPr lang="zh-CN" altLang="en-US" dirty="0"/>
              <a:t>基于 </a:t>
            </a:r>
            <a:r>
              <a:rPr lang="en-US" altLang="zh-CN" dirty="0"/>
              <a:t>Day12 </a:t>
            </a:r>
            <a:r>
              <a:rPr lang="zh-CN" altLang="en-US" dirty="0"/>
              <a:t>特征表和 </a:t>
            </a:r>
            <a:r>
              <a:rPr lang="en-US" altLang="zh-CN" dirty="0"/>
              <a:t>Day13 TensorFlow/Keras MLP </a:t>
            </a:r>
            <a:r>
              <a:rPr lang="zh-CN" altLang="en-US" dirty="0"/>
              <a:t>设计，运行 </a:t>
            </a:r>
            <a:r>
              <a:rPr lang="en-US" altLang="zh-CN" dirty="0"/>
              <a:t>Python </a:t>
            </a:r>
            <a:r>
              <a:rPr lang="zh-CN" altLang="en-US" dirty="0"/>
              <a:t>脚本完成动作识别模型训练与验证</a:t>
            </a:r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Day14 学习目标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2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54480" y="138988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理解训练、验证、测试的区别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02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54480" y="262432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理解 loss、accuracy、混淆矩阵、precision、recall、F1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54480" y="385876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知道为什么不能只看总准确率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72200" y="137160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04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0" y="138988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能运行 day14_model_training_validation.py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72200" y="260604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05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0" y="262432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能用 TensorFlow/Keras 训练 Day13 设计的 Dense 32 + Dense 16 + Dense 3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72200" y="384048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06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0" y="385876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能读懂训练曲线、混淆矩阵和分类报告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285232"/>
            <a:ext cx="987552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2E75B6"/>
                </a:solidFill>
                <a:latin typeface="微软雅黑" panose="020B0503020204020204" pitchFamily="34" charset="-122"/>
              </a:rPr>
              <a:t>本节课的核心不是“跑出一个高 accuracy”，而是“知道这个模型为什么可信，哪里不可信”。</a:t>
            </a:r>
            <a:endParaRPr sz="15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64592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996696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1F3040"/>
                </a:solidFill>
                <a:latin typeface="微软雅黑" panose="020B0503020204020204" pitchFamily="34" charset="-122"/>
              </a:rPr>
              <a:t>从 Day13 到 Day14：设计变成模型</a:t>
            </a:r>
            <a:endParaRPr sz="24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042415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3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7" name="Picture 6" descr="day14_training_validation_pipe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52758"/>
            <a:ext cx="6995160" cy="259820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09560" y="1325880"/>
            <a:ext cx="3246120" cy="22402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ctr"/>
          <a:lstStyle/>
          <a:p>
            <a:pPr algn="ctr"/>
            <a:r>
              <a:rPr sz="1500" b="1">
                <a:solidFill>
                  <a:srgbClr val="2E75B6"/>
                </a:solidFill>
                <a:latin typeface="微软雅黑" panose="020B0503020204020204" pitchFamily="34" charset="-122"/>
              </a:rPr>
              <a:t>读图顺序</a:t>
            </a:r>
            <a:endParaRPr sz="1500" b="1">
              <a:solidFill>
                <a:srgbClr val="2E75B6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• Day13：确定输入、输出、结构和约束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• Day14：训练模型，并用验证报告判断是否可靠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• Day15：把可靠模型量化、转换，再准备部署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09560" y="3931920"/>
            <a:ext cx="3246120" cy="100584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rtlCol="0" anchor="ctr"/>
          <a:lstStyle/>
          <a:p>
            <a:pPr algn="ctr"/>
            <a:r>
              <a:rPr sz="1200" b="1">
                <a:solidFill>
                  <a:srgbClr val="ED7D31"/>
                </a:solidFill>
                <a:latin typeface="微软雅黑" panose="020B0503020204020204" pitchFamily="34" charset="-122"/>
              </a:rPr>
              <a:t>记住：</a:t>
            </a:r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Day14 是“从设计到模型文件”的关键桥梁。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本节课最终输出什么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4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1248" y="1298448"/>
            <a:ext cx="109728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微软雅黑" panose="020B0503020204020204" pitchFamily="34" charset="-122"/>
              </a:rPr>
              <a:t>概念</a:t>
            </a:r>
            <a:endParaRPr sz="14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92240" y="1298448"/>
            <a:ext cx="14630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70AD47"/>
                </a:solidFill>
                <a:latin typeface="微软雅黑" panose="020B0503020204020204" pitchFamily="34" charset="-122"/>
              </a:rPr>
              <a:t>本 case</a:t>
            </a:r>
            <a:endParaRPr sz="14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1847088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764792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课程脚本：day14_model_training_validation.py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2322575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240279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Keras 模型：model.keras / best_model.keras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14400" y="2798064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715768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模型权重：model_weights.npz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4400" y="3273551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191256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归一化参数：scaler.json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14400" y="3749040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666744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标签映射与特征列：label_map.json / feature_columns.json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537960" y="18470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1764792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训练曲线：training_curves.png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537960" y="2322575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2240279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混淆矩阵：confusion_matrix.png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537960" y="2798064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2715768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分类报告：classification_report.csv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537960" y="3273551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39128" y="3191256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综合指标：metrics.json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537960" y="3749040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9128" y="3666744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逐窗口预测：predictions_test.csv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14400" y="557784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60704" y="5577840"/>
            <a:ext cx="9866376" cy="4572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669279"/>
            <a:ext cx="96012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微软雅黑" panose="020B0503020204020204" pitchFamily="34" charset="-122"/>
              </a:rPr>
              <a:t>Day14 的交付不是一个孤立模型，而是一套可复现的 Keras 训练实验和可交给 Day15 的模型包。</a:t>
            </a:r>
            <a:endParaRPr sz="11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53312"/>
            <a:ext cx="1170432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6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36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01952" y="1353312"/>
            <a:ext cx="8961120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pitchFamily="34" charset="-122"/>
              </a:rPr>
              <a:t>第一部分：训练基本概念</a:t>
            </a:r>
            <a:endParaRPr sz="3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38528" y="2267712"/>
            <a:ext cx="841248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0">
                <a:solidFill>
                  <a:srgbClr val="DCE6F1"/>
                </a:solidFill>
                <a:latin typeface="微软雅黑" panose="020B0503020204020204" pitchFamily="34" charset="-122"/>
              </a:rPr>
              <a:t>先理解模型为什么能学习，再去看 Python 代码。</a:t>
            </a:r>
            <a:endParaRPr sz="1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938528" y="4005072"/>
            <a:ext cx="1888236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29968" y="4096511"/>
            <a:ext cx="502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11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66544" y="4398264"/>
            <a:ext cx="1632204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F3040"/>
                </a:solidFill>
                <a:latin typeface="微软雅黑" panose="020B0503020204020204" pitchFamily="34" charset="-122"/>
              </a:rPr>
              <a:t>概念讲透</a:t>
            </a:r>
            <a:endParaRPr sz="1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3808476" y="4215384"/>
            <a:ext cx="201168" cy="237744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91356" y="4005072"/>
            <a:ext cx="1888236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82796" y="4096511"/>
            <a:ext cx="502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70AD47"/>
                </a:solidFill>
                <a:latin typeface="微软雅黑" panose="020B0503020204020204" pitchFamily="34" charset="-122"/>
              </a:rPr>
              <a:t>02</a:t>
            </a:r>
            <a:endParaRPr sz="11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9372" y="4398264"/>
            <a:ext cx="1632204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F3040"/>
                </a:solidFill>
                <a:latin typeface="微软雅黑" panose="020B0503020204020204" pitchFamily="34" charset="-122"/>
              </a:rPr>
              <a:t>代码能跑</a:t>
            </a:r>
            <a:endParaRPr sz="1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5861304" y="4215384"/>
            <a:ext cx="201168" cy="237744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44184" y="4005072"/>
            <a:ext cx="1888236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5624" y="4096511"/>
            <a:ext cx="502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11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72200" y="4398264"/>
            <a:ext cx="1632204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F3040"/>
                </a:solidFill>
                <a:latin typeface="微软雅黑" panose="020B0503020204020204" pitchFamily="34" charset="-122"/>
              </a:rPr>
              <a:t>结果会看</a:t>
            </a:r>
            <a:endParaRPr sz="1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7914132" y="4215384"/>
            <a:ext cx="201168" cy="237744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97012" y="4005072"/>
            <a:ext cx="1888236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8452" y="4096511"/>
            <a:ext cx="502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70AD47"/>
                </a:solidFill>
                <a:latin typeface="微软雅黑" panose="020B0503020204020204" pitchFamily="34" charset="-122"/>
              </a:rPr>
              <a:t>04</a:t>
            </a:r>
            <a:endParaRPr sz="11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5028" y="4398264"/>
            <a:ext cx="1632204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F3040"/>
                </a:solidFill>
                <a:latin typeface="微软雅黑" panose="020B0503020204020204" pitchFamily="34" charset="-122"/>
              </a:rPr>
              <a:t>问题能改</a:t>
            </a:r>
            <a:endParaRPr sz="1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" y="6263640"/>
            <a:ext cx="45720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DCE6F1"/>
                </a:solidFill>
                <a:latin typeface="微软雅黑" panose="020B0503020204020204" pitchFamily="34" charset="-122"/>
              </a:rPr>
              <a:t>Day14 模型训练与验证</a:t>
            </a:r>
            <a:endParaRPr sz="11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835640" y="6263640"/>
            <a:ext cx="59436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100" b="0">
                <a:solidFill>
                  <a:srgbClr val="DCE6F1"/>
                </a:solidFill>
                <a:latin typeface="微软雅黑" panose="020B0503020204020204" pitchFamily="34" charset="-122"/>
              </a:rPr>
              <a:t>5</a:t>
            </a:r>
            <a:endParaRPr sz="11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pitchFamily="34" charset="-122"/>
              </a:rPr>
              <a:t>什么是模型训练</a:t>
            </a:r>
            <a:endParaRPr sz="2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6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9326880" cy="9875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pitchFamily="34" charset="-122"/>
              </a:rPr>
              <a:t>训练不是让模型背数据，而是让模型学会从特征组合中判断动作类别。</a:t>
            </a:r>
            <a:endParaRPr sz="24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70432" y="2770632"/>
            <a:ext cx="22860" cy="378561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60604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67004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8760" y="2596896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模型训练就是自动寻找一组参数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05840" y="317296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323697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8760" y="3163824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这些参数让输入特征映射到正确类别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05840" y="373989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3803904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8760" y="3730752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训练开始时参数通常是随机的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05840" y="430682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370832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08760" y="4297680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训练过程中根据错误不断调整参数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005840" y="4873752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136" y="4937760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5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08760" y="4864608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输入：一个窗口的特征向量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005840" y="5440680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" y="550468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6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08760" y="5431536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输出：idle/walk/stairs 三类概率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1005840" y="6007608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" y="607161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7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08760" y="5998464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目标：真实类别概率越来越高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权重和偏置：模型真正学到的东西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7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1248" y="1298448"/>
            <a:ext cx="109728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微软雅黑" panose="020B0503020204020204" pitchFamily="34" charset="-122"/>
              </a:rPr>
              <a:t>概念</a:t>
            </a:r>
            <a:endParaRPr sz="14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92240" y="1298448"/>
            <a:ext cx="14630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70AD47"/>
                </a:solidFill>
                <a:latin typeface="微软雅黑" panose="020B0503020204020204" pitchFamily="34" charset="-122"/>
              </a:rPr>
              <a:t>本 case</a:t>
            </a:r>
            <a:endParaRPr sz="14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1847088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764792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权重 weight：表示某个输入特征对某个神经元的影响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2322575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240279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偏置 bias：给神经元一个可学习的基础偏移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14400" y="2798064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715768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Dense 层本质：y = W x + b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4400" y="3273551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191256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训练过程：不断调整 W 和 b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537960" y="18470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9128" y="1764792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RMS 可能提示动作强度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537960" y="2322575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2240279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主频可能提示动作节奏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537960" y="2798064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2715768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能量分布可能提示动作冲击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537960" y="3273551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3191256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模型学习的是这些特征如何组合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14400" y="557784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0704" y="5577840"/>
            <a:ext cx="9866376" cy="4572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669279"/>
            <a:ext cx="96012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微软雅黑" panose="020B0503020204020204" pitchFamily="34" charset="-122"/>
              </a:rPr>
              <a:t>对嵌入式部署来说，权重和偏置最终会占用 Flash。</a:t>
            </a:r>
            <a:endParaRPr sz="11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前向传播：从特征到预测概率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8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54480" y="138988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把一个窗口的特征向量输入模型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02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54480" y="262432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依次经过 Dense、ReLU、Dense、ReLU、Dense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54480" y="385876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最后经过 Softmax 得到三类概率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72200" y="137160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04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0" y="138988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概率最大的类别作为预测结果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72200" y="260604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05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0" y="262432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例子：idle = 0.03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72200" y="384048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06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0" y="385876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例子：walk = 0.82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285232"/>
            <a:ext cx="987552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2E75B6"/>
                </a:solidFill>
                <a:latin typeface="微软雅黑" panose="020B0503020204020204" pitchFamily="34" charset="-122"/>
              </a:rPr>
              <a:t>前向传播就是部署到 MCU 后真正会执行的推理过程。</a:t>
            </a:r>
            <a:endParaRPr sz="15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pitchFamily="34" charset="-122"/>
              </a:rPr>
              <a:t>损失函数：把错误变成一个数字</a:t>
            </a:r>
            <a:endParaRPr sz="2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9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9326880" cy="9875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pitchFamily="34" charset="-122"/>
              </a:rPr>
              <a:t>accuracy 只告诉我们对不对，loss 还告诉我们模型错得有多严重。</a:t>
            </a:r>
            <a:endParaRPr sz="24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70432" y="2770632"/>
            <a:ext cx="22860" cy="378561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60604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67004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8760" y="2596896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loss 越小，说明预测越接近真实标签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05840" y="317296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323697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8760" y="3163824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三分类常用 sparse categorical crossentropy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05840" y="373989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3803904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8760" y="3730752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真实类别概率越低，loss 越大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05840" y="430682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370832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08760" y="4297680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训练目标：让 loss 持续下降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005840" y="4873752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136" y="4937760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5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08760" y="4864608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真实标签：walk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005840" y="5440680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" y="550468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6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08760" y="5431536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预测 A：walk = 0.82，loss 较小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1005840" y="6007608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" y="607161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7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08760" y="5998464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预测 B：walk = 0.20，loss 较大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反向传播：把错误分配回每个参数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10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1248" y="1298448"/>
            <a:ext cx="109728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微软雅黑" panose="020B0503020204020204" pitchFamily="34" charset="-122"/>
              </a:rPr>
              <a:t>概念</a:t>
            </a:r>
            <a:endParaRPr sz="14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92240" y="1298448"/>
            <a:ext cx="14630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70AD47"/>
                </a:solidFill>
                <a:latin typeface="微软雅黑" panose="020B0503020204020204" pitchFamily="34" charset="-122"/>
              </a:rPr>
              <a:t>本 case</a:t>
            </a:r>
            <a:endParaRPr sz="14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1847088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764792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前向传播：计算预测结果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2322575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240279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损失函数：计算错得多远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14400" y="2798064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715768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反向传播：计算每个参数对错误的影响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4400" y="3273551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191256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优化器：按影响方向更新参数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537960" y="18470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9128" y="1764792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不用手写梯度公式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537960" y="2322575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2240279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Keras 会自动完成反向传播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537960" y="2798064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2715768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但必须理解它在做什么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537960" y="3273551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3191256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理解后才能判断训练是否正常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14400" y="557784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0704" y="5577840"/>
            <a:ext cx="9866376" cy="4572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669279"/>
            <a:ext cx="96012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微软雅黑" panose="020B0503020204020204" pitchFamily="34" charset="-122"/>
              </a:rPr>
              <a:t>零基础阶段不需要推导公式，但要知道训练不是魔法，而是按 loss 调整权重。</a:t>
            </a:r>
            <a:endParaRPr sz="11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优化器：Adam 为什么常用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11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54480" y="138988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优化器负责根据梯度更新权重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02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54480" y="262432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SGD：基础、直观，但调参相对敏感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54480" y="385876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Adam：自适应学习率，初学阶段更稳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72200" y="137160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04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0" y="138988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学习率过大或过小都会影响训练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72200" y="260604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05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0" y="262432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学习率太大：loss 震荡甚至发散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72200" y="384048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06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0" y="385876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学习率太小：训练很慢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285232"/>
            <a:ext cx="987552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2E75B6"/>
                </a:solidFill>
                <a:latin typeface="微软雅黑" panose="020B0503020204020204" pitchFamily="34" charset="-122"/>
              </a:rPr>
              <a:t>第一版课程建议先用 Adam，不要一开始陷入优化器调参泥潭。</a:t>
            </a:r>
            <a:endParaRPr sz="15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pitchFamily="34" charset="-122"/>
              </a:rPr>
              <a:t>Epoch、Batch、Step 是什么</a:t>
            </a:r>
            <a:endParaRPr sz="2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12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9326880" cy="9875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pitchFamily="34" charset="-122"/>
              </a:rPr>
              <a:t>epoch 越多不一定越好，过多可能导致过拟合。</a:t>
            </a:r>
            <a:endParaRPr sz="24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70432" y="2770632"/>
            <a:ext cx="22860" cy="378561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60604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67004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8760" y="2596896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Batch：一次送入模型的一小批样本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05840" y="317296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323697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8760" y="3163824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Step：处理一个 batch 并更新一次参数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05840" y="373989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3803904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8760" y="3730752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Epoch：完整看完一遍训练集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05840" y="430682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370832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08760" y="4297680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训练日志通常按 epoch 输出指标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005840" y="4873752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136" y="4937760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5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08760" y="4864608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batch_size = 32：一次看 32 个窗口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005840" y="5440680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" y="550468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6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08760" y="5431536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epochs = 80：最多看 80 遍训练集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1005840" y="6007608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" y="607161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7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08760" y="5998464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实际可能提前停止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训练集、验证集、测试集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13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1248" y="1298448"/>
            <a:ext cx="109728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微软雅黑" panose="020B0503020204020204" pitchFamily="34" charset="-122"/>
              </a:rPr>
              <a:t>概念</a:t>
            </a:r>
            <a:endParaRPr sz="14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92240" y="1298448"/>
            <a:ext cx="14630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70AD47"/>
                </a:solidFill>
                <a:latin typeface="微软雅黑" panose="020B0503020204020204" pitchFamily="34" charset="-122"/>
              </a:rPr>
              <a:t>本 case</a:t>
            </a:r>
            <a:endParaRPr sz="14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1847088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764792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训练集：用于更新模型参数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2322575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240279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验证集：用于观察训练过程和调参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14400" y="2798064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715768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测试集：用于最终评价模型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4400" y="3273551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191256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三者不能混用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537960" y="18470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9128" y="1764792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训练集效果好：说明模型能学训练数据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537960" y="2322575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2240279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验证集效果好：说明调参方向可能正确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537960" y="2798064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2715768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测试集效果好：说明模型更可能泛化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537960" y="3273551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3191256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测试集不要参与调参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14400" y="557784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0704" y="5577840"/>
            <a:ext cx="9866376" cy="4572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669279"/>
            <a:ext cx="96012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微软雅黑" panose="020B0503020204020204" pitchFamily="34" charset="-122"/>
              </a:rPr>
              <a:t>如果测试集参与调参，测试结果就不再客观。</a:t>
            </a:r>
            <a:endParaRPr sz="11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pitchFamily="34" charset="-122"/>
              </a:rPr>
              <a:t>数据泄漏：看起来很准，但其实作弊</a:t>
            </a:r>
            <a:endParaRPr sz="2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14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1248" y="1417320"/>
            <a:ext cx="7223760" cy="11430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微软雅黑" panose="020B0503020204020204" pitchFamily="34" charset="-122"/>
              </a:rPr>
              <a:t>数据泄漏是模型验证中最隐蔽、也最致命的问题之一。</a:t>
            </a:r>
            <a:endParaRPr sz="25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96112" y="2816352"/>
            <a:ext cx="420624" cy="310896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62072"/>
            <a:ext cx="21945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81328" y="2798064"/>
            <a:ext cx="80467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EBF2FA"/>
                </a:solidFill>
                <a:latin typeface="微软雅黑" panose="020B0503020204020204" pitchFamily="34" charset="-122"/>
              </a:rPr>
              <a:t>把 label_id 放进 X：直接泄漏答案</a:t>
            </a:r>
            <a:endParaRPr sz="1500" b="0">
              <a:solidFill>
                <a:srgbClr val="EBF2F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96112" y="3319272"/>
            <a:ext cx="420624" cy="310896"/>
          </a:xfrm>
          <a:prstGeom prst="roundRect">
            <a:avLst>
              <a:gd name="adj" fmla="val 6000"/>
            </a:avLst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364991"/>
            <a:ext cx="21945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81328" y="3300984"/>
            <a:ext cx="80467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EBF2FA"/>
                </a:solidFill>
                <a:latin typeface="微软雅黑" panose="020B0503020204020204" pitchFamily="34" charset="-122"/>
              </a:rPr>
              <a:t>用测试集计算归一化参数：泄漏分布信息</a:t>
            </a:r>
            <a:endParaRPr sz="1500" b="0">
              <a:solidFill>
                <a:srgbClr val="EBF2F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96112" y="3822191"/>
            <a:ext cx="420624" cy="310896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867911"/>
            <a:ext cx="21945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81328" y="3803904"/>
            <a:ext cx="80467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EBF2FA"/>
                </a:solidFill>
                <a:latin typeface="微软雅黑" panose="020B0503020204020204" pitchFamily="34" charset="-122"/>
              </a:rPr>
              <a:t>重叠窗口随机划分：训练和测试高度相似</a:t>
            </a:r>
            <a:endParaRPr sz="1500" b="0">
              <a:solidFill>
                <a:srgbClr val="EBF2F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96112" y="4325112"/>
            <a:ext cx="420624" cy="310896"/>
          </a:xfrm>
          <a:prstGeom prst="roundRect">
            <a:avLst>
              <a:gd name="adj" fmla="val 6000"/>
            </a:avLst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370831"/>
            <a:ext cx="21945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81328" y="4306824"/>
            <a:ext cx="80467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EBF2FA"/>
                </a:solidFill>
                <a:latin typeface="微软雅黑" panose="020B0503020204020204" pitchFamily="34" charset="-122"/>
              </a:rPr>
              <a:t>先看全量数据再调特征：也可能引入偏差</a:t>
            </a:r>
            <a:endParaRPr sz="1500" b="0">
              <a:solidFill>
                <a:srgbClr val="EBF2F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6112" y="4828031"/>
            <a:ext cx="420624" cy="310896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873751"/>
            <a:ext cx="21945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5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81328" y="4809744"/>
            <a:ext cx="80467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EBF2FA"/>
                </a:solidFill>
                <a:latin typeface="微软雅黑" panose="020B0503020204020204" pitchFamily="34" charset="-122"/>
              </a:rPr>
              <a:t>结果：accuracy 虚高</a:t>
            </a:r>
            <a:endParaRPr sz="1500" b="0">
              <a:solidFill>
                <a:srgbClr val="EBF2FA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464040" y="1444752"/>
            <a:ext cx="1691640" cy="388620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0072" y="1920240"/>
            <a:ext cx="12344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pitchFamily="34" charset="-122"/>
              </a:rPr>
              <a:t>TinyML</a:t>
            </a:r>
            <a:endParaRPr sz="18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756648" y="2542032"/>
            <a:ext cx="1143000" cy="1691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300" b="1">
                <a:solidFill>
                  <a:srgbClr val="1F3040"/>
                </a:solidFill>
                <a:latin typeface="微软雅黑" panose="020B0503020204020204" pitchFamily="34" charset="-122"/>
              </a:rPr>
              <a:t>数据
训练
验证
部署</a:t>
            </a:r>
            <a:endParaRPr sz="23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53312"/>
            <a:ext cx="1170432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600" b="1">
                <a:solidFill>
                  <a:srgbClr val="ED7D31"/>
                </a:solidFill>
                <a:latin typeface="微软雅黑" panose="020B0503020204020204" pitchFamily="34" charset="-122"/>
              </a:rPr>
              <a:t>02</a:t>
            </a:r>
            <a:endParaRPr sz="36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01952" y="1353312"/>
            <a:ext cx="8961120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pitchFamily="34" charset="-122"/>
              </a:rPr>
              <a:t>第二部分：准备训练数据</a:t>
            </a:r>
            <a:endParaRPr sz="3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38528" y="2267712"/>
            <a:ext cx="841248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0">
                <a:solidFill>
                  <a:srgbClr val="DCE6F1"/>
                </a:solidFill>
                <a:latin typeface="微软雅黑" panose="020B0503020204020204" pitchFamily="34" charset="-122"/>
              </a:rPr>
              <a:t>把 Day12 的特征表整理成模型真正能学习的 X 和 y。</a:t>
            </a:r>
            <a:endParaRPr sz="1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938528" y="4005072"/>
            <a:ext cx="1888236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29968" y="4096511"/>
            <a:ext cx="502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11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66544" y="4398264"/>
            <a:ext cx="1632204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F3040"/>
                </a:solidFill>
                <a:latin typeface="微软雅黑" panose="020B0503020204020204" pitchFamily="34" charset="-122"/>
              </a:rPr>
              <a:t>概念讲透</a:t>
            </a:r>
            <a:endParaRPr sz="1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3808476" y="4215384"/>
            <a:ext cx="201168" cy="237744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91356" y="4005072"/>
            <a:ext cx="1888236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82796" y="4096511"/>
            <a:ext cx="502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70AD47"/>
                </a:solidFill>
                <a:latin typeface="微软雅黑" panose="020B0503020204020204" pitchFamily="34" charset="-122"/>
              </a:rPr>
              <a:t>02</a:t>
            </a:r>
            <a:endParaRPr sz="11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9372" y="4398264"/>
            <a:ext cx="1632204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F3040"/>
                </a:solidFill>
                <a:latin typeface="微软雅黑" panose="020B0503020204020204" pitchFamily="34" charset="-122"/>
              </a:rPr>
              <a:t>代码能跑</a:t>
            </a:r>
            <a:endParaRPr sz="1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5861304" y="4215384"/>
            <a:ext cx="201168" cy="237744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44184" y="4005072"/>
            <a:ext cx="1888236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5624" y="4096511"/>
            <a:ext cx="502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11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72200" y="4398264"/>
            <a:ext cx="1632204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F3040"/>
                </a:solidFill>
                <a:latin typeface="微软雅黑" panose="020B0503020204020204" pitchFamily="34" charset="-122"/>
              </a:rPr>
              <a:t>结果会看</a:t>
            </a:r>
            <a:endParaRPr sz="1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7914132" y="4215384"/>
            <a:ext cx="201168" cy="237744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97012" y="4005072"/>
            <a:ext cx="1888236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8452" y="4096511"/>
            <a:ext cx="502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70AD47"/>
                </a:solidFill>
                <a:latin typeface="微软雅黑" panose="020B0503020204020204" pitchFamily="34" charset="-122"/>
              </a:rPr>
              <a:t>04</a:t>
            </a:r>
            <a:endParaRPr sz="11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5028" y="4398264"/>
            <a:ext cx="1632204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F3040"/>
                </a:solidFill>
                <a:latin typeface="微软雅黑" panose="020B0503020204020204" pitchFamily="34" charset="-122"/>
              </a:rPr>
              <a:t>问题能改</a:t>
            </a:r>
            <a:endParaRPr sz="1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" y="6263640"/>
            <a:ext cx="45720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DCE6F1"/>
                </a:solidFill>
                <a:latin typeface="微软雅黑" panose="020B0503020204020204" pitchFamily="34" charset="-122"/>
              </a:rPr>
              <a:t>Day14 模型训练与验证</a:t>
            </a:r>
            <a:endParaRPr sz="11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835640" y="6263640"/>
            <a:ext cx="59436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100" b="0">
                <a:solidFill>
                  <a:srgbClr val="DCE6F1"/>
                </a:solidFill>
                <a:latin typeface="微软雅黑" panose="020B0503020204020204" pitchFamily="34" charset="-122"/>
              </a:rPr>
              <a:t>15</a:t>
            </a:r>
            <a:endParaRPr sz="11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Day12 给 Day14 的输入文件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16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1248" y="1298448"/>
            <a:ext cx="109728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微软雅黑" panose="020B0503020204020204" pitchFamily="34" charset="-122"/>
              </a:rPr>
              <a:t>概念</a:t>
            </a:r>
            <a:endParaRPr sz="14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92240" y="1298448"/>
            <a:ext cx="14630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70AD47"/>
                </a:solidFill>
                <a:latin typeface="微软雅黑" panose="020B0503020204020204" pitchFamily="34" charset="-122"/>
              </a:rPr>
              <a:t>本 case</a:t>
            </a:r>
            <a:endParaRPr sz="14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1847088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764792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features_all.csv：每个窗口一行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2322575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240279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label / label_id：真实动作类别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14400" y="2798064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715768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特征列：时域 + 频域特征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4400" y="3273551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191256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可选信息：session、start_ms、end_ms、valid_ratio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537960" y="18470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9128" y="1764792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训练只需要特征列和标签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537960" y="2322575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2240279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质量字段用于检查，不一定进入模型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537960" y="2798064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2715768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时间字段通常不作为动作特征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537960" y="3273551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3191256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特征列顺序必须保存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14400" y="557784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0704" y="5577840"/>
            <a:ext cx="9866376" cy="4572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669279"/>
            <a:ext cx="96012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微软雅黑" panose="020B0503020204020204" pitchFamily="34" charset="-122"/>
              </a:rPr>
              <a:t>Day14 的第一件事是读懂 features_all.csv，而不是马上 model.fit。</a:t>
            </a:r>
            <a:endParaRPr sz="11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选择特征列：X 里只能放可部署特征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17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54480" y="138988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可以放：均值、标准差、RMS、峰峰值、主频、频带能量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02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54480" y="262432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谨慎放：valid_ratio、n_samples 等质量字段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54480" y="385876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不能放：label、label_id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72200" y="137160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04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0" y="138988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通常不放：start_ms、end_ms、文件名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72200" y="260604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05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0" y="262432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原则 1：训练时能获得，部署时也必须能获得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72200" y="384048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06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0" y="385876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原则 2：不能包含答案信息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285232"/>
            <a:ext cx="987552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2E75B6"/>
                </a:solidFill>
                <a:latin typeface="微软雅黑" panose="020B0503020204020204" pitchFamily="34" charset="-122"/>
              </a:rPr>
              <a:t>特征列选择不是随便删列，而是在训练效果和部署可复现之间做取舍。</a:t>
            </a:r>
            <a:endParaRPr sz="15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pitchFamily="34" charset="-122"/>
              </a:rPr>
              <a:t>标签编码：把动作名称变成数字</a:t>
            </a:r>
            <a:endParaRPr sz="2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18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9326880" cy="9875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pitchFamily="34" charset="-122"/>
              </a:rPr>
              <a:t>标签映射是模型语义的一部分，不只是训练脚本里的临时变量。</a:t>
            </a:r>
            <a:endParaRPr sz="24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70432" y="2770632"/>
            <a:ext cx="22860" cy="378561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60604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67004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8760" y="2596896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idle → 0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05840" y="317296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323697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8760" y="3163824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walk → 1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05840" y="373989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3803904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8760" y="3730752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stairs → 2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05840" y="430682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370832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08760" y="4297680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模型训练通常使用数字标签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005840" y="4873752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136" y="4937760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5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08760" y="4864608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label_map.json 必须保存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005840" y="5440680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" y="550468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6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08760" y="5431536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训练、验证、部署都要使用同一套映射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1005840" y="6007608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" y="607161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7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08760" y="5998464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不要今天 walk=1，明天 walk=2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归一化：让不同特征站在同一尺度上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19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1248" y="1298448"/>
            <a:ext cx="109728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微软雅黑" panose="020B0503020204020204" pitchFamily="34" charset="-122"/>
              </a:rPr>
              <a:t>概念</a:t>
            </a:r>
            <a:endParaRPr sz="14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92240" y="1298448"/>
            <a:ext cx="14630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70AD47"/>
                </a:solidFill>
                <a:latin typeface="微软雅黑" panose="020B0503020204020204" pitchFamily="34" charset="-122"/>
              </a:rPr>
              <a:t>本 case</a:t>
            </a:r>
            <a:endParaRPr sz="14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1847088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764792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不同特征数值范围差异很大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2322575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240279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RMS、能量、主频可能不在同一数量级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14400" y="2798064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715768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标准化：x_norm = (x - mean) / std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4400" y="3273551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191256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mean 和 std 只能用训练集计算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537960" y="18470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9128" y="1764792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训练更稳定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537960" y="2322575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2240279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梯度更新更均衡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537960" y="2798064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2715768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减少大数值特征的过度影响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537960" y="3273551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3191256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部署端必须使用同一组 mean/std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14400" y="557784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0704" y="5577840"/>
            <a:ext cx="9866376" cy="4572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669279"/>
            <a:ext cx="96012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微软雅黑" panose="020B0503020204020204" pitchFamily="34" charset="-122"/>
              </a:rPr>
              <a:t>scaler.json 要和模型一起保存，后续部署时不能重新随便计算。</a:t>
            </a:r>
            <a:endParaRPr sz="11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数据划分：避免重叠窗口带来的虚高准确率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20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54480" y="138988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Day12 使用滑动窗口，窗口之间可能重叠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02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54480" y="262432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随机划分会让相邻窗口进入不同集合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54480" y="385876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训练集和测试集过于相似，指标虚高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72200" y="137160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04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0" y="138988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更推荐按 session 或连续片段划分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72200" y="260604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05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0" y="262432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训练集：约 70%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72200" y="384048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06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0" y="385876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验证集：约 15%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285232"/>
            <a:ext cx="987552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2E75B6"/>
                </a:solidFill>
                <a:latin typeface="微软雅黑" panose="020B0503020204020204" pitchFamily="34" charset="-122"/>
              </a:rPr>
              <a:t>验证模型不是验证它记住了相邻窗口，而是验证它能识别新的动作片段。</a:t>
            </a:r>
            <a:endParaRPr sz="15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pitchFamily="34" charset="-122"/>
              </a:rPr>
              <a:t>类别平衡：不要让模型只偏向多数类</a:t>
            </a:r>
            <a:endParaRPr sz="2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21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9326880" cy="9875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pitchFamily="34" charset="-122"/>
              </a:rPr>
              <a:t>动作识别不是让多数类好看，而是每个动作都要可用。</a:t>
            </a:r>
            <a:endParaRPr sz="24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70432" y="2770632"/>
            <a:ext cx="22860" cy="378561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60604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67004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8760" y="2596896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如果 walk 样本很多，stairs 样本很少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05840" y="317296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323697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8760" y="3163824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模型可能倾向预测 walk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05840" y="373989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3803904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8760" y="3730752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总 accuracy 可能不低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05840" y="430682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370832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08760" y="4297680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但 stairs recall 会很差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005840" y="4873752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136" y="4937760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5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08760" y="4864608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检查每类样本数量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005840" y="5440680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" y="550468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6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08760" y="5431536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必要时补采数据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1005840" y="6007608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" y="607161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7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08760" y="5998464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可使用 class_weight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训练前检查清单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22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219456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微软雅黑" panose="020B0503020204020204" pitchFamily="34" charset="-122"/>
              </a:rPr>
              <a:t>按顺序检查</a:t>
            </a:r>
            <a:endParaRPr sz="16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24712" y="1920240"/>
            <a:ext cx="22860" cy="378561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755648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81965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3040" y="1746504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CSV 是否存在 label 或 label_id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60120" y="2322576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2386584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3040" y="2313432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特征列是否排除了答案列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60120" y="2889504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2953512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63040" y="2880360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是否按合理方式划分数据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60120" y="3456432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3520439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63040" y="3447288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归一化是否只拟合训练集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60120" y="402336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408736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5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63040" y="4014216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每类样本数量是否足够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960120" y="459028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65429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6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63040" y="4581144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X 是否存在 NaN 或 inf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960120" y="515721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5221224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7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63040" y="5148072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特征列顺序是否已保存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14400" y="5596128"/>
            <a:ext cx="73152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60704" y="5596128"/>
            <a:ext cx="9866376" cy="4572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687568"/>
            <a:ext cx="96012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微软雅黑" panose="020B0503020204020204" pitchFamily="34" charset="-122"/>
              </a:rPr>
              <a:t>训练前多检查十分钟，后面少排查两个小时。</a:t>
            </a:r>
            <a:endParaRPr sz="11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53312"/>
            <a:ext cx="1170432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6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36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01952" y="1353312"/>
            <a:ext cx="8961120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pitchFamily="34" charset="-122"/>
              </a:rPr>
              <a:t>第三部分：构建并训练 MLP</a:t>
            </a:r>
            <a:endParaRPr sz="3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38528" y="2267712"/>
            <a:ext cx="841248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0">
                <a:solidFill>
                  <a:srgbClr val="DCE6F1"/>
                </a:solidFill>
                <a:latin typeface="微软雅黑" panose="020B0503020204020204" pitchFamily="34" charset="-122"/>
              </a:rPr>
              <a:t>用 Day13 设计的小模型，跑通第一版训练闭环。</a:t>
            </a:r>
            <a:endParaRPr sz="1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938528" y="4005072"/>
            <a:ext cx="1888236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29968" y="4096511"/>
            <a:ext cx="502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11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66544" y="4398264"/>
            <a:ext cx="1632204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F3040"/>
                </a:solidFill>
                <a:latin typeface="微软雅黑" panose="020B0503020204020204" pitchFamily="34" charset="-122"/>
              </a:rPr>
              <a:t>概念讲透</a:t>
            </a:r>
            <a:endParaRPr sz="1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3808476" y="4215384"/>
            <a:ext cx="201168" cy="237744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91356" y="4005072"/>
            <a:ext cx="1888236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82796" y="4096511"/>
            <a:ext cx="502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70AD47"/>
                </a:solidFill>
                <a:latin typeface="微软雅黑" panose="020B0503020204020204" pitchFamily="34" charset="-122"/>
              </a:rPr>
              <a:t>02</a:t>
            </a:r>
            <a:endParaRPr sz="11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9372" y="4398264"/>
            <a:ext cx="1632204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F3040"/>
                </a:solidFill>
                <a:latin typeface="微软雅黑" panose="020B0503020204020204" pitchFamily="34" charset="-122"/>
              </a:rPr>
              <a:t>代码能跑</a:t>
            </a:r>
            <a:endParaRPr sz="1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5861304" y="4215384"/>
            <a:ext cx="201168" cy="237744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44184" y="4005072"/>
            <a:ext cx="1888236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5624" y="4096511"/>
            <a:ext cx="502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11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72200" y="4398264"/>
            <a:ext cx="1632204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F3040"/>
                </a:solidFill>
                <a:latin typeface="微软雅黑" panose="020B0503020204020204" pitchFamily="34" charset="-122"/>
              </a:rPr>
              <a:t>结果会看</a:t>
            </a:r>
            <a:endParaRPr sz="1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7914132" y="4215384"/>
            <a:ext cx="201168" cy="237744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97012" y="4005072"/>
            <a:ext cx="1888236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8452" y="4096511"/>
            <a:ext cx="502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70AD47"/>
                </a:solidFill>
                <a:latin typeface="微软雅黑" panose="020B0503020204020204" pitchFamily="34" charset="-122"/>
              </a:rPr>
              <a:t>04</a:t>
            </a:r>
            <a:endParaRPr sz="11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5028" y="4398264"/>
            <a:ext cx="1632204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F3040"/>
                </a:solidFill>
                <a:latin typeface="微软雅黑" panose="020B0503020204020204" pitchFamily="34" charset="-122"/>
              </a:rPr>
              <a:t>问题能改</a:t>
            </a:r>
            <a:endParaRPr sz="1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" y="6263640"/>
            <a:ext cx="45720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DCE6F1"/>
                </a:solidFill>
                <a:latin typeface="微软雅黑" panose="020B0503020204020204" pitchFamily="34" charset="-122"/>
              </a:rPr>
              <a:t>Day14 模型训练与验证</a:t>
            </a:r>
            <a:endParaRPr sz="11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835640" y="6263640"/>
            <a:ext cx="59436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100" b="0">
                <a:solidFill>
                  <a:srgbClr val="DCE6F1"/>
                </a:solidFill>
                <a:latin typeface="微软雅黑" panose="020B0503020204020204" pitchFamily="34" charset="-122"/>
              </a:rPr>
              <a:t>23</a:t>
            </a:r>
            <a:endParaRPr sz="11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pitchFamily="34" charset="-122"/>
              </a:rPr>
              <a:t>推荐 MLP 结构回顾</a:t>
            </a:r>
            <a:endParaRPr sz="2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24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9326880" cy="9875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pitchFamily="34" charset="-122"/>
              </a:rPr>
              <a:t>第一版模型的目标不是最复杂，而是可训练、可解释、可验证、可部署。</a:t>
            </a:r>
            <a:endParaRPr sz="24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70432" y="2770632"/>
            <a:ext cx="22860" cy="378561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60604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67004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8760" y="2596896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Input：num_features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05840" y="317296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323697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8760" y="3163824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Dense 32 + ReLU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05840" y="373989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3803904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8760" y="3730752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Dense 16 + ReLU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05840" y="430682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370832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08760" y="4297680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Dense 3 + Softmax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005840" y="4873752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136" y="4937760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5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08760" y="4864608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结构简单，容易解释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005840" y="5440680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" y="550468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6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08760" y="5431536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参数量可控，适合 MCU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1005840" y="6007608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" y="607161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7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08760" y="5998464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算子基础，利于后续量化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Keras 模型代码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25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243584"/>
            <a:ext cx="38404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微软雅黑" panose="020B0503020204020204" pitchFamily="34" charset="-122"/>
              </a:rPr>
              <a:t>这一段代码解决的问题</a:t>
            </a:r>
            <a:endParaRPr sz="16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868680" y="18470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7647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Input shape 必须等于特征列数量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868680" y="23042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2219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Dense 32 和 Dense 16 是隐藏层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68680" y="27614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6791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num_classes = 3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68680" y="32186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1363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softmax 输出概率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0" y="1234440"/>
            <a:ext cx="5669280" cy="4407408"/>
          </a:xfrm>
          <a:prstGeom prst="roundRect">
            <a:avLst>
              <a:gd name="adj" fmla="val 3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87568" y="1399032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70448" y="1399032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53328" y="139903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1709928"/>
            <a:ext cx="5166360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BF2FA"/>
                </a:solidFill>
                <a:latin typeface="Consolas" panose="020B0609020204030204"/>
              </a:rPr>
              <a:t>model = keras.Sequential([
    keras.layers.Input(shape=(num_features,)),
    keras.layers.Dense(32, activation="relu"),
    keras.layers.Dense(16, activation="relu"),
    keras.layers.Dense(num_classes, activation="softmax"),
])</a:t>
            </a:r>
            <a:endParaRPr sz="1000">
              <a:solidFill>
                <a:srgbClr val="EBF2FA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5349240"/>
            <a:ext cx="429768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微软雅黑" panose="020B0503020204020204" pitchFamily="34" charset="-122"/>
              </a:rPr>
              <a:t>代码很短，但每一行都对应 Day13 的模型设计结论。</a:t>
            </a:r>
            <a:endParaRPr sz="14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compile：指定损失函数、优化器和指标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26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243584"/>
            <a:ext cx="38404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微软雅黑" panose="020B0503020204020204" pitchFamily="34" charset="-122"/>
              </a:rPr>
              <a:t>这一段代码解决的问题</a:t>
            </a:r>
            <a:endParaRPr sz="16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868680" y="18470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7647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optimizer：如何更新参数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868680" y="23042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2219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loss：如何衡量错误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68680" y="27614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6791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metrics：训练时显示哪些指标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68680" y="32186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1363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第一版使用 Adam + sparse CE + accuracy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0" y="1234440"/>
            <a:ext cx="5669280" cy="4407408"/>
          </a:xfrm>
          <a:prstGeom prst="roundRect">
            <a:avLst>
              <a:gd name="adj" fmla="val 3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87568" y="1399032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70448" y="1399032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53328" y="139903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1709928"/>
            <a:ext cx="5166360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BF2FA"/>
                </a:solidFill>
                <a:latin typeface="Consolas" panose="020B0609020204030204"/>
              </a:rPr>
              <a:t>model.compile(
    optimizer=keras.optimizers.Adam(learning_rate=0.001),
    loss="sparse_categorical_crossentropy",
    metrics=["accuracy"],
)</a:t>
            </a:r>
            <a:endParaRPr sz="1000">
              <a:solidFill>
                <a:srgbClr val="EBF2FA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5349240"/>
            <a:ext cx="429768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微软雅黑" panose="020B0503020204020204" pitchFamily="34" charset="-122"/>
              </a:rPr>
              <a:t>compile 不是训练，它是在告诉模型接下来怎么训练。</a:t>
            </a:r>
            <a:endParaRPr sz="14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fit：真正开始训练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27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243584"/>
            <a:ext cx="38404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微软雅黑" panose="020B0503020204020204" pitchFamily="34" charset="-122"/>
              </a:rPr>
              <a:t>这一段代码解决的问题</a:t>
            </a:r>
            <a:endParaRPr sz="16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868680" y="18470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7647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X_train/y_train：用于学习参数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868680" y="23042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2219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validation_data：观察泛化趋势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68680" y="27614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6791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epochs：最多训练轮数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68680" y="32186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1363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batch_size：每批样本数量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0" y="1234440"/>
            <a:ext cx="5669280" cy="4407408"/>
          </a:xfrm>
          <a:prstGeom prst="roundRect">
            <a:avLst>
              <a:gd name="adj" fmla="val 3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87568" y="1399032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70448" y="1399032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53328" y="139903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1709928"/>
            <a:ext cx="5166360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BF2FA"/>
                </a:solidFill>
                <a:latin typeface="Consolas" panose="020B0609020204030204"/>
              </a:rPr>
              <a:t>history = model.fit(
    X_train, y_train,
    validation_data=(X_val, y_val),
    epochs=80,
    batch_size=32,
    callbacks=[early_stop, checkpoint],
)</a:t>
            </a:r>
            <a:endParaRPr sz="1000">
              <a:solidFill>
                <a:srgbClr val="EBF2FA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5349240"/>
            <a:ext cx="429768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微软雅黑" panose="020B0503020204020204" pitchFamily="34" charset="-122"/>
              </a:rPr>
              <a:t>fit 的输出 history 是后面画训练曲线的依据。</a:t>
            </a:r>
            <a:endParaRPr sz="14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EarlyStopping 与 ModelCheckpoint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28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1248" y="1298448"/>
            <a:ext cx="109728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微软雅黑" panose="020B0503020204020204" pitchFamily="34" charset="-122"/>
              </a:rPr>
              <a:t>概念</a:t>
            </a:r>
            <a:endParaRPr sz="14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92240" y="1298448"/>
            <a:ext cx="14630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70AD47"/>
                </a:solidFill>
                <a:latin typeface="微软雅黑" panose="020B0503020204020204" pitchFamily="34" charset="-122"/>
              </a:rPr>
              <a:t>本 case</a:t>
            </a:r>
            <a:endParaRPr sz="14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1847088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764792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EarlyStopping：验证集长时间不变好就停止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2322575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240279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restore_best_weights：恢复最好的一轮权重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14400" y="2798064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715768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ModelCheckpoint：保存最佳模型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4400" y="3273551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191256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避免最后一轮不一定最好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537960" y="18470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9128" y="1764792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监控 val_loss 或 val_accuracy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537960" y="2322575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2240279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patience 表示等待多少轮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537960" y="2798064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2715768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训练更省时间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537960" y="3273551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3191256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结果更稳定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14400" y="557784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0704" y="5577840"/>
            <a:ext cx="9866376" cy="4572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669279"/>
            <a:ext cx="96012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微软雅黑" panose="020B0503020204020204" pitchFamily="34" charset="-122"/>
              </a:rPr>
              <a:t>训练不是跑满 epochs 才高级，能停在最佳点才更工程化。</a:t>
            </a:r>
            <a:endParaRPr sz="11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训练日志怎么看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29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54480" y="138988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loss：训练集损失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02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54480" y="262432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accuracy：训练集准确率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54480" y="385876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val_loss：验证集损失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72200" y="137160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04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0" y="138988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val_accuracy：验证集准确率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72200" y="260604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05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0" y="262432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loss 下降：模型正在学习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72200" y="384048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06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0" y="385876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val_loss 同步下降：泛化趋势较好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285232"/>
            <a:ext cx="987552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2E75B6"/>
                </a:solidFill>
                <a:latin typeface="微软雅黑" panose="020B0503020204020204" pitchFamily="34" charset="-122"/>
              </a:rPr>
              <a:t>训练日志不是给电脑看的，是给工程师判断模型状态看的。</a:t>
            </a:r>
            <a:endParaRPr sz="15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64592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996696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1F3040"/>
                </a:solidFill>
                <a:latin typeface="微软雅黑" panose="020B0503020204020204" pitchFamily="34" charset="-122"/>
              </a:rPr>
              <a:t>训练曲线：不要只看最后一个数字</a:t>
            </a:r>
            <a:endParaRPr sz="24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042415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30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7" name="Picture 6" descr="day14_training_curv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4776"/>
            <a:ext cx="6995160" cy="361416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09560" y="1325880"/>
            <a:ext cx="3246120" cy="22402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ctr"/>
          <a:lstStyle/>
          <a:p>
            <a:pPr algn="ctr"/>
            <a:r>
              <a:rPr sz="1500" b="1">
                <a:solidFill>
                  <a:srgbClr val="2E75B6"/>
                </a:solidFill>
                <a:latin typeface="微软雅黑" panose="020B0503020204020204" pitchFamily="34" charset="-122"/>
              </a:rPr>
              <a:t>读图顺序</a:t>
            </a:r>
            <a:endParaRPr sz="1500" b="1">
              <a:solidFill>
                <a:srgbClr val="2E75B6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• 看 accuracy 是否上升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• 看 loss 是否下降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• 看 train 和 val 是否分叉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• 看是否早停在合理位置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09560" y="3931920"/>
            <a:ext cx="3246120" cy="100584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rtlCol="0" anchor="ctr"/>
          <a:lstStyle/>
          <a:p>
            <a:pPr algn="ctr"/>
            <a:r>
              <a:rPr sz="1200" b="1">
                <a:solidFill>
                  <a:srgbClr val="ED7D31"/>
                </a:solidFill>
                <a:latin typeface="微软雅黑" panose="020B0503020204020204" pitchFamily="34" charset="-122"/>
              </a:rPr>
              <a:t>记住：</a:t>
            </a:r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曲线反映训练过程，最终指标只反映一个结果。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欠拟合：模型还没有学会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31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1248" y="1298448"/>
            <a:ext cx="109728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微软雅黑" panose="020B0503020204020204" pitchFamily="34" charset="-122"/>
              </a:rPr>
              <a:t>概念</a:t>
            </a:r>
            <a:endParaRPr sz="14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92240" y="1298448"/>
            <a:ext cx="14630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70AD47"/>
                </a:solidFill>
                <a:latin typeface="微软雅黑" panose="020B0503020204020204" pitchFamily="34" charset="-122"/>
              </a:rPr>
              <a:t>本 case</a:t>
            </a:r>
            <a:endParaRPr sz="14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1847088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764792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训练集 accuracy 低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2322575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240279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验证集 accuracy 也低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14400" y="2798064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715768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loss 整体较高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4400" y="3273551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191256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模型表达能力或训练过程不足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537960" y="18470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9128" y="1764792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可能原因：特征不够好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537960" y="2322575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2240279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可能原因：模型太小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537960" y="2798064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2715768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可能原因：训练轮数太少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537960" y="3273551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3191256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可能原因：学习率不合适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14400" y="557784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0704" y="5577840"/>
            <a:ext cx="9866376" cy="4572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669279"/>
            <a:ext cx="96012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微软雅黑" panose="020B0503020204020204" pitchFamily="34" charset="-122"/>
              </a:rPr>
              <a:t>欠拟合时，不要急着做量化，先让模型在电脑上学会基本规律。</a:t>
            </a:r>
            <a:endParaRPr sz="11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过拟合：训练集很好，验证集变差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32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54480" y="138988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训练 accuracy 高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02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54480" y="262432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验证 accuracy 停滞或下降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54480" y="385876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训练 loss 下降，验证 loss 上升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72200" y="137160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04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0" y="138988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模型记住训练样本细节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72200" y="260604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05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0" y="262432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增加数据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72200" y="384048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06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0" y="385876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减少模型复杂度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285232"/>
            <a:ext cx="987552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2E75B6"/>
                </a:solidFill>
                <a:latin typeface="微软雅黑" panose="020B0503020204020204" pitchFamily="34" charset="-122"/>
              </a:rPr>
              <a:t>过拟合的模型像背题，换一批动作数据就容易失效。</a:t>
            </a:r>
            <a:endParaRPr sz="15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pitchFamily="34" charset="-122"/>
              </a:rPr>
              <a:t>常用训练参数怎么调</a:t>
            </a:r>
            <a:endParaRPr sz="2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33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9326880" cy="9875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pitchFamily="34" charset="-122"/>
              </a:rPr>
              <a:t>调参要像做嵌入式实验一样有记录、有对照、有结论。</a:t>
            </a:r>
            <a:endParaRPr sz="24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70432" y="2770632"/>
            <a:ext cx="22860" cy="378561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60604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67004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8760" y="2596896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epochs：最多训练轮数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05840" y="317296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323697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8760" y="3163824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batch_size：每批样本数量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05840" y="373989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3803904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8760" y="3730752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learning_rate：参数更新步子大小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05840" y="430682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370832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08760" y="4297680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patience：早停等待轮数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005840" y="4873752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136" y="4937760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5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08760" y="4864608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先用默认值跑通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005840" y="5440680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" y="550468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6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08760" y="5431536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只改一个参数做对比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1005840" y="6007608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" y="607161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7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08760" y="5998464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每次保存实验结果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训练完成后必须保存哪些文件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34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219456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微软雅黑" panose="020B0503020204020204" pitchFamily="34" charset="-122"/>
              </a:rPr>
              <a:t>按顺序检查</a:t>
            </a:r>
            <a:endParaRPr sz="16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24712" y="1920240"/>
            <a:ext cx="22860" cy="378561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755648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81965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3040" y="1746504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model.keras：完整 Keras 模型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60120" y="2322576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2386584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3040" y="2313432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best_model.keras：验证集 loss 最优模型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60120" y="2889504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2953512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63040" y="2880360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model_weights.npz：模型权重备份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60120" y="3456432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3520439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63040" y="3447288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scaler.json：归一化参数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60120" y="402336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408736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5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63040" y="4014216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label_map.json：类别映射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960120" y="459028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65429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6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63040" y="4581144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feature_columns.json：特征列顺序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960120" y="515721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5221224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7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63040" y="5148072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training_curves.png：训练过程证据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14400" y="5596128"/>
            <a:ext cx="73152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60704" y="5596128"/>
            <a:ext cx="9866376" cy="4572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687568"/>
            <a:ext cx="96012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微软雅黑" panose="020B0503020204020204" pitchFamily="34" charset="-122"/>
              </a:rPr>
              <a:t>Keras 模型文件和输入处理文件必须一起保存，否则 Day15 转换成功也不代表部署可用。</a:t>
            </a:r>
            <a:endParaRPr sz="11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53312"/>
            <a:ext cx="1170432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600" b="1">
                <a:solidFill>
                  <a:srgbClr val="ED7D31"/>
                </a:solidFill>
                <a:latin typeface="微软雅黑" panose="020B0503020204020204" pitchFamily="34" charset="-122"/>
              </a:rPr>
              <a:t>04</a:t>
            </a:r>
            <a:endParaRPr sz="36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01952" y="1353312"/>
            <a:ext cx="8961120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pitchFamily="34" charset="-122"/>
              </a:rPr>
              <a:t>第四部分：Python 实操训练与验证</a:t>
            </a:r>
            <a:endParaRPr sz="3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38528" y="2267712"/>
            <a:ext cx="841248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0">
                <a:solidFill>
                  <a:srgbClr val="DCE6F1"/>
                </a:solidFill>
                <a:latin typeface="微软雅黑" panose="020B0503020204020204" pitchFamily="34" charset="-122"/>
              </a:rPr>
              <a:t>像 Day8 一样逐段拆解训练脚本：为什么这样写、每个函数做什么、参数怎样影响成本。</a:t>
            </a:r>
            <a:endParaRPr sz="1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938528" y="4005072"/>
            <a:ext cx="1888236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29968" y="4096511"/>
            <a:ext cx="502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11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66544" y="4398264"/>
            <a:ext cx="1632204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F3040"/>
                </a:solidFill>
                <a:latin typeface="微软雅黑" panose="020B0503020204020204" pitchFamily="34" charset="-122"/>
              </a:rPr>
              <a:t>概念讲透</a:t>
            </a:r>
            <a:endParaRPr sz="1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3808476" y="4215384"/>
            <a:ext cx="201168" cy="237744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91356" y="4005072"/>
            <a:ext cx="1888236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82796" y="4096511"/>
            <a:ext cx="502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70AD47"/>
                </a:solidFill>
                <a:latin typeface="微软雅黑" panose="020B0503020204020204" pitchFamily="34" charset="-122"/>
              </a:rPr>
              <a:t>02</a:t>
            </a:r>
            <a:endParaRPr sz="11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9372" y="4398264"/>
            <a:ext cx="1632204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F3040"/>
                </a:solidFill>
                <a:latin typeface="微软雅黑" panose="020B0503020204020204" pitchFamily="34" charset="-122"/>
              </a:rPr>
              <a:t>代码能跑</a:t>
            </a:r>
            <a:endParaRPr sz="1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5861304" y="4215384"/>
            <a:ext cx="201168" cy="237744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44184" y="4005072"/>
            <a:ext cx="1888236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5624" y="4096511"/>
            <a:ext cx="502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11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72200" y="4398264"/>
            <a:ext cx="1632204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F3040"/>
                </a:solidFill>
                <a:latin typeface="微软雅黑" panose="020B0503020204020204" pitchFamily="34" charset="-122"/>
              </a:rPr>
              <a:t>结果会看</a:t>
            </a:r>
            <a:endParaRPr sz="1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7914132" y="4215384"/>
            <a:ext cx="201168" cy="237744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97012" y="4005072"/>
            <a:ext cx="1888236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8452" y="4096511"/>
            <a:ext cx="502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70AD47"/>
                </a:solidFill>
                <a:latin typeface="微软雅黑" panose="020B0503020204020204" pitchFamily="34" charset="-122"/>
              </a:rPr>
              <a:t>04</a:t>
            </a:r>
            <a:endParaRPr sz="11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5028" y="4398264"/>
            <a:ext cx="1632204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F3040"/>
                </a:solidFill>
                <a:latin typeface="微软雅黑" panose="020B0503020204020204" pitchFamily="34" charset="-122"/>
              </a:rPr>
              <a:t>问题能改</a:t>
            </a:r>
            <a:endParaRPr sz="1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" y="6263640"/>
            <a:ext cx="45720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DCE6F1"/>
                </a:solidFill>
                <a:latin typeface="微软雅黑" panose="020B0503020204020204" pitchFamily="34" charset="-122"/>
              </a:rPr>
              <a:t>Day14 模型训练与验证</a:t>
            </a:r>
            <a:endParaRPr sz="11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835640" y="6263640"/>
            <a:ext cx="59436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100" b="0">
                <a:solidFill>
                  <a:srgbClr val="DCE6F1"/>
                </a:solidFill>
                <a:latin typeface="微软雅黑" panose="020B0503020204020204" pitchFamily="34" charset="-122"/>
              </a:rPr>
              <a:t>35</a:t>
            </a:r>
            <a:endParaRPr sz="11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实操流程：从 Day12 特征表到 Keras 模型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36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微软雅黑" panose="020B0503020204020204" pitchFamily="34" charset="-122"/>
              </a:rPr>
              <a:t>输入</a:t>
            </a:r>
            <a:endParaRPr sz="13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85232" y="141732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70AD47"/>
                </a:solidFill>
                <a:latin typeface="微软雅黑" panose="020B0503020204020204" pitchFamily="34" charset="-122"/>
              </a:rPr>
              <a:t>处理</a:t>
            </a:r>
            <a:endParaRPr sz="13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141732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微软雅黑" panose="020B0503020204020204" pitchFamily="34" charset="-122"/>
              </a:rPr>
              <a:t>输出</a:t>
            </a:r>
            <a:endParaRPr sz="13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2788920"/>
            <a:ext cx="1508760" cy="530352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953512"/>
            <a:ext cx="12801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微软雅黑" panose="020B0503020204020204" pitchFamily="34" charset="-122"/>
              </a:rPr>
              <a:t>输入：Day12 的 features_all.csv</a:t>
            </a:r>
            <a:endParaRPr sz="10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2258568" y="2953512"/>
            <a:ext cx="384048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80" y="2788920"/>
            <a:ext cx="1508760" cy="530352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953512"/>
            <a:ext cx="12801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微软雅黑" panose="020B0503020204020204" pitchFamily="34" charset="-122"/>
              </a:rPr>
              <a:t>结构：Day13 设计的 Dense 32 + Dense 16 + Dense 3</a:t>
            </a:r>
            <a:endParaRPr sz="10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407408" y="2953512"/>
            <a:ext cx="384048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74920" y="2788920"/>
            <a:ext cx="1508760" cy="530352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2953512"/>
            <a:ext cx="12801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微软雅黑" panose="020B0503020204020204" pitchFamily="34" charset="-122"/>
              </a:rPr>
              <a:t>训练：Keras compile + fit</a:t>
            </a:r>
            <a:endParaRPr sz="10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6556248" y="2953512"/>
            <a:ext cx="384048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23760" y="2788920"/>
            <a:ext cx="1508760" cy="530352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2953512"/>
            <a:ext cx="12801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微软雅黑" panose="020B0503020204020204" pitchFamily="34" charset="-122"/>
              </a:rPr>
              <a:t>验证：测试集 accuracy、macro F1、混淆矩阵</a:t>
            </a:r>
            <a:endParaRPr sz="10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8705088" y="2953512"/>
            <a:ext cx="384048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72600" y="2788920"/>
            <a:ext cx="1508760" cy="530352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82328" y="2953512"/>
            <a:ext cx="12801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微软雅黑" panose="020B0503020204020204" pitchFamily="34" charset="-122"/>
              </a:rPr>
              <a:t>输出目录：day14_training_output</a:t>
            </a:r>
            <a:endParaRPr sz="10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0120" y="4617720"/>
            <a:ext cx="996696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pitchFamily="34" charset="-122"/>
              </a:rPr>
              <a:t>Day14 的实操主线是：用 Day13 的设计，训练 Day12 的特征表。</a:t>
            </a:r>
            <a:endParaRPr sz="18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训练脚本总览：一条主线看懂所有函数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37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微软雅黑" panose="020B0503020204020204" pitchFamily="34" charset="-122"/>
              </a:rPr>
              <a:t>输入</a:t>
            </a:r>
            <a:endParaRPr sz="13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85232" y="141732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70AD47"/>
                </a:solidFill>
                <a:latin typeface="微软雅黑" panose="020B0503020204020204" pitchFamily="34" charset="-122"/>
              </a:rPr>
              <a:t>处理</a:t>
            </a:r>
            <a:endParaRPr sz="13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141732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微软雅黑" panose="020B0503020204020204" pitchFamily="34" charset="-122"/>
              </a:rPr>
              <a:t>输出</a:t>
            </a:r>
            <a:endParaRPr sz="13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2788920"/>
            <a:ext cx="1508760" cy="530352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953512"/>
            <a:ext cx="12801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微软雅黑" panose="020B0503020204020204" pitchFamily="34" charset="-122"/>
              </a:rPr>
              <a:t>parse_args：接收输入路径、训练轮数、网络规模等参数</a:t>
            </a:r>
            <a:endParaRPr sz="10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2258568" y="2953512"/>
            <a:ext cx="384048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80" y="2788920"/>
            <a:ext cx="1508760" cy="530352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953512"/>
            <a:ext cx="12801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微软雅黑" panose="020B0503020204020204" pitchFamily="34" charset="-122"/>
              </a:rPr>
              <a:t>discover_day12_features：自动寻找 Day12 输出的特征表</a:t>
            </a:r>
            <a:endParaRPr sz="10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407408" y="2953512"/>
            <a:ext cx="384048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74920" y="2788920"/>
            <a:ext cx="1508760" cy="530352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2953512"/>
            <a:ext cx="12801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微软雅黑" panose="020B0503020204020204" pitchFamily="34" charset="-122"/>
              </a:rPr>
              <a:t>prepare_dataset：把 CSV 整理成 X、y、scaler 和数据集划分</a:t>
            </a:r>
            <a:endParaRPr sz="10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6556248" y="2953512"/>
            <a:ext cx="384048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23760" y="2788920"/>
            <a:ext cx="1508760" cy="530352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2953512"/>
            <a:ext cx="12801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微软雅黑" panose="020B0503020204020204" pitchFamily="34" charset="-122"/>
              </a:rPr>
              <a:t>train_model_keras：按 Day13 结构训练 TensorFlow/Keras MLP</a:t>
            </a:r>
            <a:endParaRPr sz="10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8705088" y="2953512"/>
            <a:ext cx="384048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72600" y="2788920"/>
            <a:ext cx="1508760" cy="530352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82328" y="2953512"/>
            <a:ext cx="12801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微软雅黑" panose="020B0503020204020204" pitchFamily="34" charset="-122"/>
              </a:rPr>
              <a:t>save_outputs：保存模型、评估指标、图片和部署配套文件</a:t>
            </a:r>
            <a:endParaRPr sz="10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0120" y="4617720"/>
            <a:ext cx="996696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pitchFamily="34" charset="-122"/>
              </a:rPr>
              <a:t>训练脚本不是黑盒，它是一条从 features_all.csv 到 model.keras 的工程流水线。</a:t>
            </a:r>
            <a:endParaRPr sz="18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main 函数：训练流程的总调度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38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1170432"/>
            <a:ext cx="7498079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0">
                <a:solidFill>
                  <a:srgbClr val="595959"/>
                </a:solidFill>
                <a:latin typeface="微软雅黑" panose="020B0503020204020204" pitchFamily="34" charset="-122"/>
              </a:rPr>
              <a:t>先读代码，再看它服务哪一个工程动作。</a:t>
            </a:r>
            <a:endParaRPr sz="16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49808" y="1691640"/>
            <a:ext cx="10561320" cy="2331720"/>
          </a:xfrm>
          <a:prstGeom prst="roundRect">
            <a:avLst>
              <a:gd name="adj" fmla="val 3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976" y="1856232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3856" y="1856232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16736" y="185623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67128"/>
            <a:ext cx="10058400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BF2FA"/>
                </a:solidFill>
                <a:latin typeface="Consolas" panose="020B0609020204030204"/>
              </a:rPr>
              <a:t>def main():
    args = parse_args()
    out_dir = ...
    input_csv = ...
    data = prepare_dataset(input_csv)
    model, history = train_model_keras(...)
    save_outputs(out_dir, input_csv, data, model, history)</a:t>
            </a:r>
            <a:endParaRPr sz="1000">
              <a:solidFill>
                <a:srgbClr val="EBF2FA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47548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4773168"/>
            <a:ext cx="224028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微软雅黑" panose="020B0503020204020204" pitchFamily="34" charset="-122"/>
              </a:rPr>
              <a:t>main 不是具体算法，而是流程编排</a:t>
            </a:r>
            <a:endParaRPr sz="11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20440" y="4434840"/>
            <a:ext cx="47548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02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20440" y="4773168"/>
            <a:ext cx="224028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微软雅黑" panose="020B0503020204020204" pitchFamily="34" charset="-122"/>
              </a:rPr>
              <a:t>先确定参数，再确定输入和输出</a:t>
            </a:r>
            <a:endParaRPr sz="11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26480" y="4434840"/>
            <a:ext cx="47548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4773168"/>
            <a:ext cx="224028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微软雅黑" panose="020B0503020204020204" pitchFamily="34" charset="-122"/>
              </a:rPr>
              <a:t>再准备数据、训练模型、保存结果</a:t>
            </a:r>
            <a:endParaRPr sz="11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32520" y="4434840"/>
            <a:ext cx="47548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04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32520" y="4773168"/>
            <a:ext cx="224028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微软雅黑" panose="020B0503020204020204" pitchFamily="34" charset="-122"/>
              </a:rPr>
              <a:t>调试时先看 main，能快速知道程序卡在哪一步</a:t>
            </a:r>
            <a:endParaRPr sz="11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1440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60704" y="5687568"/>
            <a:ext cx="9866376" cy="4572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779007"/>
            <a:ext cx="96012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微软雅黑" panose="020B0503020204020204" pitchFamily="34" charset="-122"/>
              </a:rPr>
              <a:t>main 函数相当于嵌入式工程里的任务调度器：它不做所有细节，但决定每个模块按什么顺序执行。</a:t>
            </a:r>
            <a:endParaRPr sz="11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pitchFamily="34" charset="-122"/>
              </a:rPr>
              <a:t>命令行参数：训练成本从这里控制</a:t>
            </a:r>
            <a:endParaRPr sz="2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39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1248" y="1207008"/>
            <a:ext cx="18288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微软雅黑" panose="020B0503020204020204" pitchFamily="34" charset="-122"/>
              </a:rPr>
              <a:t>代码骨架</a:t>
            </a:r>
            <a:endParaRPr sz="12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572768"/>
            <a:ext cx="6537960" cy="3794760"/>
          </a:xfrm>
          <a:prstGeom prst="roundRect">
            <a:avLst>
              <a:gd name="adj" fmla="val 3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737360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07008" y="1737360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9888" y="1737360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048256"/>
            <a:ext cx="6035040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BF2FA"/>
                </a:solidFill>
                <a:latin typeface="Consolas" panose="020B0609020204030204"/>
              </a:rPr>
              <a:t>parser.add_argument('--epochs', default=100)
parser.add_argument('--batch-size', default=32)
parser.add_argument('--learning-rate', default=0.003)
parser.add_argument('--hidden1', default=32)
parser.add_argument('--hidden2', default=16)
parser.add_argument('--backend', choices=['auto','keras','numpy'])</a:t>
            </a:r>
            <a:endParaRPr sz="1100">
              <a:solidFill>
                <a:srgbClr val="EBF2FA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26679" y="1298448"/>
            <a:ext cx="219456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</a:rPr>
              <a:t>执行顺序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982712" y="1956816"/>
            <a:ext cx="22860" cy="2651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18120" y="1792224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0416" y="1856231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2834639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epochs：最多训练多少轮，直接影响耗时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818120" y="2359152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416" y="2423160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21040" y="2350008"/>
            <a:ext cx="2834639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batch-size：每次用多少样本更新参数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818120" y="292608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0416" y="299008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21040" y="2916936"/>
            <a:ext cx="2834639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learning-rate：每次改参数的步子有多大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818120" y="349300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0416" y="3557015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21040" y="3483864"/>
            <a:ext cx="2834639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hidden1/hidden2：模型规模，影响参数量和训练时间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818120" y="4059935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0416" y="4123944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5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21040" y="4050791"/>
            <a:ext cx="2834639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backend：课堂主线使用 TensorFlow/Keras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6868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4983" y="5687568"/>
            <a:ext cx="10094976" cy="457200"/>
          </a:xfrm>
          <a:prstGeom prst="roundRect">
            <a:avLst>
              <a:gd name="adj" fmla="val 4000"/>
            </a:avLst>
          </a:prstGeom>
          <a:solidFill>
            <a:srgbClr val="374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5779007"/>
            <a:ext cx="98298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EBF2FA"/>
                </a:solidFill>
                <a:latin typeface="微软雅黑" panose="020B0503020204020204" pitchFamily="34" charset="-122"/>
              </a:rPr>
              <a:t>训练降本不是先换电脑，而是先把参数入口设计清楚，让每次实验可控、可复现、可比较。</a:t>
            </a:r>
            <a:endParaRPr sz="1100" b="1">
              <a:solidFill>
                <a:srgbClr val="EBF2FA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自动寻找 Day12 数据：减少路径配置成本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40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243584"/>
            <a:ext cx="38404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微软雅黑" panose="020B0503020204020204" pitchFamily="34" charset="-122"/>
              </a:rPr>
              <a:t>这一段代码解决的问题</a:t>
            </a:r>
            <a:endParaRPr sz="16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868680" y="18470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7647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--input 有值：使用指定的 features_all.csv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868680" y="23042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2219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--input 为空：自动搜索 Day12 输出目录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68680" y="27614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6791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找不到数据：生成 demo 数据保证课堂能跑通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68680" y="32186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1363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真实项目中建议显式指定输入文件并记录路径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0" y="1234440"/>
            <a:ext cx="5669280" cy="4407408"/>
          </a:xfrm>
          <a:prstGeom prst="roundRect">
            <a:avLst>
              <a:gd name="adj" fmla="val 3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87568" y="1399032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70448" y="1399032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53328" y="139903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1709928"/>
            <a:ext cx="5166360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BF2FA"/>
                </a:solidFill>
                <a:latin typeface="Consolas" panose="020B0609020204030204"/>
              </a:rPr>
              <a:t>if args.input:
    input_csv = Path(args.input).resolve()
else:
    found = discover_day12_features()
    if found is None:
        input_csv = generate_demo_features(...)
    else:
        input_csv = found</a:t>
            </a:r>
            <a:endParaRPr sz="1000">
              <a:solidFill>
                <a:srgbClr val="EBF2FA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5349240"/>
            <a:ext cx="429768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微软雅黑" panose="020B0503020204020204" pitchFamily="34" charset="-122"/>
              </a:rPr>
              <a:t>自动搜索是为了降低课堂配置成本；真实实验记录里仍然要明确写清楚训练用的是哪份数据。</a:t>
            </a:r>
            <a:endParaRPr sz="14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pitchFamily="34" charset="-122"/>
              </a:rPr>
              <a:t>脚本文件在哪里，怎么运行</a:t>
            </a:r>
            <a:endParaRPr sz="2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41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1248" y="1207008"/>
            <a:ext cx="18288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微软雅黑" panose="020B0503020204020204" pitchFamily="34" charset="-122"/>
              </a:rPr>
              <a:t>代码骨架</a:t>
            </a:r>
            <a:endParaRPr sz="12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572768"/>
            <a:ext cx="6537960" cy="3794760"/>
          </a:xfrm>
          <a:prstGeom prst="roundRect">
            <a:avLst>
              <a:gd name="adj" fmla="val 3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737360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07008" y="1737360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9888" y="1737360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048256"/>
            <a:ext cx="6035040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BF2FA"/>
                </a:solidFill>
                <a:latin typeface="Consolas" panose="020B0609020204030204"/>
              </a:rPr>
              <a:t>cd D:\\Codex_s\\course\\Day14-模型验证\\01_课程交付文件\\Python脚本
python day14_model_training_validation.py
# 推荐：明确使用 TensorFlow/Keras 主线
python day14_model_training_validation.py --backend keras --epochs 60
# 可选：指定自己的特征表
python day14_model_training_validation.py --input D:/xxx/features_all.csv</a:t>
            </a:r>
            <a:endParaRPr sz="1100">
              <a:solidFill>
                <a:srgbClr val="EBF2FA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26679" y="1298448"/>
            <a:ext cx="219456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</a:rPr>
              <a:t>执行顺序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982712" y="1956816"/>
            <a:ext cx="22860" cy="208483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18120" y="1792224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0416" y="1856231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2834639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默认 --backend auto：优先 TensorFlow/Keras，失败后 NumPy 兜底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818120" y="2359152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416" y="2423160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21040" y="2350008"/>
            <a:ext cx="2834639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--backend keras：强制使用 TensorFlow/Keras，最呼应 Day13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818120" y="292608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0416" y="299008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21040" y="2916936"/>
            <a:ext cx="2834639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--epochs：控制最大训练轮数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818120" y="349300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0416" y="3557015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21040" y="3483864"/>
            <a:ext cx="2834639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--input：指定自己的 features_all.csv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6868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4983" y="5687568"/>
            <a:ext cx="10094976" cy="457200"/>
          </a:xfrm>
          <a:prstGeom prst="roundRect">
            <a:avLst>
              <a:gd name="adj" fmla="val 4000"/>
            </a:avLst>
          </a:prstGeom>
          <a:solidFill>
            <a:srgbClr val="374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779007"/>
            <a:ext cx="98298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EBF2FA"/>
                </a:solidFill>
                <a:latin typeface="微软雅黑" panose="020B0503020204020204" pitchFamily="34" charset="-122"/>
              </a:rPr>
              <a:t>课堂主线使用 TensorFlow/Keras；NumPy 只是环境兜底和原理补充。</a:t>
            </a:r>
            <a:endParaRPr sz="1100" b="1">
              <a:solidFill>
                <a:srgbClr val="EBF2FA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脚本如何调用 Day12 产生的数据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42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243584"/>
            <a:ext cx="38404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微软雅黑" panose="020B0503020204020204" pitchFamily="34" charset="-122"/>
              </a:rPr>
              <a:t>这一段代码解决的问题</a:t>
            </a:r>
            <a:endParaRPr sz="16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868680" y="18470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7647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优先寻找 Day12 的 features_all.csv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868680" y="23042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2219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找到后直接作为训练输入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68680" y="27614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6791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找不到时自动生成 demo_features_all.csv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68680" y="32186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1363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prepare_dataset 负责把 CSV 变成 X、y 和 scaler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0" y="1234440"/>
            <a:ext cx="5669280" cy="4407408"/>
          </a:xfrm>
          <a:prstGeom prst="roundRect">
            <a:avLst>
              <a:gd name="adj" fmla="val 3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87568" y="1399032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70448" y="1399032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53328" y="139903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1709928"/>
            <a:ext cx="5166360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BF2FA"/>
                </a:solidFill>
                <a:latin typeface="Consolas" panose="020B0609020204030204"/>
              </a:rPr>
              <a:t>found = discover_day12_features()
if found is None:
    input_csv = generate_demo_features(...)
else:
    input_csv = found
data = prepare_dataset(input_csv)</a:t>
            </a:r>
            <a:endParaRPr sz="1000">
              <a:solidFill>
                <a:srgbClr val="EBF2FA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5349240"/>
            <a:ext cx="429768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微软雅黑" panose="020B0503020204020204" pitchFamily="34" charset="-122"/>
              </a:rPr>
              <a:t>Day14 不是孤立课程，它真实承接 Day12 的特征工程结果。</a:t>
            </a:r>
            <a:endParaRPr sz="14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prepare_dataset：把 CSV 变成 X、y 和 scaler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43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243584"/>
            <a:ext cx="38404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微软雅黑" panose="020B0503020204020204" pitchFamily="34" charset="-122"/>
              </a:rPr>
              <a:t>这一段代码解决的问题</a:t>
            </a:r>
            <a:endParaRPr sz="16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868680" y="18470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7647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去掉 window_id、label、时间戳等非特征列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868680" y="23042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2219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label 被编码成数字：idle=0、walk=1、stairs=2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68680" y="27614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6791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按类别分层划分训练/验证/测试集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68680" y="32186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1363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只用训练集计算 mean 和 std，避免数据泄漏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0" y="1234440"/>
            <a:ext cx="5669280" cy="4407408"/>
          </a:xfrm>
          <a:prstGeom prst="roundRect">
            <a:avLst>
              <a:gd name="adj" fmla="val 3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87568" y="1399032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70448" y="1399032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53328" y="139903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1709928"/>
            <a:ext cx="5166360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BF2FA"/>
                </a:solidFill>
                <a:latin typeface="Consolas" panose="020B0609020204030204"/>
              </a:rPr>
              <a:t>feature_columns = select_feature_columns(df)
x = df[feature_columns].to_numpy(dtype=float)
y = df["label"].map(label_to_id).to_numpy(dtype=int)
train_idx, val_idx, test_idx = stratified_split(y)
mean = x_train.mean(axis=0)
std = x_train.std(axis=0)
x_scaled = (x - mean) / std</a:t>
            </a:r>
            <a:endParaRPr sz="1000">
              <a:solidFill>
                <a:srgbClr val="EBF2FA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5349240"/>
            <a:ext cx="429768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微软雅黑" panose="020B0503020204020204" pitchFamily="34" charset="-122"/>
              </a:rPr>
              <a:t>prepare_dataset 决定了模型到底学什么，也决定了评估是否公平。</a:t>
            </a:r>
            <a:endParaRPr sz="14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select_feature_columns：X 里只能放可部署特征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44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1170432"/>
            <a:ext cx="7498079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0">
                <a:solidFill>
                  <a:srgbClr val="595959"/>
                </a:solidFill>
                <a:latin typeface="微软雅黑" panose="020B0503020204020204" pitchFamily="34" charset="-122"/>
              </a:rPr>
              <a:t>先读代码，再看它服务哪一个工程动作。</a:t>
            </a:r>
            <a:endParaRPr sz="16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49808" y="1691640"/>
            <a:ext cx="10561320" cy="2331720"/>
          </a:xfrm>
          <a:prstGeom prst="roundRect">
            <a:avLst>
              <a:gd name="adj" fmla="val 3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976" y="1856232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3856" y="1856232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16736" y="185623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67128"/>
            <a:ext cx="10058400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BF2FA"/>
                </a:solidFill>
                <a:latin typeface="Consolas" panose="020B0609020204030204"/>
              </a:rPr>
              <a:t>numeric_cols = df.select_dtypes(include=[np.number]).columns.tolist()
feature_cols = [c for c in numeric_cols if c not in NON_FEATURE_COLUMNS]
x_df = df[feature_columns].copy()
x = x_df.to_numpy(dtype=float)</a:t>
            </a:r>
            <a:endParaRPr sz="1000">
              <a:solidFill>
                <a:srgbClr val="EBF2FA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47548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4773168"/>
            <a:ext cx="224028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微软雅黑" panose="020B0503020204020204" pitchFamily="34" charset="-122"/>
              </a:rPr>
              <a:t>只选择数值列，因为神经网络输入必须是数字</a:t>
            </a:r>
            <a:endParaRPr sz="11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20440" y="4434840"/>
            <a:ext cx="47548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02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20440" y="4773168"/>
            <a:ext cx="224028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微软雅黑" panose="020B0503020204020204" pitchFamily="34" charset="-122"/>
              </a:rPr>
              <a:t>排除 window_id、时间戳、标签等非特征列</a:t>
            </a:r>
            <a:endParaRPr sz="11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26480" y="4434840"/>
            <a:ext cx="47548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4773168"/>
            <a:ext cx="224028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微软雅黑" panose="020B0503020204020204" pitchFamily="34" charset="-122"/>
              </a:rPr>
              <a:t>不能把 label 或 label_cn 放进 X</a:t>
            </a:r>
            <a:endParaRPr sz="11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32520" y="4434840"/>
            <a:ext cx="47548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04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32520" y="4773168"/>
            <a:ext cx="224028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微软雅黑" panose="020B0503020204020204" pitchFamily="34" charset="-122"/>
              </a:rPr>
              <a:t>部署端也必须能算出同样的特征列</a:t>
            </a:r>
            <a:endParaRPr sz="11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1440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60704" y="5687568"/>
            <a:ext cx="9866376" cy="4572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779007"/>
            <a:ext cx="96012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微软雅黑" panose="020B0503020204020204" pitchFamily="34" charset="-122"/>
              </a:rPr>
              <a:t>特征列选择决定模型到底学什么；如果把答案列放进 X，准确率再高也是数据泄漏。</a:t>
            </a:r>
            <a:endParaRPr sz="11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标签编码：把动作名称变成训练标签 y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45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243584"/>
            <a:ext cx="38404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微软雅黑" panose="020B0503020204020204" pitchFamily="34" charset="-122"/>
              </a:rPr>
              <a:t>这一段代码解决的问题</a:t>
            </a:r>
            <a:endParaRPr sz="16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868680" y="18470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7647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神经网络训练时标签必须是数字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868680" y="23042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2219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idle、walk、stairs 被映射为 0、1、2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68680" y="27614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6791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label_map.json 会保存这个映射关系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68680" y="32186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1363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部署端输出类别编号后，要按同一张表解释结果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0" y="1234440"/>
            <a:ext cx="5669280" cy="4407408"/>
          </a:xfrm>
          <a:prstGeom prst="roundRect">
            <a:avLst>
              <a:gd name="adj" fmla="val 3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87568" y="1399032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70448" y="1399032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53328" y="139903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1709928"/>
            <a:ext cx="5166360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BF2FA"/>
                </a:solidFill>
                <a:latin typeface="Consolas" panose="020B0609020204030204"/>
              </a:rPr>
              <a:t>preferred_order = ['idle', 'walk', 'stairs']
labels = [name for name in preferred_order if name in existing_labels]
label_to_id = {name: idx for idx, name in enumerate(labels)}
y = df['label'].map(label_to_id).to_numpy(dtype=int)</a:t>
            </a:r>
            <a:endParaRPr sz="1000">
              <a:solidFill>
                <a:srgbClr val="EBF2FA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5349240"/>
            <a:ext cx="429768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微软雅黑" panose="020B0503020204020204" pitchFamily="34" charset="-122"/>
              </a:rPr>
              <a:t>label_map 不是附属文件，而是模型输出语义的说明书。</a:t>
            </a:r>
            <a:endParaRPr sz="14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标准化 scaler：只用训练集计算均值和方差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46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1170432"/>
            <a:ext cx="7498079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0">
                <a:solidFill>
                  <a:srgbClr val="595959"/>
                </a:solidFill>
                <a:latin typeface="微软雅黑" panose="020B0503020204020204" pitchFamily="34" charset="-122"/>
              </a:rPr>
              <a:t>先读代码，再看它服务哪一个工程动作。</a:t>
            </a:r>
            <a:endParaRPr sz="16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49808" y="1691640"/>
            <a:ext cx="10561320" cy="2331720"/>
          </a:xfrm>
          <a:prstGeom prst="roundRect">
            <a:avLst>
              <a:gd name="adj" fmla="val 3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976" y="1856232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3856" y="1856232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16736" y="185623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67128"/>
            <a:ext cx="10058400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BF2FA"/>
                </a:solidFill>
                <a:latin typeface="Consolas" panose="020B0609020204030204"/>
              </a:rPr>
              <a:t>x_train_raw = x[train_idx]
scaler_mean = x_train_raw.mean(axis=0)
scaler_std = x_train_raw.std(axis=0)
scaler_std[scaler_std &lt; 1e-8] = 1.0
x_scaled = (x - scaler_mean) / scaler_std</a:t>
            </a:r>
            <a:endParaRPr sz="1000">
              <a:solidFill>
                <a:srgbClr val="EBF2FA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47548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4773168"/>
            <a:ext cx="224028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微软雅黑" panose="020B0503020204020204" pitchFamily="34" charset="-122"/>
              </a:rPr>
              <a:t>mean/std 只能用训练集计算，避免测试集信息泄漏</a:t>
            </a:r>
            <a:endParaRPr sz="11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20440" y="4434840"/>
            <a:ext cx="47548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02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20440" y="4773168"/>
            <a:ext cx="224028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微软雅黑" panose="020B0503020204020204" pitchFamily="34" charset="-122"/>
              </a:rPr>
              <a:t>所有样本都用同一组 mean/std 做标准化</a:t>
            </a:r>
            <a:endParaRPr sz="11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26480" y="4434840"/>
            <a:ext cx="47548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4773168"/>
            <a:ext cx="224028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微软雅黑" panose="020B0503020204020204" pitchFamily="34" charset="-122"/>
              </a:rPr>
              <a:t>std 太小会导致除法不稳定，所以小于阈值时置为 1</a:t>
            </a:r>
            <a:endParaRPr sz="11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32520" y="4434840"/>
            <a:ext cx="47548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04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32520" y="4773168"/>
            <a:ext cx="224028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微软雅黑" panose="020B0503020204020204" pitchFamily="34" charset="-122"/>
              </a:rPr>
              <a:t>scaler.json 必须交给 Day15 和 STM32 部署端</a:t>
            </a:r>
            <a:endParaRPr sz="11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1440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60704" y="5687568"/>
            <a:ext cx="9866376" cy="4572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779007"/>
            <a:ext cx="96012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微软雅黑" panose="020B0503020204020204" pitchFamily="34" charset="-122"/>
              </a:rPr>
              <a:t>训练时怎样处理输入，部署时就必须怎样处理输入；否则模型看到的世界就变了。</a:t>
            </a:r>
            <a:endParaRPr sz="11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stratified_split：每个动作都要参与训练和测试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47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243584"/>
            <a:ext cx="38404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微软雅黑" panose="020B0503020204020204" pitchFamily="34" charset="-122"/>
              </a:rPr>
              <a:t>这一段代码解决的问题</a:t>
            </a:r>
            <a:endParaRPr sz="16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868680" y="18470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7647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按类别分别划分，避免某一类只出现在训练集或测试集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868680" y="23042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2219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每个类别都按比例分到 train、val、test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68680" y="27614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6791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随机种子 seed 保证课堂结果可复现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68680" y="32186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1363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真实动作数据还要进一步考虑 session 级划分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0" y="1234440"/>
            <a:ext cx="5669280" cy="4407408"/>
          </a:xfrm>
          <a:prstGeom prst="roundRect">
            <a:avLst>
              <a:gd name="adj" fmla="val 3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87568" y="1399032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70448" y="1399032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53328" y="139903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1709928"/>
            <a:ext cx="5166360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BF2FA"/>
                </a:solidFill>
                <a:latin typeface="Consolas" panose="020B0609020204030204"/>
              </a:rPr>
              <a:t>for label_id in sorted(np.unique(y)):
    indices = np.where(y == label_id)[0]
    rng.shuffle(indices)
    n_train = round(n * train_ratio)
    n_val = round(n * val_ratio)
    train_idx.extend(indices[:n_train])</a:t>
            </a:r>
            <a:endParaRPr sz="1000">
              <a:solidFill>
                <a:srgbClr val="EBF2FA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5349240"/>
            <a:ext cx="429768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微软雅黑" panose="020B0503020204020204" pitchFamily="34" charset="-122"/>
              </a:rPr>
              <a:t>分类任务的数据划分不能只随机切一刀，要保证每个动作类别都有公平的评估机会。</a:t>
            </a:r>
            <a:endParaRPr sz="14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pitchFamily="34" charset="-122"/>
              </a:rPr>
              <a:t>Keras 训练函数：和 Day13 设计一一对应</a:t>
            </a:r>
            <a:endParaRPr sz="2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48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1248" y="1207008"/>
            <a:ext cx="18288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微软雅黑" panose="020B0503020204020204" pitchFamily="34" charset="-122"/>
              </a:rPr>
              <a:t>代码骨架</a:t>
            </a:r>
            <a:endParaRPr sz="12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572768"/>
            <a:ext cx="6537960" cy="3794760"/>
          </a:xfrm>
          <a:prstGeom prst="roundRect">
            <a:avLst>
              <a:gd name="adj" fmla="val 3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737360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07008" y="1737360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9888" y="1737360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048256"/>
            <a:ext cx="6035040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BF2FA"/>
                </a:solidFill>
                <a:latin typeface="Consolas" panose="020B0609020204030204"/>
              </a:rPr>
              <a:t>model = keras.Sequential([
    keras.layers.Input(shape=(num_features,)),
    keras.layers.Dense(32, activation="relu"),
    keras.layers.Dense(16, activation="relu"),
    keras.layers.Dense(num_classes, activation="softmax"),
])
model.compile(
    optimizer=keras.optimizers.Adam(learning_rate=0.003),
    loss="sparse_categorical_crossentropy",
    metrics=["accuracy"],
)</a:t>
            </a:r>
            <a:endParaRPr sz="1100">
              <a:solidFill>
                <a:srgbClr val="EBF2FA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26679" y="1298448"/>
            <a:ext cx="219456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</a:rPr>
              <a:t>执行顺序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982712" y="1956816"/>
            <a:ext cx="22860" cy="208483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18120" y="1792224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0416" y="1856231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2834639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Dense 32 + Dense 16 + Dense 3 来自 Day13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818120" y="2359152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416" y="2423160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21040" y="2350008"/>
            <a:ext cx="2834639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ReLU 用于隐藏层非线性表达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818120" y="292608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0416" y="299008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21040" y="2916936"/>
            <a:ext cx="2834639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Softmax 输出三类概率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818120" y="349300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0416" y="3557015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21040" y="3483864"/>
            <a:ext cx="2834639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compile 指定优化器、损失函数和指标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6868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4983" y="5687568"/>
            <a:ext cx="10094976" cy="457200"/>
          </a:xfrm>
          <a:prstGeom prst="roundRect">
            <a:avLst>
              <a:gd name="adj" fmla="val 4000"/>
            </a:avLst>
          </a:prstGeom>
          <a:solidFill>
            <a:srgbClr val="374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779007"/>
            <a:ext cx="98298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EBF2FA"/>
                </a:solidFill>
                <a:latin typeface="微软雅黑" panose="020B0503020204020204" pitchFamily="34" charset="-122"/>
              </a:rPr>
              <a:t>Day14 的代码不是新设计模型，而是把 Day13 的设计真正训练起来。</a:t>
            </a:r>
            <a:endParaRPr sz="1100" b="1">
              <a:solidFill>
                <a:srgbClr val="EBF2FA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pitchFamily="34" charset="-122"/>
              </a:rPr>
              <a:t>训练降本：先减少无效训练</a:t>
            </a:r>
            <a:endParaRPr sz="2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49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1248" y="1417320"/>
            <a:ext cx="7223760" cy="11430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微软雅黑" panose="020B0503020204020204" pitchFamily="34" charset="-122"/>
              </a:rPr>
              <a:t>训练降本的核心不是少训练，而是少做无效训练、少做不可复现实验、少做部署前返工。</a:t>
            </a:r>
            <a:endParaRPr sz="25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96112" y="2816352"/>
            <a:ext cx="420624" cy="310896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62072"/>
            <a:ext cx="21945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81328" y="2798064"/>
            <a:ext cx="80467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EBF2FA"/>
                </a:solidFill>
                <a:latin typeface="微软雅黑" panose="020B0503020204020204" pitchFamily="34" charset="-122"/>
              </a:rPr>
              <a:t>时间成本：每次实验等待多久</a:t>
            </a:r>
            <a:endParaRPr sz="1500" b="0">
              <a:solidFill>
                <a:srgbClr val="EBF2F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96112" y="3319272"/>
            <a:ext cx="420624" cy="310896"/>
          </a:xfrm>
          <a:prstGeom prst="roundRect">
            <a:avLst>
              <a:gd name="adj" fmla="val 6000"/>
            </a:avLst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364991"/>
            <a:ext cx="21945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81328" y="3300984"/>
            <a:ext cx="80467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EBF2FA"/>
                </a:solidFill>
                <a:latin typeface="微软雅黑" panose="020B0503020204020204" pitchFamily="34" charset="-122"/>
              </a:rPr>
              <a:t>算力成本：CPU/GPU/内存占用多少</a:t>
            </a:r>
            <a:endParaRPr sz="1500" b="0">
              <a:solidFill>
                <a:srgbClr val="EBF2F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96112" y="3822191"/>
            <a:ext cx="420624" cy="310896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867911"/>
            <a:ext cx="21945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81328" y="3803904"/>
            <a:ext cx="80467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EBF2FA"/>
                </a:solidFill>
                <a:latin typeface="微软雅黑" panose="020B0503020204020204" pitchFamily="34" charset="-122"/>
              </a:rPr>
              <a:t>试错成本：参数改了以后能不能复现和对比</a:t>
            </a:r>
            <a:endParaRPr sz="1500" b="0">
              <a:solidFill>
                <a:srgbClr val="EBF2F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96112" y="4325112"/>
            <a:ext cx="420624" cy="310896"/>
          </a:xfrm>
          <a:prstGeom prst="roundRect">
            <a:avLst>
              <a:gd name="adj" fmla="val 6000"/>
            </a:avLst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370831"/>
            <a:ext cx="21945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81328" y="4306824"/>
            <a:ext cx="80467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EBF2FA"/>
                </a:solidFill>
                <a:latin typeface="微软雅黑" panose="020B0503020204020204" pitchFamily="34" charset="-122"/>
              </a:rPr>
              <a:t>部署返工成本：训练文件是否能直接交给 Day15</a:t>
            </a:r>
            <a:endParaRPr sz="1500" b="0">
              <a:solidFill>
                <a:srgbClr val="EBF2F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6112" y="4828031"/>
            <a:ext cx="420624" cy="310896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873751"/>
            <a:ext cx="21945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5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81328" y="4809744"/>
            <a:ext cx="80467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EBF2FA"/>
                </a:solidFill>
                <a:latin typeface="微软雅黑" panose="020B0503020204020204" pitchFamily="34" charset="-122"/>
              </a:rPr>
              <a:t>EarlyStopping：验证集不提升就停止</a:t>
            </a:r>
            <a:endParaRPr sz="1500" b="0">
              <a:solidFill>
                <a:srgbClr val="EBF2FA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464040" y="1444752"/>
            <a:ext cx="1691640" cy="388620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0072" y="1920240"/>
            <a:ext cx="12344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pitchFamily="34" charset="-122"/>
              </a:rPr>
              <a:t>TinyML</a:t>
            </a:r>
            <a:endParaRPr sz="18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756648" y="2542032"/>
            <a:ext cx="1143000" cy="1691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300" b="1">
                <a:solidFill>
                  <a:srgbClr val="1F3040"/>
                </a:solidFill>
                <a:latin typeface="微软雅黑" panose="020B0503020204020204" pitchFamily="34" charset="-122"/>
              </a:rPr>
              <a:t>数据
训练
验证
部署</a:t>
            </a:r>
            <a:endParaRPr sz="23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EarlyStopping：用验证集节省训练时间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50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243584"/>
            <a:ext cx="38404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微软雅黑" panose="020B0503020204020204" pitchFamily="34" charset="-122"/>
              </a:rPr>
              <a:t>这一段代码解决的问题</a:t>
            </a:r>
            <a:endParaRPr sz="16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868680" y="18470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7647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monitor='val_loss'：盯住验证集损失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868680" y="23042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2219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patience=20：连续 20 轮不变好才停止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68680" y="27614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6791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restore_best_weights=True：恢复到验证集最好的一轮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68680" y="32186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1363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ModelCheckpoint：把最好模型单独保存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0" y="1234440"/>
            <a:ext cx="5669280" cy="4407408"/>
          </a:xfrm>
          <a:prstGeom prst="roundRect">
            <a:avLst>
              <a:gd name="adj" fmla="val 3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87568" y="1399032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70448" y="1399032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53328" y="139903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1709928"/>
            <a:ext cx="5166360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BF2FA"/>
                </a:solidFill>
                <a:latin typeface="Consolas" panose="020B0609020204030204"/>
              </a:rPr>
              <a:t>keras.callbacks.EarlyStopping(
    monitor='val_loss',
    patience=20,
    restore_best_weights=True,
)
keras.callbacks.ModelCheckpoint(
    filepath='best_model.keras',
    monitor='val_loss',
    save_best_only=True,
)</a:t>
            </a:r>
            <a:endParaRPr sz="1000">
              <a:solidFill>
                <a:srgbClr val="EBF2FA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5349240"/>
            <a:ext cx="429768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微软雅黑" panose="020B0503020204020204" pitchFamily="34" charset="-122"/>
              </a:rPr>
              <a:t>EarlyStopping 不是偷懒，而是用验证集告诉我们：继续训练已经没有明显收益。</a:t>
            </a:r>
            <a:endParaRPr sz="14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fit：训练、验证、早停和模型保存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51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243584"/>
            <a:ext cx="38404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微软雅黑" panose="020B0503020204020204" pitchFamily="34" charset="-122"/>
              </a:rPr>
              <a:t>这一段代码解决的问题</a:t>
            </a:r>
            <a:endParaRPr sz="16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868680" y="18470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7647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x_train/y_train 用于学习权重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868680" y="23042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2219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validation_data 用于观察泛化趋势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68680" y="27614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6791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EarlyStopping 防止无意义继续训练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68680" y="32186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1363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ModelCheckpoint 保存验证集最优模型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0" y="1234440"/>
            <a:ext cx="5669280" cy="4407408"/>
          </a:xfrm>
          <a:prstGeom prst="roundRect">
            <a:avLst>
              <a:gd name="adj" fmla="val 3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87568" y="1399032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70448" y="1399032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53328" y="139903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1709928"/>
            <a:ext cx="5166360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BF2FA"/>
                </a:solidFill>
                <a:latin typeface="Consolas" panose="020B0609020204030204"/>
              </a:rPr>
              <a:t>history = model.fit(
    x_train, y_train,
    validation_data=(x_val, y_val),
    epochs=epochs,
    batch_size=batch_size,
    callbacks=[early_stop, checkpoint],
)
model.save("model.keras")</a:t>
            </a:r>
            <a:endParaRPr sz="1000">
              <a:solidFill>
                <a:srgbClr val="EBF2FA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5349240"/>
            <a:ext cx="429768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微软雅黑" panose="020B0503020204020204" pitchFamily="34" charset="-122"/>
              </a:rPr>
              <a:t>fit 不是单纯跑代码，它同时完成学习、观察和保存最佳模型。</a:t>
            </a:r>
            <a:endParaRPr sz="14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fit 参数逐个看：每个参数都影响成本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52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1170432"/>
            <a:ext cx="7498079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0">
                <a:solidFill>
                  <a:srgbClr val="595959"/>
                </a:solidFill>
                <a:latin typeface="微软雅黑" panose="020B0503020204020204" pitchFamily="34" charset="-122"/>
              </a:rPr>
              <a:t>先读代码，再看它服务哪一个工程动作。</a:t>
            </a:r>
            <a:endParaRPr sz="16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49808" y="1691640"/>
            <a:ext cx="10561320" cy="2331720"/>
          </a:xfrm>
          <a:prstGeom prst="roundRect">
            <a:avLst>
              <a:gd name="adj" fmla="val 3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976" y="1856232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3856" y="1856232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16736" y="185623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67128"/>
            <a:ext cx="10058400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BF2FA"/>
                </a:solidFill>
                <a:latin typeface="Consolas" panose="020B0609020204030204"/>
              </a:rPr>
              <a:t>model.fit(
    data.x_train,
    data.y_train,
    validation_data=(data.x_val, data.y_val),
    epochs=epochs,
    batch_size=batch_size,
    callbacks=callbacks,
    verbose=2,
)</a:t>
            </a:r>
            <a:endParaRPr sz="1000">
              <a:solidFill>
                <a:srgbClr val="EBF2FA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47548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4773168"/>
            <a:ext cx="224028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微软雅黑" panose="020B0503020204020204" pitchFamily="34" charset="-122"/>
              </a:rPr>
              <a:t>data.x_train/y_train：真正参与参数更新的数据</a:t>
            </a:r>
            <a:endParaRPr sz="11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20440" y="4434840"/>
            <a:ext cx="47548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02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20440" y="4773168"/>
            <a:ext cx="224028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微软雅黑" panose="020B0503020204020204" pitchFamily="34" charset="-122"/>
              </a:rPr>
              <a:t>validation_data：每轮训练后用来观察泛化能力</a:t>
            </a:r>
            <a:endParaRPr sz="11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26480" y="4434840"/>
            <a:ext cx="47548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4773168"/>
            <a:ext cx="224028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微软雅黑" panose="020B0503020204020204" pitchFamily="34" charset="-122"/>
              </a:rPr>
              <a:t>epochs：最大训练轮数，不一定全部跑完</a:t>
            </a:r>
            <a:endParaRPr sz="11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32520" y="4434840"/>
            <a:ext cx="47548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04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32520" y="4773168"/>
            <a:ext cx="224028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微软雅黑" panose="020B0503020204020204" pitchFamily="34" charset="-122"/>
              </a:rPr>
              <a:t>batch_size：一次更新使用多少样本</a:t>
            </a:r>
            <a:endParaRPr sz="11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1440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60704" y="5687568"/>
            <a:ext cx="9866376" cy="4572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779007"/>
            <a:ext cx="96012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微软雅黑" panose="020B0503020204020204" pitchFamily="34" charset="-122"/>
              </a:rPr>
              <a:t>fit 把数据、轮数、批大小、验证集和降本策略放到同一个训练循环里。</a:t>
            </a:r>
            <a:endParaRPr sz="11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history：训练曲线的数据从哪里来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53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243584"/>
            <a:ext cx="38404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微软雅黑" panose="020B0503020204020204" pitchFamily="34" charset="-122"/>
              </a:rPr>
              <a:t>这一段代码解决的问题</a:t>
            </a:r>
            <a:endParaRPr sz="16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868680" y="18470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7647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loss：训练集损失，反映模型在训练数据上的误差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868680" y="23042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2219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val_loss：验证集损失，用来判断过拟合和早停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68680" y="27614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6791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accuracy：训练集准确率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68680" y="32186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1363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val_accuracy：验证集准确率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0" y="1234440"/>
            <a:ext cx="5669280" cy="4407408"/>
          </a:xfrm>
          <a:prstGeom prst="roundRect">
            <a:avLst>
              <a:gd name="adj" fmla="val 3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87568" y="1399032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70448" y="1399032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53328" y="139903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1709928"/>
            <a:ext cx="5166360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BF2FA"/>
                </a:solidFill>
                <a:latin typeface="Consolas" panose="020B0609020204030204"/>
              </a:rPr>
              <a:t>history = {
    'train_loss': fit_history.history['loss'],
    'val_loss': fit_history.history['val_loss'],
    'train_acc': fit_history.history['accuracy'],
    'val_acc': fit_history.history['val_accuracy'],
}</a:t>
            </a:r>
            <a:endParaRPr sz="1000">
              <a:solidFill>
                <a:srgbClr val="EBF2FA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5349240"/>
            <a:ext cx="429768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微软雅黑" panose="020B0503020204020204" pitchFamily="34" charset="-122"/>
              </a:rPr>
              <a:t>training_curves.png 不是装饰图，它来自 history，是判断训练是否正常的证据。</a:t>
            </a:r>
            <a:endParaRPr sz="14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运行日志：先看模型结构，再看训练过程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54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243584"/>
            <a:ext cx="38404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微软雅黑" panose="020B0503020204020204" pitchFamily="34" charset="-122"/>
              </a:rPr>
              <a:t>这一段代码解决的问题</a:t>
            </a:r>
            <a:endParaRPr sz="16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868680" y="18470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7647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先确认模型结构是否是 Day13 的 MLP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868680" y="23042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2219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Total params 可估算模型参数量和 Flash 压力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68680" y="27614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6791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看 loss 和 val_loss 是否下降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68680" y="32186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136392"/>
            <a:ext cx="39593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看 accuracy 和 val_accuracy 是否同步上升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0" y="1234440"/>
            <a:ext cx="5669280" cy="4407408"/>
          </a:xfrm>
          <a:prstGeom prst="roundRect">
            <a:avLst>
              <a:gd name="adj" fmla="val 3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87568" y="1399032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70448" y="1399032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53328" y="139903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1709928"/>
            <a:ext cx="5166360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BF2FA"/>
                </a:solidFill>
                <a:latin typeface="Consolas" panose="020B0609020204030204"/>
              </a:rPr>
              <a:t>Model: "sequential"
Dense(32)  params: 6240
Dense(16)  params: 528
Dense(3)   params: 51
Total params: 6819
Epoch 1/20 - accuracy: 0.5069 - val_accuracy: 0.9667
Epoch 20/20 - accuracy: 1.0000 - val_accuracy: 1.0000</a:t>
            </a:r>
            <a:endParaRPr sz="1000">
              <a:solidFill>
                <a:srgbClr val="EBF2FA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5349240"/>
            <a:ext cx="429768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微软雅黑" panose="020B0503020204020204" pitchFamily="34" charset="-122"/>
              </a:rPr>
              <a:t>终端日志是第一份验证报告，不要运行完就直接关掉。</a:t>
            </a:r>
            <a:endParaRPr sz="14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输出目录：每个文件是做什么用的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55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16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97180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model.keras：完整 Keras 模型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8680" y="2532888"/>
            <a:ext cx="2788920" cy="22860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41732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微软雅黑" panose="020B0503020204020204" pitchFamily="34" charset="-122"/>
              </a:rPr>
              <a:t>02</a:t>
            </a:r>
            <a:endParaRPr sz="16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0" y="1783080"/>
            <a:ext cx="297180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best_model.keras：验证集最优模型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89120" y="2532888"/>
            <a:ext cx="2788920" cy="22860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41732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16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09560" y="1783080"/>
            <a:ext cx="297180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model_weights.npz：权重备份，便于查看参数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909560" y="2532888"/>
            <a:ext cx="2788920" cy="22860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6324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微软雅黑" panose="020B0503020204020204" pitchFamily="34" charset="-122"/>
              </a:rPr>
              <a:t>04</a:t>
            </a:r>
            <a:endParaRPr sz="16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680" y="3429000"/>
            <a:ext cx="297180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scaler.json / label_map.json / feature_columns.json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68680" y="4178808"/>
            <a:ext cx="2788920" cy="22860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06324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微软雅黑" panose="020B0503020204020204" pitchFamily="34" charset="-122"/>
              </a:rPr>
              <a:t>05</a:t>
            </a:r>
            <a:endParaRPr sz="16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89120" y="3429000"/>
            <a:ext cx="297180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training_curves.png：训练过程曲线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89120" y="4178808"/>
            <a:ext cx="2788920" cy="22860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306324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微软雅黑" panose="020B0503020204020204" pitchFamily="34" charset="-122"/>
              </a:rPr>
              <a:t>06</a:t>
            </a:r>
            <a:endParaRPr sz="16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09560" y="3429000"/>
            <a:ext cx="297180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confusion_matrix.png：分类混淆情况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909560" y="4178808"/>
            <a:ext cx="2788920" cy="22860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5596128"/>
            <a:ext cx="73152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0704" y="5596128"/>
            <a:ext cx="9866376" cy="4572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687568"/>
            <a:ext cx="96012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微软雅黑" panose="020B0503020204020204" pitchFamily="34" charset="-122"/>
              </a:rPr>
              <a:t>模型能不能进入 Day15，不是看一个文件，而是看这一整套输出是否完整、可解释、可复现。</a:t>
            </a:r>
            <a:endParaRPr sz="11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save_outputs：一次保存模型、指标和部署配套文件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56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1170432"/>
            <a:ext cx="7498079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0">
                <a:solidFill>
                  <a:srgbClr val="595959"/>
                </a:solidFill>
                <a:latin typeface="微软雅黑" panose="020B0503020204020204" pitchFamily="34" charset="-122"/>
              </a:rPr>
              <a:t>先读代码，再看它服务哪一个工程动作。</a:t>
            </a:r>
            <a:endParaRPr sz="16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49808" y="1691640"/>
            <a:ext cx="10561320" cy="2331720"/>
          </a:xfrm>
          <a:prstGeom prst="roundRect">
            <a:avLst>
              <a:gd name="adj" fmla="val 3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976" y="1856232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3856" y="1856232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16736" y="185623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67128"/>
            <a:ext cx="10058400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BF2FA"/>
                </a:solidFill>
                <a:latin typeface="Consolas" panose="020B0609020204030204"/>
              </a:rPr>
              <a:t>y_pred = model.predict(data.x_test)
cm = confusion_matrix(data.y_test, y_pred, ...)
report_rows = classification_report(cm, data.id_to_label)
model.save_model(out_dir)
save_json('scaler.json', ...)
save_json('label_map.json', ...)
save_json('feature_columns.json', ...)</a:t>
            </a:r>
            <a:endParaRPr sz="1000">
              <a:solidFill>
                <a:srgbClr val="EBF2FA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47548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4773168"/>
            <a:ext cx="224028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微软雅黑" panose="020B0503020204020204" pitchFamily="34" charset="-122"/>
              </a:rPr>
              <a:t>先在测试集上预测，得到 y_pred 和概率</a:t>
            </a:r>
            <a:endParaRPr sz="11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20440" y="4434840"/>
            <a:ext cx="47548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02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20440" y="4773168"/>
            <a:ext cx="224028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微软雅黑" panose="020B0503020204020204" pitchFamily="34" charset="-122"/>
              </a:rPr>
              <a:t>再计算混淆矩阵、分类报告、accuracy 和 macro F1</a:t>
            </a:r>
            <a:endParaRPr sz="11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26480" y="4434840"/>
            <a:ext cx="47548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4773168"/>
            <a:ext cx="224028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微软雅黑" panose="020B0503020204020204" pitchFamily="34" charset="-122"/>
              </a:rPr>
              <a:t>保存 model.keras 与 best_model.keras</a:t>
            </a:r>
            <a:endParaRPr sz="11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32520" y="4434840"/>
            <a:ext cx="47548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04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32520" y="4773168"/>
            <a:ext cx="224028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微软雅黑" panose="020B0503020204020204" pitchFamily="34" charset="-122"/>
              </a:rPr>
              <a:t>保存 scaler、label_map、feature_columns，保证部署一致</a:t>
            </a:r>
            <a:endParaRPr sz="11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1440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60704" y="5687568"/>
            <a:ext cx="9866376" cy="4572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779007"/>
            <a:ext cx="96012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微软雅黑" panose="020B0503020204020204" pitchFamily="34" charset="-122"/>
              </a:rPr>
              <a:t>训练脚本的最后一步不是 print accuracy，而是形成一套可复现、可交接、可部署的模型包。</a:t>
            </a:r>
            <a:endParaRPr sz="11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pitchFamily="34" charset="-122"/>
              </a:rPr>
              <a:t>降本实验怎么做：一次只改一个参数</a:t>
            </a:r>
            <a:endParaRPr sz="2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57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1248" y="1207008"/>
            <a:ext cx="18288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微软雅黑" panose="020B0503020204020204" pitchFamily="34" charset="-122"/>
              </a:rPr>
              <a:t>代码骨架</a:t>
            </a:r>
            <a:endParaRPr sz="12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572768"/>
            <a:ext cx="6537960" cy="3794760"/>
          </a:xfrm>
          <a:prstGeom prst="roundRect">
            <a:avLst>
              <a:gd name="adj" fmla="val 3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737360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07008" y="1737360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9888" y="1737360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048256"/>
            <a:ext cx="6035040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BF2FA"/>
                </a:solidFill>
                <a:latin typeface="Consolas" panose="020B0609020204030204"/>
              </a:rPr>
              <a:t># 基线实验
python day14_model_training_validation.py --backend keras --epochs 60 --hidden1 32 --hidden2 16
# 小模型实验
python day14_model_training_validation.py --backend keras --epochs 60 --hidden1 16 --hidden2 8
# 快速验证实验
python day14_model_training_validation.py --backend keras --epochs 30 --batch-size 64</a:t>
            </a:r>
            <a:endParaRPr sz="1100">
              <a:solidFill>
                <a:srgbClr val="EBF2FA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26679" y="1298448"/>
            <a:ext cx="219456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</a:rPr>
              <a:t>执行顺序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982712" y="1956816"/>
            <a:ext cx="22860" cy="208483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18120" y="1792224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0416" y="1856231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2834639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先跑基线：保持 Day13 推荐结构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818120" y="2359152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416" y="2423160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21040" y="2350008"/>
            <a:ext cx="2834639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再跑小模型：观察参数减少后效果是否还能接受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818120" y="292608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0416" y="299008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21040" y="2916936"/>
            <a:ext cx="2834639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再跑快速验证：减少 epochs 或增大 batch-size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818120" y="349300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0416" y="3557015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21040" y="3483864"/>
            <a:ext cx="2834639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每次只改一个因素，才能判断变化来自哪里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6868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4983" y="5687568"/>
            <a:ext cx="10094976" cy="457200"/>
          </a:xfrm>
          <a:prstGeom prst="roundRect">
            <a:avLst>
              <a:gd name="adj" fmla="val 4000"/>
            </a:avLst>
          </a:prstGeom>
          <a:solidFill>
            <a:srgbClr val="374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779007"/>
            <a:ext cx="98298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EBF2FA"/>
                </a:solidFill>
                <a:latin typeface="微软雅黑" panose="020B0503020204020204" pitchFamily="34" charset="-122"/>
              </a:rPr>
              <a:t>训练降本实验必须可比较：同一份数据、同一套划分、同一个 seed，一次只改一个变量。</a:t>
            </a:r>
            <a:endParaRPr sz="1100" b="1">
              <a:solidFill>
                <a:srgbClr val="EBF2FA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64592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996696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1F3040"/>
                </a:solidFill>
                <a:latin typeface="微软雅黑" panose="020B0503020204020204" pitchFamily="34" charset="-122"/>
              </a:rPr>
              <a:t>实战结果：训练曲线怎么看</a:t>
            </a:r>
            <a:endParaRPr sz="24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042415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58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7" name="Picture 6" descr="training_curv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52828"/>
            <a:ext cx="6995160" cy="279806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09560" y="1325880"/>
            <a:ext cx="3246120" cy="22402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ctr"/>
          <a:lstStyle/>
          <a:p>
            <a:pPr algn="ctr"/>
            <a:r>
              <a:rPr sz="1500" b="1">
                <a:solidFill>
                  <a:srgbClr val="2E75B6"/>
                </a:solidFill>
                <a:latin typeface="微软雅黑" panose="020B0503020204020204" pitchFamily="34" charset="-122"/>
              </a:rPr>
              <a:t>读图顺序</a:t>
            </a:r>
            <a:endParaRPr sz="1500" b="1">
              <a:solidFill>
                <a:srgbClr val="2E75B6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• 左图看 loss：train_loss 和 val_loss 是否下降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• 右图看 accuracy：train_acc 和 val_acc 是否上升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• 两条曲线接近，通常说明过拟合不明显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• 如果 train 很好、val 很差，要回到数据和模型复杂度排查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09560" y="3931920"/>
            <a:ext cx="3246120" cy="100584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rtlCol="0" anchor="ctr"/>
          <a:lstStyle/>
          <a:p>
            <a:pPr algn="ctr"/>
            <a:r>
              <a:rPr sz="1200" b="1">
                <a:solidFill>
                  <a:srgbClr val="ED7D31"/>
                </a:solidFill>
                <a:latin typeface="微软雅黑" panose="020B0503020204020204" pitchFamily="34" charset="-122"/>
              </a:rPr>
              <a:t>记住：</a:t>
            </a:r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训练曲线展示的是过程，不只是最后结果。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64592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996696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1F3040"/>
                </a:solidFill>
                <a:latin typeface="微软雅黑" panose="020B0503020204020204" pitchFamily="34" charset="-122"/>
              </a:rPr>
              <a:t>实战结果：混淆矩阵怎么看</a:t>
            </a:r>
            <a:endParaRPr sz="24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042415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59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7" name="Picture 6" descr="confusion_matri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011" y="1234440"/>
            <a:ext cx="5013297" cy="4434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09560" y="1325880"/>
            <a:ext cx="3246120" cy="22402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ctr"/>
          <a:lstStyle/>
          <a:p>
            <a:pPr algn="ctr"/>
            <a:r>
              <a:rPr sz="1500" b="1">
                <a:solidFill>
                  <a:srgbClr val="2E75B6"/>
                </a:solidFill>
                <a:latin typeface="微软雅黑" panose="020B0503020204020204" pitchFamily="34" charset="-122"/>
              </a:rPr>
              <a:t>读图顺序</a:t>
            </a:r>
            <a:endParaRPr sz="1500" b="1">
              <a:solidFill>
                <a:srgbClr val="2E75B6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• 纵轴是真实类别，横轴是预测类别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• 对角线越大，说明分类越正确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• 非对角线表示模型把某类误判成另一类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• 重点观察 walk 和 stairs 是否互相混淆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09560" y="3931920"/>
            <a:ext cx="3246120" cy="100584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rtlCol="0" anchor="ctr"/>
          <a:lstStyle/>
          <a:p>
            <a:pPr algn="ctr"/>
            <a:r>
              <a:rPr sz="1200" b="1">
                <a:solidFill>
                  <a:srgbClr val="ED7D31"/>
                </a:solidFill>
                <a:latin typeface="微软雅黑" panose="020B0503020204020204" pitchFamily="34" charset="-122"/>
              </a:rPr>
              <a:t>记住：</a:t>
            </a:r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混淆矩阵不是为了展示好看，而是为了定位模型错在哪里。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实战交接：哪些文件进入 Day15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60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微软雅黑" panose="020B0503020204020204" pitchFamily="34" charset="-122"/>
              </a:rPr>
              <a:t>输入</a:t>
            </a:r>
            <a:endParaRPr sz="13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85232" y="141732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70AD47"/>
                </a:solidFill>
                <a:latin typeface="微软雅黑" panose="020B0503020204020204" pitchFamily="34" charset="-122"/>
              </a:rPr>
              <a:t>处理</a:t>
            </a:r>
            <a:endParaRPr sz="13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141732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微软雅黑" panose="020B0503020204020204" pitchFamily="34" charset="-122"/>
              </a:rPr>
              <a:t>输出</a:t>
            </a:r>
            <a:endParaRPr sz="13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2788920"/>
            <a:ext cx="1508760" cy="530352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953512"/>
            <a:ext cx="12801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微软雅黑" panose="020B0503020204020204" pitchFamily="34" charset="-122"/>
              </a:rPr>
              <a:t>model.keras / best_model.keras：Keras 模型</a:t>
            </a:r>
            <a:endParaRPr sz="10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2258568" y="2953512"/>
            <a:ext cx="384048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80" y="2788920"/>
            <a:ext cx="1508760" cy="530352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953512"/>
            <a:ext cx="12801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微软雅黑" panose="020B0503020204020204" pitchFamily="34" charset="-122"/>
              </a:rPr>
              <a:t>scaler.json：部署端归一化参数</a:t>
            </a:r>
            <a:endParaRPr sz="10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407408" y="2953512"/>
            <a:ext cx="384048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74920" y="2788920"/>
            <a:ext cx="1508760" cy="530352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2953512"/>
            <a:ext cx="12801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微软雅黑" panose="020B0503020204020204" pitchFamily="34" charset="-122"/>
              </a:rPr>
              <a:t>label_map.json：输出编号和动作名称</a:t>
            </a:r>
            <a:endParaRPr sz="10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6556248" y="2953512"/>
            <a:ext cx="384048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23760" y="2788920"/>
            <a:ext cx="1508760" cy="530352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2953512"/>
            <a:ext cx="12801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微软雅黑" panose="020B0503020204020204" pitchFamily="34" charset="-122"/>
              </a:rPr>
              <a:t>feature_columns.json：输入特征顺序</a:t>
            </a:r>
            <a:endParaRPr sz="10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8705088" y="2953512"/>
            <a:ext cx="384048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72600" y="2788920"/>
            <a:ext cx="1508760" cy="530352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82328" y="2953512"/>
            <a:ext cx="12801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微软雅黑" panose="020B0503020204020204" pitchFamily="34" charset="-122"/>
              </a:rPr>
              <a:t>training_curves.png：训练过程证据</a:t>
            </a:r>
            <a:endParaRPr sz="10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0120" y="4617720"/>
            <a:ext cx="996696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pitchFamily="34" charset="-122"/>
              </a:rPr>
              <a:t>Day15 量化转换前，先确认模型包完整；否则转换成功也不代表部署可用。</a:t>
            </a:r>
            <a:endParaRPr sz="18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53312"/>
            <a:ext cx="1170432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600" b="1">
                <a:solidFill>
                  <a:srgbClr val="ED7D31"/>
                </a:solidFill>
                <a:latin typeface="微软雅黑" panose="020B0503020204020204" pitchFamily="34" charset="-122"/>
              </a:rPr>
              <a:t>05</a:t>
            </a:r>
            <a:endParaRPr sz="36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01952" y="1353312"/>
            <a:ext cx="8961120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pitchFamily="34" charset="-122"/>
              </a:rPr>
              <a:t>第五部分：验证模型是否可信</a:t>
            </a:r>
            <a:endParaRPr sz="3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38528" y="2267712"/>
            <a:ext cx="841248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0">
                <a:solidFill>
                  <a:srgbClr val="DCE6F1"/>
                </a:solidFill>
                <a:latin typeface="微软雅黑" panose="020B0503020204020204" pitchFamily="34" charset="-122"/>
              </a:rPr>
              <a:t>验证不是看一个 accuracy，而是读懂模型错在哪里。</a:t>
            </a:r>
            <a:endParaRPr sz="1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938528" y="4005072"/>
            <a:ext cx="1888236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29968" y="4096511"/>
            <a:ext cx="502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11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66544" y="4398264"/>
            <a:ext cx="1632204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F3040"/>
                </a:solidFill>
                <a:latin typeface="微软雅黑" panose="020B0503020204020204" pitchFamily="34" charset="-122"/>
              </a:rPr>
              <a:t>概念讲透</a:t>
            </a:r>
            <a:endParaRPr sz="1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3808476" y="4215384"/>
            <a:ext cx="201168" cy="237744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91356" y="4005072"/>
            <a:ext cx="1888236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82796" y="4096511"/>
            <a:ext cx="502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70AD47"/>
                </a:solidFill>
                <a:latin typeface="微软雅黑" panose="020B0503020204020204" pitchFamily="34" charset="-122"/>
              </a:rPr>
              <a:t>02</a:t>
            </a:r>
            <a:endParaRPr sz="11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9372" y="4398264"/>
            <a:ext cx="1632204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F3040"/>
                </a:solidFill>
                <a:latin typeface="微软雅黑" panose="020B0503020204020204" pitchFamily="34" charset="-122"/>
              </a:rPr>
              <a:t>代码能跑</a:t>
            </a:r>
            <a:endParaRPr sz="1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5861304" y="4215384"/>
            <a:ext cx="201168" cy="237744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44184" y="4005072"/>
            <a:ext cx="1888236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5624" y="4096511"/>
            <a:ext cx="502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11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72200" y="4398264"/>
            <a:ext cx="1632204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F3040"/>
                </a:solidFill>
                <a:latin typeface="微软雅黑" panose="020B0503020204020204" pitchFamily="34" charset="-122"/>
              </a:rPr>
              <a:t>结果会看</a:t>
            </a:r>
            <a:endParaRPr sz="1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7914132" y="4215384"/>
            <a:ext cx="201168" cy="237744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97012" y="4005072"/>
            <a:ext cx="1888236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8452" y="4096511"/>
            <a:ext cx="502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70AD47"/>
                </a:solidFill>
                <a:latin typeface="微软雅黑" panose="020B0503020204020204" pitchFamily="34" charset="-122"/>
              </a:rPr>
              <a:t>04</a:t>
            </a:r>
            <a:endParaRPr sz="11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5028" y="4398264"/>
            <a:ext cx="1632204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F3040"/>
                </a:solidFill>
                <a:latin typeface="微软雅黑" panose="020B0503020204020204" pitchFamily="34" charset="-122"/>
              </a:rPr>
              <a:t>问题能改</a:t>
            </a:r>
            <a:endParaRPr sz="1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" y="6263640"/>
            <a:ext cx="45720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DCE6F1"/>
                </a:solidFill>
                <a:latin typeface="微软雅黑" panose="020B0503020204020204" pitchFamily="34" charset="-122"/>
              </a:rPr>
              <a:t>Day14 模型训练与验证</a:t>
            </a:r>
            <a:endParaRPr sz="11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835640" y="6263640"/>
            <a:ext cx="59436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100" b="0">
                <a:solidFill>
                  <a:srgbClr val="DCE6F1"/>
                </a:solidFill>
                <a:latin typeface="微软雅黑" panose="020B0503020204020204" pitchFamily="34" charset="-122"/>
              </a:rPr>
              <a:t>61</a:t>
            </a:r>
            <a:endParaRPr sz="11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完整评估报告应该包含什么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62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54480" y="138988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总体 accuracy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02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54480" y="262432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每类 precision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54480" y="385876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每类 recall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72200" y="137160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04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0" y="138988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每类 F1-score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72200" y="260604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05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0" y="262432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混淆矩阵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72200" y="384048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06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0" y="385876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训练曲线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285232"/>
            <a:ext cx="987552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2E75B6"/>
                </a:solidFill>
                <a:latin typeface="微软雅黑" panose="020B0503020204020204" pitchFamily="34" charset="-122"/>
              </a:rPr>
              <a:t>评估报告的目标是帮助我们做工程决策，而不是只证明模型很好。</a:t>
            </a:r>
            <a:endParaRPr sz="15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64592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996696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1F3040"/>
                </a:solidFill>
                <a:latin typeface="微软雅黑" panose="020B0503020204020204" pitchFamily="34" charset="-122"/>
              </a:rPr>
              <a:t>混淆矩阵怎么看</a:t>
            </a:r>
            <a:endParaRPr sz="24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042415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63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7" name="Picture 6" descr="day14_confusion_matri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386" y="1234440"/>
            <a:ext cx="6140547" cy="4434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09560" y="1325880"/>
            <a:ext cx="3246120" cy="22402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ctr"/>
          <a:lstStyle/>
          <a:p>
            <a:pPr algn="ctr"/>
            <a:r>
              <a:rPr sz="1500" b="1">
                <a:solidFill>
                  <a:srgbClr val="2E75B6"/>
                </a:solidFill>
                <a:latin typeface="微软雅黑" panose="020B0503020204020204" pitchFamily="34" charset="-122"/>
              </a:rPr>
              <a:t>读图顺序</a:t>
            </a:r>
            <a:endParaRPr sz="1500" b="1">
              <a:solidFill>
                <a:srgbClr val="2E75B6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• 行：真实类别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• 列：预测类别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• 主对角线：预测正确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• 非对角线：预测错误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09560" y="3931920"/>
            <a:ext cx="3246120" cy="100584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rtlCol="0" anchor="ctr"/>
          <a:lstStyle/>
          <a:p>
            <a:pPr algn="ctr"/>
            <a:r>
              <a:rPr sz="1200" b="1">
                <a:solidFill>
                  <a:srgbClr val="ED7D31"/>
                </a:solidFill>
                <a:latin typeface="微软雅黑" panose="020B0503020204020204" pitchFamily="34" charset="-122"/>
              </a:rPr>
              <a:t>记住：</a:t>
            </a:r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混淆矩阵最适合回答“模型到底把什么动作错认成了什么动作”。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Precision、Recall、F1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64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1248" y="1298448"/>
            <a:ext cx="109728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微软雅黑" panose="020B0503020204020204" pitchFamily="34" charset="-122"/>
              </a:rPr>
              <a:t>概念</a:t>
            </a:r>
            <a:endParaRPr sz="14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92240" y="1298448"/>
            <a:ext cx="14630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70AD47"/>
                </a:solidFill>
                <a:latin typeface="微软雅黑" panose="020B0503020204020204" pitchFamily="34" charset="-122"/>
              </a:rPr>
              <a:t>本 case</a:t>
            </a:r>
            <a:endParaRPr sz="14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1847088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764792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Precision：预测成某类时，有多少是真的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2322575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240279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Recall：真实某类中，有多少被找出来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14400" y="2798064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715768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F1：precision 和 recall 的综合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4400" y="3273551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191256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三者都要按类别看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537960" y="18470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9128" y="1764792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walk precision 低：很多别的动作被误判为 walk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537960" y="2322575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2240279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walk recall 低：很多 walk 没被识别出来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537960" y="2798064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2715768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F1 低：该类别整体不可靠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537960" y="3273551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3191256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平均值不能替代逐类分析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14400" y="557784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0704" y="5577840"/>
            <a:ext cx="9866376" cy="4572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669279"/>
            <a:ext cx="96012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微软雅黑" panose="020B0503020204020204" pitchFamily="34" charset="-122"/>
              </a:rPr>
              <a:t>对动作识别来说，recall 很关键，因为漏识别某个动作会直接影响体验。</a:t>
            </a:r>
            <a:endParaRPr sz="11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本 case 中每类指标怎么解读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65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54480" y="138988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idle：应当最稳定，误报太多会影响体验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02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54480" y="262432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walk：样本通常较多，要防止吃掉 stairs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54480" y="385876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stairs：最容易和 walk 混淆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72200" y="137160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04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0" y="138988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每类都要看 recall 和混淆方向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72200" y="260604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05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0" y="262432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idle 错成 walk：静止时误触发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72200" y="384048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06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0" y="385876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walk 错成 stairs：走路被误认为上楼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285232"/>
            <a:ext cx="987552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2E75B6"/>
                </a:solidFill>
                <a:latin typeface="微软雅黑" panose="020B0503020204020204" pitchFamily="34" charset="-122"/>
              </a:rPr>
              <a:t>同样是错误，错误方向不同，工程影响也不同。</a:t>
            </a:r>
            <a:endParaRPr sz="15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pitchFamily="34" charset="-122"/>
              </a:rPr>
              <a:t>错误样本分析：不要只看汇总数字</a:t>
            </a:r>
            <a:endParaRPr sz="2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66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9326880" cy="9875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pitchFamily="34" charset="-122"/>
              </a:rPr>
              <a:t>错误样本是模型改进的入口，不是失败的证据。</a:t>
            </a:r>
            <a:endParaRPr sz="24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70432" y="2770632"/>
            <a:ext cx="22860" cy="378561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60604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67004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8760" y="2596896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找出预测错误的窗口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05840" y="317296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323697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8760" y="3163824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查看原始时间段和标签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05840" y="373989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3803904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8760" y="3730752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结合 Day12 可视化图判断原因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05840" y="430682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370832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08760" y="4297680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区分数据问题和模型问题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005840" y="4873752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136" y="4937760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5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08760" y="4864608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标签是否标错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005840" y="5440680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" y="550468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6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08760" y="5431536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动作边界是否混入过渡段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1005840" y="6007608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" y="607161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7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08760" y="5998464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传感器是否松动或异常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实验对比：一次只改一个因素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67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1248" y="1298448"/>
            <a:ext cx="109728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微软雅黑" panose="020B0503020204020204" pitchFamily="34" charset="-122"/>
              </a:rPr>
              <a:t>概念</a:t>
            </a:r>
            <a:endParaRPr sz="14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92240" y="1298448"/>
            <a:ext cx="14630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70AD47"/>
                </a:solidFill>
                <a:latin typeface="微软雅黑" panose="020B0503020204020204" pitchFamily="34" charset="-122"/>
              </a:rPr>
              <a:t>本 case</a:t>
            </a:r>
            <a:endParaRPr sz="14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1847088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764792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实验 A：只用时域特征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2322575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240279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实验 B：时域 + 少量频域特征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14400" y="2798064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715768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实验 C：全部特征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4400" y="3273551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191256"/>
            <a:ext cx="4416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实验 D：调整 MLP 大小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537960" y="184708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9128" y="1764792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记录输入维度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537960" y="2322575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2240279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记录参数量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537960" y="2798064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2715768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记录 accuracy / recall / F1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537960" y="3273551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3191256"/>
            <a:ext cx="414223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记录模型大小和训练曲线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14400" y="557784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0704" y="5577840"/>
            <a:ext cx="9866376" cy="4572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669279"/>
            <a:ext cx="96012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微软雅黑" panose="020B0503020204020204" pitchFamily="34" charset="-122"/>
              </a:rPr>
              <a:t>没有对比记录，就无法知道改进来自哪里。</a:t>
            </a:r>
            <a:endParaRPr sz="11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置信度与连续窗口稳定性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68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54480" y="138988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Softmax 最大概率可作为置信度参考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02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54480" y="262432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概率很接近时说明模型不确定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54480" y="385876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连续窗口输出可能抖动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72200" y="137160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04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0" y="138988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部署端可以加入投票或平滑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72200" y="260604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微软雅黑" panose="020B0503020204020204" pitchFamily="34" charset="-122"/>
              </a:rPr>
              <a:t>05</a:t>
            </a:r>
            <a:endParaRPr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0" y="262432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0.95：模型很确定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72200" y="3840480"/>
            <a:ext cx="5486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微软雅黑" panose="020B0503020204020204" pitchFamily="34" charset="-122"/>
              </a:rPr>
              <a:t>06</a:t>
            </a:r>
            <a:endParaRPr sz="20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0" y="3858768"/>
            <a:ext cx="41148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1F3040"/>
                </a:solidFill>
                <a:latin typeface="微软雅黑" panose="020B0503020204020204" pitchFamily="34" charset="-122"/>
              </a:rPr>
              <a:t>0.42/0.38：类别边界模糊</a:t>
            </a:r>
            <a:endParaRPr sz="14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285232"/>
            <a:ext cx="987552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2E75B6"/>
                </a:solidFill>
                <a:latin typeface="微软雅黑" panose="020B0503020204020204" pitchFamily="34" charset="-122"/>
              </a:rPr>
              <a:t>模型验证不仅看单个窗口，还要考虑连续输出的工程体验。</a:t>
            </a:r>
            <a:endParaRPr sz="15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pitchFamily="34" charset="-122"/>
              </a:rPr>
              <a:t>模型什么时候算通过 Day14</a:t>
            </a:r>
            <a:endParaRPr sz="2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69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1248" y="1417320"/>
            <a:ext cx="7223760" cy="11430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微软雅黑" panose="020B0503020204020204" pitchFamily="34" charset="-122"/>
              </a:rPr>
              <a:t>Day14 通过标准不是“训练成功”，而是“训练结果可解释、可复现、可进入下一步”。</a:t>
            </a:r>
            <a:endParaRPr sz="25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96112" y="2816352"/>
            <a:ext cx="420624" cy="310896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62072"/>
            <a:ext cx="21945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81328" y="2798064"/>
            <a:ext cx="80467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EBF2FA"/>
                </a:solidFill>
                <a:latin typeface="微软雅黑" panose="020B0503020204020204" pitchFamily="34" charset="-122"/>
              </a:rPr>
              <a:t>测试集总体 accuracy 达到项目要求</a:t>
            </a:r>
            <a:endParaRPr sz="1500" b="0">
              <a:solidFill>
                <a:srgbClr val="EBF2F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96112" y="3319272"/>
            <a:ext cx="420624" cy="310896"/>
          </a:xfrm>
          <a:prstGeom prst="roundRect">
            <a:avLst>
              <a:gd name="adj" fmla="val 6000"/>
            </a:avLst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364991"/>
            <a:ext cx="21945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81328" y="3300984"/>
            <a:ext cx="80467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EBF2FA"/>
                </a:solidFill>
                <a:latin typeface="微软雅黑" panose="020B0503020204020204" pitchFamily="34" charset="-122"/>
              </a:rPr>
              <a:t>每类 recall 没有明显短板</a:t>
            </a:r>
            <a:endParaRPr sz="1500" b="0">
              <a:solidFill>
                <a:srgbClr val="EBF2F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96112" y="3822191"/>
            <a:ext cx="420624" cy="310896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867911"/>
            <a:ext cx="21945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81328" y="3803904"/>
            <a:ext cx="80467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EBF2FA"/>
                </a:solidFill>
                <a:latin typeface="微软雅黑" panose="020B0503020204020204" pitchFamily="34" charset="-122"/>
              </a:rPr>
              <a:t>混淆矩阵错误方向可解释</a:t>
            </a:r>
            <a:endParaRPr sz="1500" b="0">
              <a:solidFill>
                <a:srgbClr val="EBF2F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96112" y="4325112"/>
            <a:ext cx="420624" cy="310896"/>
          </a:xfrm>
          <a:prstGeom prst="roundRect">
            <a:avLst>
              <a:gd name="adj" fmla="val 6000"/>
            </a:avLst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370831"/>
            <a:ext cx="21945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81328" y="4306824"/>
            <a:ext cx="80467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EBF2FA"/>
                </a:solidFill>
                <a:latin typeface="微软雅黑" panose="020B0503020204020204" pitchFamily="34" charset="-122"/>
              </a:rPr>
              <a:t>训练曲线没有明显过拟合</a:t>
            </a:r>
            <a:endParaRPr sz="1500" b="0">
              <a:solidFill>
                <a:srgbClr val="EBF2F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6112" y="4828031"/>
            <a:ext cx="420624" cy="310896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873751"/>
            <a:ext cx="21945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5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81328" y="4809744"/>
            <a:ext cx="80467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EBF2FA"/>
                </a:solidFill>
                <a:latin typeface="微软雅黑" panose="020B0503020204020204" pitchFamily="34" charset="-122"/>
              </a:rPr>
              <a:t>模型文件已保存</a:t>
            </a:r>
            <a:endParaRPr sz="1500" b="0">
              <a:solidFill>
                <a:srgbClr val="EBF2FA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464040" y="1444752"/>
            <a:ext cx="1691640" cy="388620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0072" y="1920240"/>
            <a:ext cx="12344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pitchFamily="34" charset="-122"/>
              </a:rPr>
              <a:t>TinyML</a:t>
            </a:r>
            <a:endParaRPr sz="18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756648" y="2542032"/>
            <a:ext cx="1143000" cy="1691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300" b="1">
                <a:solidFill>
                  <a:srgbClr val="1F3040"/>
                </a:solidFill>
                <a:latin typeface="微软雅黑" panose="020B0503020204020204" pitchFamily="34" charset="-122"/>
              </a:rPr>
              <a:t>数据
训练
验证
部署</a:t>
            </a:r>
            <a:endParaRPr sz="23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pitchFamily="34" charset="-122"/>
              </a:rPr>
              <a:t>模型效果不好时先改什么</a:t>
            </a:r>
            <a:endParaRPr sz="2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70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1248" y="1417320"/>
            <a:ext cx="7223760" cy="11430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微软雅黑" panose="020B0503020204020204" pitchFamily="34" charset="-122"/>
              </a:rPr>
              <a:t>大多数小模型问题，根源不在网络层数，而在数据和流程。</a:t>
            </a:r>
            <a:endParaRPr sz="25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96112" y="2816352"/>
            <a:ext cx="420624" cy="310896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62072"/>
            <a:ext cx="21945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81328" y="2798064"/>
            <a:ext cx="80467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EBF2FA"/>
                </a:solidFill>
                <a:latin typeface="微软雅黑" panose="020B0503020204020204" pitchFamily="34" charset="-122"/>
              </a:rPr>
              <a:t>第一优先：检查数据和标签</a:t>
            </a:r>
            <a:endParaRPr sz="1500" b="0">
              <a:solidFill>
                <a:srgbClr val="EBF2F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96112" y="3319272"/>
            <a:ext cx="420624" cy="310896"/>
          </a:xfrm>
          <a:prstGeom prst="roundRect">
            <a:avLst>
              <a:gd name="adj" fmla="val 6000"/>
            </a:avLst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364991"/>
            <a:ext cx="21945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81328" y="3300984"/>
            <a:ext cx="80467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EBF2FA"/>
                </a:solidFill>
                <a:latin typeface="微软雅黑" panose="020B0503020204020204" pitchFamily="34" charset="-122"/>
              </a:rPr>
              <a:t>第二优先：检查特征工程</a:t>
            </a:r>
            <a:endParaRPr sz="1500" b="0">
              <a:solidFill>
                <a:srgbClr val="EBF2F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96112" y="3822191"/>
            <a:ext cx="420624" cy="310896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867911"/>
            <a:ext cx="21945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81328" y="3803904"/>
            <a:ext cx="80467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EBF2FA"/>
                </a:solidFill>
                <a:latin typeface="微软雅黑" panose="020B0503020204020204" pitchFamily="34" charset="-122"/>
              </a:rPr>
              <a:t>第三优先：检查划分和归一化</a:t>
            </a:r>
            <a:endParaRPr sz="1500" b="0">
              <a:solidFill>
                <a:srgbClr val="EBF2F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96112" y="4325112"/>
            <a:ext cx="420624" cy="310896"/>
          </a:xfrm>
          <a:prstGeom prst="roundRect">
            <a:avLst>
              <a:gd name="adj" fmla="val 6000"/>
            </a:avLst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370831"/>
            <a:ext cx="21945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81328" y="4306824"/>
            <a:ext cx="80467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EBF2FA"/>
                </a:solidFill>
                <a:latin typeface="微软雅黑" panose="020B0503020204020204" pitchFamily="34" charset="-122"/>
              </a:rPr>
              <a:t>第四优先：再调整模型结构</a:t>
            </a:r>
            <a:endParaRPr sz="1500" b="0">
              <a:solidFill>
                <a:srgbClr val="EBF2F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6112" y="4828031"/>
            <a:ext cx="420624" cy="310896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873751"/>
            <a:ext cx="21945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5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81328" y="4809744"/>
            <a:ext cx="80467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EBF2FA"/>
                </a:solidFill>
                <a:latin typeface="微软雅黑" panose="020B0503020204020204" pitchFamily="34" charset="-122"/>
              </a:rPr>
              <a:t>不要一上来加深网络</a:t>
            </a:r>
            <a:endParaRPr sz="1500" b="0">
              <a:solidFill>
                <a:srgbClr val="EBF2FA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464040" y="1444752"/>
            <a:ext cx="1691640" cy="388620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0072" y="1920240"/>
            <a:ext cx="12344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pitchFamily="34" charset="-122"/>
              </a:rPr>
              <a:t>TinyML</a:t>
            </a:r>
            <a:endParaRPr sz="18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756648" y="2542032"/>
            <a:ext cx="1143000" cy="1691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300" b="1">
                <a:solidFill>
                  <a:srgbClr val="1F3040"/>
                </a:solidFill>
                <a:latin typeface="微软雅黑" panose="020B0503020204020204" pitchFamily="34" charset="-122"/>
              </a:rPr>
              <a:t>数据
训练
验证
部署</a:t>
            </a:r>
            <a:endParaRPr sz="23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53312"/>
            <a:ext cx="1170432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600" b="1">
                <a:solidFill>
                  <a:srgbClr val="ED7D31"/>
                </a:solidFill>
                <a:latin typeface="微软雅黑" panose="020B0503020204020204" pitchFamily="34" charset="-122"/>
              </a:rPr>
              <a:t>06</a:t>
            </a:r>
            <a:endParaRPr sz="36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01952" y="1353312"/>
            <a:ext cx="8961120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pitchFamily="34" charset="-122"/>
              </a:rPr>
              <a:t>第六部分：进入 Day15 前的准备</a:t>
            </a:r>
            <a:endParaRPr sz="3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38528" y="2267712"/>
            <a:ext cx="841248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0">
                <a:solidFill>
                  <a:srgbClr val="DCE6F1"/>
                </a:solidFill>
                <a:latin typeface="微软雅黑" panose="020B0503020204020204" pitchFamily="34" charset="-122"/>
              </a:rPr>
              <a:t>训练验证完成后，要把模型和配套信息整理成可量化、可转换的状态。</a:t>
            </a:r>
            <a:endParaRPr sz="1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938528" y="4005072"/>
            <a:ext cx="1888236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29968" y="4096511"/>
            <a:ext cx="502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11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66544" y="4398264"/>
            <a:ext cx="1632204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F3040"/>
                </a:solidFill>
                <a:latin typeface="微软雅黑" panose="020B0503020204020204" pitchFamily="34" charset="-122"/>
              </a:rPr>
              <a:t>概念讲透</a:t>
            </a:r>
            <a:endParaRPr sz="1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3808476" y="4215384"/>
            <a:ext cx="201168" cy="237744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91356" y="4005072"/>
            <a:ext cx="1888236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82796" y="4096511"/>
            <a:ext cx="502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70AD47"/>
                </a:solidFill>
                <a:latin typeface="微软雅黑" panose="020B0503020204020204" pitchFamily="34" charset="-122"/>
              </a:rPr>
              <a:t>02</a:t>
            </a:r>
            <a:endParaRPr sz="11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9372" y="4398264"/>
            <a:ext cx="1632204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F3040"/>
                </a:solidFill>
                <a:latin typeface="微软雅黑" panose="020B0503020204020204" pitchFamily="34" charset="-122"/>
              </a:rPr>
              <a:t>代码能跑</a:t>
            </a:r>
            <a:endParaRPr sz="1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5861304" y="4215384"/>
            <a:ext cx="201168" cy="237744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44184" y="4005072"/>
            <a:ext cx="1888236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5624" y="4096511"/>
            <a:ext cx="502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11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72200" y="4398264"/>
            <a:ext cx="1632204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F3040"/>
                </a:solidFill>
                <a:latin typeface="微软雅黑" panose="020B0503020204020204" pitchFamily="34" charset="-122"/>
              </a:rPr>
              <a:t>结果会看</a:t>
            </a:r>
            <a:endParaRPr sz="1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7914132" y="4215384"/>
            <a:ext cx="201168" cy="237744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97012" y="4005072"/>
            <a:ext cx="1888236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8452" y="4096511"/>
            <a:ext cx="502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70AD47"/>
                </a:solidFill>
                <a:latin typeface="微软雅黑" panose="020B0503020204020204" pitchFamily="34" charset="-122"/>
              </a:rPr>
              <a:t>04</a:t>
            </a:r>
            <a:endParaRPr sz="11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5028" y="4398264"/>
            <a:ext cx="1632204" cy="1828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F3040"/>
                </a:solidFill>
                <a:latin typeface="微软雅黑" panose="020B0503020204020204" pitchFamily="34" charset="-122"/>
              </a:rPr>
              <a:t>问题能改</a:t>
            </a:r>
            <a:endParaRPr sz="1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" y="6263640"/>
            <a:ext cx="45720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DCE6F1"/>
                </a:solidFill>
                <a:latin typeface="微软雅黑" panose="020B0503020204020204" pitchFamily="34" charset="-122"/>
              </a:rPr>
              <a:t>Day14 模型训练与验证</a:t>
            </a:r>
            <a:endParaRPr sz="11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835640" y="6263640"/>
            <a:ext cx="59436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100" b="0">
                <a:solidFill>
                  <a:srgbClr val="DCE6F1"/>
                </a:solidFill>
                <a:latin typeface="微软雅黑" panose="020B0503020204020204" pitchFamily="34" charset="-122"/>
              </a:rPr>
              <a:t>71</a:t>
            </a:r>
            <a:endParaRPr sz="11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pitchFamily="34" charset="-122"/>
              </a:rPr>
              <a:t>训练和部署必须保持一致</a:t>
            </a:r>
            <a:endParaRPr sz="2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微软雅黑" panose="020B0503020204020204" pitchFamily="34" charset="-122"/>
              </a:rPr>
              <a:t>72</a:t>
            </a:r>
            <a:endParaRPr sz="800" b="0">
              <a:solidFill>
                <a:srgbClr val="DCE6F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9326880" cy="9875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pitchFamily="34" charset="-122"/>
              </a:rPr>
              <a:t>模型部署失败，很多时候不是模型坏了，而是输入处理和训练时不一致。</a:t>
            </a:r>
            <a:endParaRPr sz="24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70432" y="2770632"/>
            <a:ext cx="22860" cy="378561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60604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67004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8760" y="2596896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特征列一致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05840" y="317296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323697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8760" y="3163824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特征顺序一致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05840" y="373989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3803904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8760" y="3730752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归一化参数一致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05840" y="430682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370832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08760" y="4297680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标签映射一致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005840" y="4873752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136" y="4937760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5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08760" y="4864608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窗口大小和步长一致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005840" y="5440680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" y="550468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6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08760" y="5431536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Python 中怎么处理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1005840" y="6007608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" y="607161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7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08760" y="5998464"/>
            <a:ext cx="90982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pitchFamily="34" charset="-122"/>
              </a:rPr>
              <a:t>MCU 中也要怎么处理</a:t>
            </a:r>
            <a:endParaRPr sz="12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交给 Day15 的文件清单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73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16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97180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model.keras 或 model.h5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8680" y="2532888"/>
            <a:ext cx="2788920" cy="22860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41732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微软雅黑" panose="020B0503020204020204" pitchFamily="34" charset="-122"/>
              </a:rPr>
              <a:t>02</a:t>
            </a:r>
            <a:endParaRPr sz="16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0" y="1783080"/>
            <a:ext cx="297180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scaler.json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89120" y="2532888"/>
            <a:ext cx="2788920" cy="22860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41732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16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09560" y="1783080"/>
            <a:ext cx="297180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label_map.json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909560" y="2532888"/>
            <a:ext cx="2788920" cy="22860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6324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微软雅黑" panose="020B0503020204020204" pitchFamily="34" charset="-122"/>
              </a:rPr>
              <a:t>04</a:t>
            </a:r>
            <a:endParaRPr sz="16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680" y="3429000"/>
            <a:ext cx="297180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feature_columns.json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68680" y="4178808"/>
            <a:ext cx="2788920" cy="22860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06324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微软雅黑" panose="020B0503020204020204" pitchFamily="34" charset="-122"/>
              </a:rPr>
              <a:t>05</a:t>
            </a:r>
            <a:endParaRPr sz="16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89120" y="3429000"/>
            <a:ext cx="297180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metrics.json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89120" y="4178808"/>
            <a:ext cx="2788920" cy="22860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306324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微软雅黑" panose="020B0503020204020204" pitchFamily="34" charset="-122"/>
              </a:rPr>
              <a:t>06</a:t>
            </a:r>
            <a:endParaRPr sz="16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09560" y="3429000"/>
            <a:ext cx="297180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confusion_matrix.png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909560" y="4178808"/>
            <a:ext cx="2788920" cy="22860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5596128"/>
            <a:ext cx="73152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0704" y="5596128"/>
            <a:ext cx="9866376" cy="4572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687568"/>
            <a:ext cx="96012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微软雅黑" panose="020B0503020204020204" pitchFamily="34" charset="-122"/>
              </a:rPr>
              <a:t>Day15 只应该量化验证通过的模型，不应该重新猜训练参数。</a:t>
            </a:r>
            <a:endParaRPr sz="11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常见问题与排查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74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219456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微软雅黑" panose="020B0503020204020204" pitchFamily="34" charset="-122"/>
              </a:rPr>
              <a:t>按顺序检查</a:t>
            </a:r>
            <a:endParaRPr sz="16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24712" y="1920240"/>
            <a:ext cx="22860" cy="378561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755648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81965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3040" y="1746504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loss 不下降：检查标签、归一化、学习率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60120" y="2322576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2386584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3040" y="2313432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val_accuracy 很低：检查划分和过拟合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60120" y="2889504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2953512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63040" y="2880360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某一类 recall 很低：检查类别数据和特征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60120" y="3456432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3520439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63040" y="3447288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训练结果每次差异大：固定随机种子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60120" y="402336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408736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5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63040" y="4014216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出现 NaN：检查输入是否有空值或无穷大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960120" y="459028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65429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6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63040" y="4581144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模型很大：减少特征或隐藏层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960120" y="515721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5221224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7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63040" y="5148072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验证很好部署差：检查前处理一致性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14400" y="5596128"/>
            <a:ext cx="73152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60704" y="5596128"/>
            <a:ext cx="9866376" cy="4572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687568"/>
            <a:ext cx="96012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微软雅黑" panose="020B0503020204020204" pitchFamily="34" charset="-122"/>
              </a:rPr>
              <a:t>排查模型问题时，要先定位问题类型，再选择解决动作。</a:t>
            </a:r>
            <a:endParaRPr sz="11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Day14 完整闭环回顾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75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微软雅黑" panose="020B0503020204020204" pitchFamily="34" charset="-122"/>
              </a:rPr>
              <a:t>输入</a:t>
            </a:r>
            <a:endParaRPr sz="13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85232" y="141732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70AD47"/>
                </a:solidFill>
                <a:latin typeface="微软雅黑" panose="020B0503020204020204" pitchFamily="34" charset="-122"/>
              </a:rPr>
              <a:t>处理</a:t>
            </a:r>
            <a:endParaRPr sz="13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141732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微软雅黑" panose="020B0503020204020204" pitchFamily="34" charset="-122"/>
              </a:rPr>
              <a:t>输出</a:t>
            </a:r>
            <a:endParaRPr sz="13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2788920"/>
            <a:ext cx="1508760" cy="530352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953512"/>
            <a:ext cx="12801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微软雅黑" panose="020B0503020204020204" pitchFamily="34" charset="-122"/>
              </a:rPr>
              <a:t>读取 features_all.csv</a:t>
            </a:r>
            <a:endParaRPr sz="10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2258568" y="2953512"/>
            <a:ext cx="384048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80" y="2788920"/>
            <a:ext cx="1508760" cy="530352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953512"/>
            <a:ext cx="12801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微软雅黑" panose="020B0503020204020204" pitchFamily="34" charset="-122"/>
              </a:rPr>
              <a:t>选择特征列，编码标签</a:t>
            </a:r>
            <a:endParaRPr sz="10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407408" y="2953512"/>
            <a:ext cx="384048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74920" y="2788920"/>
            <a:ext cx="1508760" cy="530352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2953512"/>
            <a:ext cx="12801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微软雅黑" panose="020B0503020204020204" pitchFamily="34" charset="-122"/>
              </a:rPr>
              <a:t>划分训练/验证/测试</a:t>
            </a:r>
            <a:endParaRPr sz="10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6556248" y="2953512"/>
            <a:ext cx="384048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23760" y="2788920"/>
            <a:ext cx="1508760" cy="530352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2953512"/>
            <a:ext cx="12801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微软雅黑" panose="020B0503020204020204" pitchFamily="34" charset="-122"/>
              </a:rPr>
              <a:t>只用训练集拟合 scaler</a:t>
            </a:r>
            <a:endParaRPr sz="10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8705088" y="2953512"/>
            <a:ext cx="384048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72600" y="2788920"/>
            <a:ext cx="1508760" cy="530352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82328" y="2953512"/>
            <a:ext cx="12801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微软雅黑" panose="020B0503020204020204" pitchFamily="34" charset="-122"/>
              </a:rPr>
              <a:t>训练 MLP</a:t>
            </a:r>
            <a:endParaRPr sz="10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0120" y="4617720"/>
            <a:ext cx="996696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pitchFamily="34" charset="-122"/>
              </a:rPr>
              <a:t>从数据到模型，再到评估结论，这才是一节完整的模型训练与验证课。</a:t>
            </a:r>
            <a:endParaRPr sz="18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课后练习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76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219456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微软雅黑" panose="020B0503020204020204" pitchFamily="34" charset="-122"/>
              </a:rPr>
              <a:t>按顺序检查</a:t>
            </a:r>
            <a:endParaRPr sz="1600" b="1">
              <a:solidFill>
                <a:srgbClr val="2E75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24712" y="1920240"/>
            <a:ext cx="22860" cy="378561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755648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81965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3040" y="1746504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用同一份 features_all.csv 训练第一版 MLP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60120" y="2322576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2386584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3040" y="2313432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记录训练曲线和混淆矩阵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60120" y="2889504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2953512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63040" y="2880360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分别比较只用时域特征和全部特征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60120" y="3456432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3520439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63040" y="3447288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找出 walk 与 stairs 的错误样本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60120" y="402336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4087368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5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63040" y="4014216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写出模型是否通过的理由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960120" y="459028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654296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6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63040" y="4581144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记录模型文件和 scaler 文件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960120" y="515721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5221224"/>
            <a:ext cx="164592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pitchFamily="34" charset="-122"/>
              </a:rPr>
              <a:t>7</a:t>
            </a:r>
            <a:endParaRPr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63040" y="5148072"/>
            <a:ext cx="9372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微软雅黑" panose="020B0503020204020204" pitchFamily="34" charset="-122"/>
              </a:rPr>
              <a:t>思考哪些特征部署端最容易复现</a:t>
            </a:r>
            <a:endParaRPr sz="12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14400" y="5596128"/>
            <a:ext cx="73152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60704" y="5596128"/>
            <a:ext cx="9866376" cy="4572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687568"/>
            <a:ext cx="96012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微软雅黑" panose="020B0503020204020204" pitchFamily="34" charset="-122"/>
              </a:rPr>
              <a:t>课后练习的重点不是只跑通，而是能解释训练结果。</a:t>
            </a:r>
            <a:endParaRPr sz="11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F3040"/>
                </a:solidFill>
                <a:latin typeface="微软雅黑" panose="020B0503020204020204" pitchFamily="34" charset="-122"/>
              </a:rPr>
              <a:t>本节课总结</a:t>
            </a:r>
            <a:endParaRPr sz="22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Day14 模型训练与验证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 panose="020B0503020204020204" pitchFamily="34" charset="-122"/>
              </a:rPr>
              <a:t>77</a:t>
            </a:r>
            <a:endParaRPr sz="800" b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16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97180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Day14 承接 Day13 完成训练与验证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8680" y="2532888"/>
            <a:ext cx="2788920" cy="22860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41732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微软雅黑" panose="020B0503020204020204" pitchFamily="34" charset="-122"/>
              </a:rPr>
              <a:t>02</a:t>
            </a:r>
            <a:endParaRPr sz="16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0" y="1783080"/>
            <a:ext cx="297180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Day13 负责设计，Day14 负责训练与验证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89120" y="2532888"/>
            <a:ext cx="2788920" cy="22860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41732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16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09560" y="1783080"/>
            <a:ext cx="297180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训练前必须准备好 X、y、划分和归一化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909560" y="2532888"/>
            <a:ext cx="2788920" cy="22860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6324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微软雅黑" panose="020B0503020204020204" pitchFamily="34" charset="-122"/>
              </a:rPr>
              <a:t>04</a:t>
            </a:r>
            <a:endParaRPr sz="16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680" y="3429000"/>
            <a:ext cx="297180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验证必须看曲线、混淆矩阵和分类报告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68680" y="4178808"/>
            <a:ext cx="2788920" cy="22860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06324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微软雅黑" panose="020B0503020204020204" pitchFamily="34" charset="-122"/>
              </a:rPr>
              <a:t>05</a:t>
            </a:r>
            <a:endParaRPr sz="16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89120" y="3429000"/>
            <a:ext cx="297180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不要只看 accuracy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89120" y="4178808"/>
            <a:ext cx="2788920" cy="22860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306324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微软雅黑" panose="020B0503020204020204" pitchFamily="34" charset="-122"/>
              </a:rPr>
              <a:t>06</a:t>
            </a:r>
            <a:endParaRPr sz="16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09560" y="3429000"/>
            <a:ext cx="297180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微软雅黑" panose="020B0503020204020204" pitchFamily="34" charset="-122"/>
              </a:rPr>
              <a:t>不要让数据泄漏污染结果</a:t>
            </a:r>
            <a:endParaRPr sz="1300" b="0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909560" y="4178808"/>
            <a:ext cx="2788920" cy="22860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5596128"/>
            <a:ext cx="73152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0704" y="5596128"/>
            <a:ext cx="9866376" cy="4572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687568"/>
            <a:ext cx="96012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微软雅黑" panose="020B0503020204020204" pitchFamily="34" charset="-122"/>
              </a:rPr>
              <a:t>一个可部署模型，不只是训练出来的文件，而是一整套可复现的工程闭环。</a:t>
            </a:r>
            <a:endParaRPr sz="1100" b="1">
              <a:solidFill>
                <a:srgbClr val="1F304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18333</Words>
  <Application>WPS 演示</Application>
  <PresentationFormat>宽屏</PresentationFormat>
  <Paragraphs>2158</Paragraphs>
  <Slides>78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78</vt:i4>
      </vt:variant>
    </vt:vector>
  </HeadingPairs>
  <TitlesOfParts>
    <vt:vector size="98" baseType="lpstr">
      <vt:lpstr>Arial</vt:lpstr>
      <vt:lpstr>宋体</vt:lpstr>
      <vt:lpstr>Wingdings</vt:lpstr>
      <vt:lpstr>微软雅黑</vt:lpstr>
      <vt:lpstr>微软雅黑 Light</vt:lpstr>
      <vt:lpstr>Calibri</vt:lpstr>
      <vt:lpstr>Open Sans</vt:lpstr>
      <vt:lpstr>Montserrat Bold</vt:lpstr>
      <vt:lpstr>Montserrat</vt:lpstr>
      <vt:lpstr>思源黑体 CN Medium</vt:lpstr>
      <vt:lpstr>字魂58号-创中黑</vt:lpstr>
      <vt:lpstr>Helvetica Neue Medium</vt:lpstr>
      <vt:lpstr>Poppins Light</vt:lpstr>
      <vt:lpstr>OPPOSans L</vt:lpstr>
      <vt:lpstr>等线</vt:lpstr>
      <vt:lpstr>Arial Unicode MS</vt:lpstr>
      <vt:lpstr>Consolas</vt:lpstr>
      <vt:lpstr>Liberation Mono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个人年度任务项规划</dc:title>
  <dc:creator>马超/Chao Ma</dc:creator>
  <cp:lastModifiedBy>贺增甫</cp:lastModifiedBy>
  <cp:revision>483</cp:revision>
  <dcterms:created xsi:type="dcterms:W3CDTF">2024-02-28T02:14:00Z</dcterms:created>
  <dcterms:modified xsi:type="dcterms:W3CDTF">2026-06-24T14:24:36Z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EC3049ED443D4BA69F266D3E5D6CBF38_12</vt:lpwstr>
  </property>
  <property fmtid="{D5CDD505-2E9C-101B-9397-08002B2CF9AE}" pid="3" name="KSOProductBuildVer">
    <vt:lpwstr>2052-12.1.0.26895</vt:lpwstr>
  </property>
</Properties>
</file>