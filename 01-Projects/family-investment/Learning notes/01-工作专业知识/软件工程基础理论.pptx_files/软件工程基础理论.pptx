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5" r:id="rId3"/>
    <p:sldMasterId id="2147483679" r:id="rId4"/>
  </p:sldMasterIdLst>
  <p:notesMasterIdLst>
    <p:notesMasterId r:id="rId49"/>
  </p:notesMasterIdLst>
  <p:handoutMasterIdLst>
    <p:handoutMasterId r:id="rId50"/>
  </p:handoutMasterIdLst>
  <p:sldIdLst>
    <p:sldId id="256" r:id="rId5"/>
    <p:sldId id="267" r:id="rId6"/>
    <p:sldId id="318" r:id="rId7"/>
    <p:sldId id="319" r:id="rId8"/>
    <p:sldId id="320" r:id="rId9"/>
    <p:sldId id="321" r:id="rId10"/>
    <p:sldId id="322" r:id="rId11"/>
    <p:sldId id="323" r:id="rId12"/>
    <p:sldId id="324" r:id="rId13"/>
    <p:sldId id="325" r:id="rId14"/>
    <p:sldId id="270" r:id="rId15"/>
    <p:sldId id="271" r:id="rId16"/>
    <p:sldId id="272" r:id="rId17"/>
    <p:sldId id="274" r:id="rId18"/>
    <p:sldId id="309" r:id="rId19"/>
    <p:sldId id="275" r:id="rId20"/>
    <p:sldId id="276" r:id="rId21"/>
    <p:sldId id="277" r:id="rId22"/>
    <p:sldId id="278" r:id="rId23"/>
    <p:sldId id="310" r:id="rId24"/>
    <p:sldId id="311" r:id="rId25"/>
    <p:sldId id="312" r:id="rId26"/>
    <p:sldId id="326" r:id="rId27"/>
    <p:sldId id="327" r:id="rId28"/>
    <p:sldId id="328" r:id="rId29"/>
    <p:sldId id="329" r:id="rId30"/>
    <p:sldId id="330" r:id="rId31"/>
    <p:sldId id="331" r:id="rId32"/>
    <p:sldId id="332" r:id="rId33"/>
    <p:sldId id="333" r:id="rId34"/>
    <p:sldId id="334" r:id="rId35"/>
    <p:sldId id="313" r:id="rId36"/>
    <p:sldId id="314" r:id="rId37"/>
    <p:sldId id="315" r:id="rId38"/>
    <p:sldId id="316" r:id="rId39"/>
    <p:sldId id="317" r:id="rId40"/>
    <p:sldId id="299" r:id="rId41"/>
    <p:sldId id="300" r:id="rId42"/>
    <p:sldId id="301" r:id="rId43"/>
    <p:sldId id="303" r:id="rId44"/>
    <p:sldId id="304" r:id="rId45"/>
    <p:sldId id="305" r:id="rId46"/>
    <p:sldId id="307" r:id="rId47"/>
    <p:sldId id="260" r:id="rId4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C"/>
    <a:srgbClr val="00B4BE"/>
    <a:srgbClr val="00B2BE"/>
    <a:srgbClr val="00BDC1"/>
    <a:srgbClr val="00A5B2"/>
    <a:srgbClr val="00ACB2"/>
    <a:srgbClr val="0B8FA9"/>
    <a:srgbClr val="00525A"/>
    <a:srgbClr val="FFA500"/>
    <a:srgbClr val="6A83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notesViewPr>
    <p:cSldViewPr snapToObjects="1" showGuides="1">
      <p:cViewPr varScale="1">
        <p:scale>
          <a:sx n="65" d="100"/>
          <a:sy n="65" d="100"/>
        </p:scale>
        <p:origin x="-279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C350DF-DC01-4D05-A070-BBA0B6A8199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zh-CN" altLang="en-US"/>
        </a:p>
      </dgm:t>
    </dgm:pt>
    <dgm:pt modelId="{B882E0D3-8147-462E-BB5A-96E7FC4E8E05}">
      <dgm:prSet phldrT="[文本]" custT="1"/>
      <dgm:spPr>
        <a:solidFill>
          <a:srgbClr val="00B4BE"/>
        </a:solidFill>
      </dgm:spPr>
      <dgm:t>
        <a:bodyPr/>
        <a:lstStyle/>
        <a:p>
          <a:pPr rtl="0"/>
          <a:r>
            <a:rPr lang="zh-CN" altLang="en-US" sz="2800" dirty="0" smtClean="0">
              <a:solidFill>
                <a:schemeClr val="bg1"/>
              </a:solidFill>
              <a:latin typeface="微软雅黑" panose="020B0503020204020204" pitchFamily="34" charset="-122"/>
              <a:ea typeface="微软雅黑" panose="020B0503020204020204" pitchFamily="34" charset="-122"/>
            </a:rPr>
            <a:t>一</a:t>
          </a:r>
          <a:r>
            <a:rPr lang="en-US" altLang="zh-CN" sz="2800" dirty="0" smtClean="0">
              <a:solidFill>
                <a:schemeClr val="bg1"/>
              </a:solidFill>
              <a:latin typeface="微软雅黑" panose="020B0503020204020204" pitchFamily="34" charset="-122"/>
              <a:ea typeface="微软雅黑" panose="020B0503020204020204" pitchFamily="34" charset="-122"/>
            </a:rPr>
            <a:t>. </a:t>
          </a:r>
          <a:r>
            <a:rPr lang="zh-CN" altLang="en-US" sz="2800" dirty="0" smtClean="0">
              <a:solidFill>
                <a:schemeClr val="bg1"/>
              </a:solidFill>
              <a:latin typeface="微软雅黑" panose="020B0503020204020204" pitchFamily="34" charset="-122"/>
              <a:ea typeface="微软雅黑" panose="020B0503020204020204" pitchFamily="34" charset="-122"/>
            </a:rPr>
            <a:t>软件工程的产生和发展</a:t>
          </a:r>
          <a:endParaRPr lang="zh-CN" altLang="en-US" sz="2800" dirty="0">
            <a:solidFill>
              <a:schemeClr val="bg1"/>
            </a:solidFill>
            <a:latin typeface="微软雅黑" panose="020B0503020204020204" pitchFamily="34" charset="-122"/>
            <a:ea typeface="微软雅黑" panose="020B0503020204020204" pitchFamily="34" charset="-122"/>
          </a:endParaRPr>
        </a:p>
      </dgm:t>
    </dgm:pt>
    <dgm:pt modelId="{0F8A4528-FFAF-4875-9682-9D7F5F922447}" type="parTrans" cxnId="{8138E24E-A608-4FEE-A49E-3736D32BD04E}">
      <dgm:prSet/>
      <dgm:spPr/>
      <dgm:t>
        <a:bodyPr/>
        <a:lstStyle/>
        <a:p>
          <a:endParaRPr lang="zh-CN" altLang="en-US"/>
        </a:p>
      </dgm:t>
    </dgm:pt>
    <dgm:pt modelId="{5E48D7DF-6190-4B07-ACE4-559B1D387FFD}" type="sibTrans" cxnId="{8138E24E-A608-4FEE-A49E-3736D32BD04E}">
      <dgm:prSet/>
      <dgm:spPr/>
      <dgm:t>
        <a:bodyPr/>
        <a:lstStyle/>
        <a:p>
          <a:endParaRPr lang="zh-CN" altLang="en-US"/>
        </a:p>
      </dgm:t>
    </dgm:pt>
    <dgm:pt modelId="{834F313E-1AE8-46D5-8688-0358A918E656}">
      <dgm:prSet custT="1"/>
      <dgm:spPr>
        <a:solidFill>
          <a:srgbClr val="00B4BE"/>
        </a:solidFill>
      </dgm:spPr>
      <dgm:t>
        <a:bodyPr/>
        <a:lstStyle/>
        <a:p>
          <a:pPr rtl="0"/>
          <a:r>
            <a:rPr lang="zh-CN" altLang="en-US" sz="2800" dirty="0" smtClean="0">
              <a:latin typeface="微软雅黑" panose="020B0503020204020204" pitchFamily="34" charset="-122"/>
              <a:ea typeface="微软雅黑" panose="020B0503020204020204" pitchFamily="34" charset="-122"/>
            </a:rPr>
            <a:t>二</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软件工程概述</a:t>
          </a:r>
          <a:endParaRPr lang="zh-CN" altLang="en-US" sz="2800" dirty="0">
            <a:latin typeface="微软雅黑" panose="020B0503020204020204" pitchFamily="34" charset="-122"/>
            <a:ea typeface="微软雅黑" panose="020B0503020204020204" pitchFamily="34" charset="-122"/>
          </a:endParaRPr>
        </a:p>
      </dgm:t>
    </dgm:pt>
    <dgm:pt modelId="{5C68E938-271A-468F-92A9-CFBEABB7C2A8}" type="parTrans" cxnId="{EF9AF05B-324C-4F97-8E18-8442E8245D9B}">
      <dgm:prSet/>
      <dgm:spPr/>
      <dgm:t>
        <a:bodyPr/>
        <a:lstStyle/>
        <a:p>
          <a:endParaRPr lang="zh-CN" altLang="en-US"/>
        </a:p>
      </dgm:t>
    </dgm:pt>
    <dgm:pt modelId="{DEACB147-BE70-4DAD-9596-E2278BAC825D}" type="sibTrans" cxnId="{EF9AF05B-324C-4F97-8E18-8442E8245D9B}">
      <dgm:prSet/>
      <dgm:spPr/>
      <dgm:t>
        <a:bodyPr/>
        <a:lstStyle/>
        <a:p>
          <a:endParaRPr lang="zh-CN" altLang="en-US"/>
        </a:p>
      </dgm:t>
    </dgm:pt>
    <dgm:pt modelId="{93D1214E-EC70-4BA2-BE30-CC8B121AD969}">
      <dgm:prSet custT="1"/>
      <dgm:spPr>
        <a:solidFill>
          <a:srgbClr val="00B4BE"/>
        </a:solidFill>
      </dgm:spPr>
      <dgm:t>
        <a:bodyPr/>
        <a:lstStyle/>
        <a:p>
          <a:pPr rtl="0"/>
          <a:r>
            <a:rPr lang="zh-CN" altLang="en-US" sz="2800" dirty="0" smtClean="0">
              <a:latin typeface="微软雅黑" panose="020B0503020204020204" pitchFamily="34" charset="-122"/>
              <a:ea typeface="微软雅黑" panose="020B0503020204020204" pitchFamily="34" charset="-122"/>
            </a:rPr>
            <a:t>四</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软件开发基本策略</a:t>
          </a:r>
          <a:endParaRPr lang="zh-CN" altLang="en-US" sz="2800" dirty="0">
            <a:latin typeface="微软雅黑" panose="020B0503020204020204" pitchFamily="34" charset="-122"/>
            <a:ea typeface="微软雅黑" panose="020B0503020204020204" pitchFamily="34" charset="-122"/>
          </a:endParaRPr>
        </a:p>
      </dgm:t>
    </dgm:pt>
    <dgm:pt modelId="{212F1AA5-4218-415B-A5AD-B93E09DB5BFD}" type="parTrans" cxnId="{FD414446-13F0-4802-AB29-C62056DBEBC0}">
      <dgm:prSet/>
      <dgm:spPr/>
      <dgm:t>
        <a:bodyPr/>
        <a:lstStyle/>
        <a:p>
          <a:endParaRPr lang="zh-CN" altLang="en-US"/>
        </a:p>
      </dgm:t>
    </dgm:pt>
    <dgm:pt modelId="{C95092CA-6287-4977-8F91-E947652A807B}" type="sibTrans" cxnId="{FD414446-13F0-4802-AB29-C62056DBEBC0}">
      <dgm:prSet/>
      <dgm:spPr/>
      <dgm:t>
        <a:bodyPr/>
        <a:lstStyle/>
        <a:p>
          <a:endParaRPr lang="zh-CN" altLang="en-US"/>
        </a:p>
      </dgm:t>
    </dgm:pt>
    <dgm:pt modelId="{759362CE-EAC2-48BD-9268-2D57CDABA1EC}">
      <dgm:prSet custT="1"/>
      <dgm:spPr>
        <a:solidFill>
          <a:srgbClr val="00B4BE"/>
        </a:solidFill>
      </dgm:spPr>
      <dgm:t>
        <a:bodyPr/>
        <a:lstStyle/>
        <a:p>
          <a:pPr rtl="0"/>
          <a:r>
            <a:rPr lang="zh-CN" altLang="en-US" sz="2800" dirty="0" smtClean="0">
              <a:latin typeface="微软雅黑" panose="020B0503020204020204" pitchFamily="34" charset="-122"/>
              <a:ea typeface="微软雅黑" panose="020B0503020204020204" pitchFamily="34" charset="-122"/>
            </a:rPr>
            <a:t>五</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软件测试</a:t>
          </a:r>
          <a:endParaRPr lang="zh-CN" altLang="en-US" sz="2800" dirty="0">
            <a:latin typeface="微软雅黑" panose="020B0503020204020204" pitchFamily="34" charset="-122"/>
            <a:ea typeface="微软雅黑" panose="020B0503020204020204" pitchFamily="34" charset="-122"/>
          </a:endParaRPr>
        </a:p>
      </dgm:t>
    </dgm:pt>
    <dgm:pt modelId="{052CC2E0-5F14-48BD-ADAE-F1576C7E230E}" type="parTrans" cxnId="{D6EB92DE-7EC5-4111-92DA-E631A1B8A3C3}">
      <dgm:prSet/>
      <dgm:spPr/>
      <dgm:t>
        <a:bodyPr/>
        <a:lstStyle/>
        <a:p>
          <a:endParaRPr lang="zh-CN" altLang="en-US"/>
        </a:p>
      </dgm:t>
    </dgm:pt>
    <dgm:pt modelId="{717173DC-A7C9-4064-8605-2D1940B77886}" type="sibTrans" cxnId="{D6EB92DE-7EC5-4111-92DA-E631A1B8A3C3}">
      <dgm:prSet/>
      <dgm:spPr/>
      <dgm:t>
        <a:bodyPr/>
        <a:lstStyle/>
        <a:p>
          <a:endParaRPr lang="zh-CN" altLang="en-US"/>
        </a:p>
      </dgm:t>
    </dgm:pt>
    <dgm:pt modelId="{7BBA1822-B519-43E4-AC7D-1286F90472DB}">
      <dgm:prSet custT="1"/>
      <dgm:spPr>
        <a:solidFill>
          <a:srgbClr val="00B4BE"/>
        </a:solidFill>
      </dgm:spPr>
      <dgm:t>
        <a:bodyPr/>
        <a:lstStyle/>
        <a:p>
          <a:pPr rtl="0"/>
          <a:r>
            <a:rPr lang="zh-CN" altLang="en-US" sz="2800" dirty="0" smtClean="0">
              <a:latin typeface="微软雅黑" panose="020B0503020204020204" pitchFamily="34" charset="-122"/>
              <a:ea typeface="微软雅黑" panose="020B0503020204020204" pitchFamily="34" charset="-122"/>
            </a:rPr>
            <a:t>三</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需求分析</a:t>
          </a:r>
          <a:endParaRPr lang="zh-CN" altLang="en-US" sz="2800" dirty="0">
            <a:latin typeface="微软雅黑" panose="020B0503020204020204" pitchFamily="34" charset="-122"/>
            <a:ea typeface="微软雅黑" panose="020B0503020204020204" pitchFamily="34" charset="-122"/>
          </a:endParaRPr>
        </a:p>
      </dgm:t>
    </dgm:pt>
    <dgm:pt modelId="{574104E4-0368-4633-9D20-5E93E1027F02}" type="parTrans" cxnId="{135C2E7B-B1FA-40DA-8A08-D30FAB2FF141}">
      <dgm:prSet/>
      <dgm:spPr/>
      <dgm:t>
        <a:bodyPr/>
        <a:lstStyle/>
        <a:p>
          <a:endParaRPr lang="zh-CN" altLang="en-US"/>
        </a:p>
      </dgm:t>
    </dgm:pt>
    <dgm:pt modelId="{0EFCF7AA-A57B-4FAF-A68D-2D0714C8A5D9}" type="sibTrans" cxnId="{135C2E7B-B1FA-40DA-8A08-D30FAB2FF141}">
      <dgm:prSet/>
      <dgm:spPr/>
      <dgm:t>
        <a:bodyPr/>
        <a:lstStyle/>
        <a:p>
          <a:endParaRPr lang="zh-CN" altLang="en-US"/>
        </a:p>
      </dgm:t>
    </dgm:pt>
    <dgm:pt modelId="{372CEE3C-EE3A-4484-9F0C-CB322E018F1C}" type="pres">
      <dgm:prSet presAssocID="{F8C350DF-DC01-4D05-A070-BBA0B6A8199F}" presName="linear" presStyleCnt="0">
        <dgm:presLayoutVars>
          <dgm:animLvl val="lvl"/>
          <dgm:resizeHandles val="exact"/>
        </dgm:presLayoutVars>
      </dgm:prSet>
      <dgm:spPr/>
      <dgm:t>
        <a:bodyPr/>
        <a:lstStyle/>
        <a:p>
          <a:endParaRPr lang="zh-CN" altLang="en-US"/>
        </a:p>
      </dgm:t>
    </dgm:pt>
    <dgm:pt modelId="{00A0BE33-CC96-445D-A8A2-C482D3BBE1AF}" type="pres">
      <dgm:prSet presAssocID="{B882E0D3-8147-462E-BB5A-96E7FC4E8E05}" presName="parentText" presStyleLbl="node1" presStyleIdx="0" presStyleCnt="5" custLinFactY="-248671" custLinFactNeighborY="-300000">
        <dgm:presLayoutVars>
          <dgm:chMax val="0"/>
          <dgm:bulletEnabled val="1"/>
        </dgm:presLayoutVars>
      </dgm:prSet>
      <dgm:spPr/>
      <dgm:t>
        <a:bodyPr/>
        <a:lstStyle/>
        <a:p>
          <a:endParaRPr lang="zh-CN" altLang="en-US"/>
        </a:p>
      </dgm:t>
    </dgm:pt>
    <dgm:pt modelId="{FD1A06A6-596F-40A9-8FAB-EF8220A27975}" type="pres">
      <dgm:prSet presAssocID="{5E48D7DF-6190-4B07-ACE4-559B1D387FFD}" presName="spacer" presStyleCnt="0"/>
      <dgm:spPr/>
    </dgm:pt>
    <dgm:pt modelId="{BC3BAD33-EAC1-43E2-822A-47EFCF1A499C}" type="pres">
      <dgm:prSet presAssocID="{834F313E-1AE8-46D5-8688-0358A918E656}" presName="parentText" presStyleLbl="node1" presStyleIdx="1" presStyleCnt="5" custLinFactNeighborY="-47">
        <dgm:presLayoutVars>
          <dgm:chMax val="0"/>
          <dgm:bulletEnabled val="1"/>
        </dgm:presLayoutVars>
      </dgm:prSet>
      <dgm:spPr/>
      <dgm:t>
        <a:bodyPr/>
        <a:lstStyle/>
        <a:p>
          <a:endParaRPr lang="zh-CN" altLang="en-US"/>
        </a:p>
      </dgm:t>
    </dgm:pt>
    <dgm:pt modelId="{CB0290D3-3D68-4637-AE66-1D96EF2F082B}" type="pres">
      <dgm:prSet presAssocID="{DEACB147-BE70-4DAD-9596-E2278BAC825D}" presName="spacer" presStyleCnt="0"/>
      <dgm:spPr/>
    </dgm:pt>
    <dgm:pt modelId="{FDB55205-D60C-4608-8916-05FE3AC90B48}" type="pres">
      <dgm:prSet presAssocID="{7BBA1822-B519-43E4-AC7D-1286F90472DB}" presName="parentText" presStyleLbl="node1" presStyleIdx="2" presStyleCnt="5">
        <dgm:presLayoutVars>
          <dgm:chMax val="0"/>
          <dgm:bulletEnabled val="1"/>
        </dgm:presLayoutVars>
      </dgm:prSet>
      <dgm:spPr/>
      <dgm:t>
        <a:bodyPr/>
        <a:lstStyle/>
        <a:p>
          <a:endParaRPr lang="zh-CN" altLang="en-US"/>
        </a:p>
      </dgm:t>
    </dgm:pt>
    <dgm:pt modelId="{1A36CD5C-F294-42F7-B513-16A1632D50B4}" type="pres">
      <dgm:prSet presAssocID="{0EFCF7AA-A57B-4FAF-A68D-2D0714C8A5D9}" presName="spacer" presStyleCnt="0"/>
      <dgm:spPr/>
    </dgm:pt>
    <dgm:pt modelId="{77B48E14-E7C4-43F4-9F61-BAA0E503593D}" type="pres">
      <dgm:prSet presAssocID="{93D1214E-EC70-4BA2-BE30-CC8B121AD969}" presName="parentText" presStyleLbl="node1" presStyleIdx="3" presStyleCnt="5" custLinFactNeighborY="6851">
        <dgm:presLayoutVars>
          <dgm:chMax val="0"/>
          <dgm:bulletEnabled val="1"/>
        </dgm:presLayoutVars>
      </dgm:prSet>
      <dgm:spPr/>
      <dgm:t>
        <a:bodyPr/>
        <a:lstStyle/>
        <a:p>
          <a:endParaRPr lang="zh-CN" altLang="en-US"/>
        </a:p>
      </dgm:t>
    </dgm:pt>
    <dgm:pt modelId="{0AD68467-A780-4BC6-9FCC-8AFEAFAAA13F}" type="pres">
      <dgm:prSet presAssocID="{C95092CA-6287-4977-8F91-E947652A807B}" presName="spacer" presStyleCnt="0"/>
      <dgm:spPr/>
    </dgm:pt>
    <dgm:pt modelId="{2FF89AE3-8D64-4B87-9D5F-93C53A3BB76E}" type="pres">
      <dgm:prSet presAssocID="{759362CE-EAC2-48BD-9268-2D57CDABA1EC}" presName="parentText" presStyleLbl="node1" presStyleIdx="4" presStyleCnt="5" custLinFactNeighborY="26167">
        <dgm:presLayoutVars>
          <dgm:chMax val="0"/>
          <dgm:bulletEnabled val="1"/>
        </dgm:presLayoutVars>
      </dgm:prSet>
      <dgm:spPr/>
      <dgm:t>
        <a:bodyPr/>
        <a:lstStyle/>
        <a:p>
          <a:endParaRPr lang="zh-CN" altLang="en-US"/>
        </a:p>
      </dgm:t>
    </dgm:pt>
  </dgm:ptLst>
  <dgm:cxnLst>
    <dgm:cxn modelId="{51A9FC06-68ED-496E-8F81-705FABE4297D}" type="presOf" srcId="{759362CE-EAC2-48BD-9268-2D57CDABA1EC}" destId="{2FF89AE3-8D64-4B87-9D5F-93C53A3BB76E}" srcOrd="0" destOrd="0" presId="urn:microsoft.com/office/officeart/2005/8/layout/vList2"/>
    <dgm:cxn modelId="{40645445-6FC3-4C3B-A5E2-451C758600C4}" type="presOf" srcId="{B882E0D3-8147-462E-BB5A-96E7FC4E8E05}" destId="{00A0BE33-CC96-445D-A8A2-C482D3BBE1AF}" srcOrd="0" destOrd="0" presId="urn:microsoft.com/office/officeart/2005/8/layout/vList2"/>
    <dgm:cxn modelId="{A762A4CD-ABE9-4DDC-BE30-8907727A7C7E}" type="presOf" srcId="{F8C350DF-DC01-4D05-A070-BBA0B6A8199F}" destId="{372CEE3C-EE3A-4484-9F0C-CB322E018F1C}" srcOrd="0" destOrd="0" presId="urn:microsoft.com/office/officeart/2005/8/layout/vList2"/>
    <dgm:cxn modelId="{D6EB92DE-7EC5-4111-92DA-E631A1B8A3C3}" srcId="{F8C350DF-DC01-4D05-A070-BBA0B6A8199F}" destId="{759362CE-EAC2-48BD-9268-2D57CDABA1EC}" srcOrd="4" destOrd="0" parTransId="{052CC2E0-5F14-48BD-ADAE-F1576C7E230E}" sibTransId="{717173DC-A7C9-4064-8605-2D1940B77886}"/>
    <dgm:cxn modelId="{FD414446-13F0-4802-AB29-C62056DBEBC0}" srcId="{F8C350DF-DC01-4D05-A070-BBA0B6A8199F}" destId="{93D1214E-EC70-4BA2-BE30-CC8B121AD969}" srcOrd="3" destOrd="0" parTransId="{212F1AA5-4218-415B-A5AD-B93E09DB5BFD}" sibTransId="{C95092CA-6287-4977-8F91-E947652A807B}"/>
    <dgm:cxn modelId="{8138E24E-A608-4FEE-A49E-3736D32BD04E}" srcId="{F8C350DF-DC01-4D05-A070-BBA0B6A8199F}" destId="{B882E0D3-8147-462E-BB5A-96E7FC4E8E05}" srcOrd="0" destOrd="0" parTransId="{0F8A4528-FFAF-4875-9682-9D7F5F922447}" sibTransId="{5E48D7DF-6190-4B07-ACE4-559B1D387FFD}"/>
    <dgm:cxn modelId="{3C9C8875-AABC-4A96-924F-C2CE1F8AEEDB}" type="presOf" srcId="{93D1214E-EC70-4BA2-BE30-CC8B121AD969}" destId="{77B48E14-E7C4-43F4-9F61-BAA0E503593D}" srcOrd="0" destOrd="0" presId="urn:microsoft.com/office/officeart/2005/8/layout/vList2"/>
    <dgm:cxn modelId="{135C2E7B-B1FA-40DA-8A08-D30FAB2FF141}" srcId="{F8C350DF-DC01-4D05-A070-BBA0B6A8199F}" destId="{7BBA1822-B519-43E4-AC7D-1286F90472DB}" srcOrd="2" destOrd="0" parTransId="{574104E4-0368-4633-9D20-5E93E1027F02}" sibTransId="{0EFCF7AA-A57B-4FAF-A68D-2D0714C8A5D9}"/>
    <dgm:cxn modelId="{F621AF1B-E538-4C8C-8D9E-7C881CED593B}" type="presOf" srcId="{834F313E-1AE8-46D5-8688-0358A918E656}" destId="{BC3BAD33-EAC1-43E2-822A-47EFCF1A499C}" srcOrd="0" destOrd="0" presId="urn:microsoft.com/office/officeart/2005/8/layout/vList2"/>
    <dgm:cxn modelId="{EF9AF05B-324C-4F97-8E18-8442E8245D9B}" srcId="{F8C350DF-DC01-4D05-A070-BBA0B6A8199F}" destId="{834F313E-1AE8-46D5-8688-0358A918E656}" srcOrd="1" destOrd="0" parTransId="{5C68E938-271A-468F-92A9-CFBEABB7C2A8}" sibTransId="{DEACB147-BE70-4DAD-9596-E2278BAC825D}"/>
    <dgm:cxn modelId="{6B987587-30BD-4AE1-B165-3F5B46CDEDAC}" type="presOf" srcId="{7BBA1822-B519-43E4-AC7D-1286F90472DB}" destId="{FDB55205-D60C-4608-8916-05FE3AC90B48}" srcOrd="0" destOrd="0" presId="urn:microsoft.com/office/officeart/2005/8/layout/vList2"/>
    <dgm:cxn modelId="{D060B8B1-BB6A-4D86-BBDC-B76BF61421B9}" type="presParOf" srcId="{372CEE3C-EE3A-4484-9F0C-CB322E018F1C}" destId="{00A0BE33-CC96-445D-A8A2-C482D3BBE1AF}" srcOrd="0" destOrd="0" presId="urn:microsoft.com/office/officeart/2005/8/layout/vList2"/>
    <dgm:cxn modelId="{977CA519-461A-4E6D-A253-228CA645FAB4}" type="presParOf" srcId="{372CEE3C-EE3A-4484-9F0C-CB322E018F1C}" destId="{FD1A06A6-596F-40A9-8FAB-EF8220A27975}" srcOrd="1" destOrd="0" presId="urn:microsoft.com/office/officeart/2005/8/layout/vList2"/>
    <dgm:cxn modelId="{28BA7EE7-69ED-4000-89C9-8AC6866B74FD}" type="presParOf" srcId="{372CEE3C-EE3A-4484-9F0C-CB322E018F1C}" destId="{BC3BAD33-EAC1-43E2-822A-47EFCF1A499C}" srcOrd="2" destOrd="0" presId="urn:microsoft.com/office/officeart/2005/8/layout/vList2"/>
    <dgm:cxn modelId="{FD0C237E-1D06-4321-865D-DA1B28404274}" type="presParOf" srcId="{372CEE3C-EE3A-4484-9F0C-CB322E018F1C}" destId="{CB0290D3-3D68-4637-AE66-1D96EF2F082B}" srcOrd="3" destOrd="0" presId="urn:microsoft.com/office/officeart/2005/8/layout/vList2"/>
    <dgm:cxn modelId="{3D07583D-3821-4064-8BC1-2807EF28FF29}" type="presParOf" srcId="{372CEE3C-EE3A-4484-9F0C-CB322E018F1C}" destId="{FDB55205-D60C-4608-8916-05FE3AC90B48}" srcOrd="4" destOrd="0" presId="urn:microsoft.com/office/officeart/2005/8/layout/vList2"/>
    <dgm:cxn modelId="{2B459823-7273-4F01-93AD-D9E3267AB9D0}" type="presParOf" srcId="{372CEE3C-EE3A-4484-9F0C-CB322E018F1C}" destId="{1A36CD5C-F294-42F7-B513-16A1632D50B4}" srcOrd="5" destOrd="0" presId="urn:microsoft.com/office/officeart/2005/8/layout/vList2"/>
    <dgm:cxn modelId="{C857D4DB-726F-43F6-AABB-7929AF8D77C8}" type="presParOf" srcId="{372CEE3C-EE3A-4484-9F0C-CB322E018F1C}" destId="{77B48E14-E7C4-43F4-9F61-BAA0E503593D}" srcOrd="6" destOrd="0" presId="urn:microsoft.com/office/officeart/2005/8/layout/vList2"/>
    <dgm:cxn modelId="{1D61351C-A36E-441F-98C8-D1302E765C41}" type="presParOf" srcId="{372CEE3C-EE3A-4484-9F0C-CB322E018F1C}" destId="{0AD68467-A780-4BC6-9FCC-8AFEAFAAA13F}" srcOrd="7" destOrd="0" presId="urn:microsoft.com/office/officeart/2005/8/layout/vList2"/>
    <dgm:cxn modelId="{0665E620-F985-45CA-9C41-68D304D475FD}" type="presParOf" srcId="{372CEE3C-EE3A-4484-9F0C-CB322E018F1C}" destId="{2FF89AE3-8D64-4B87-9D5F-93C53A3BB76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0BE33-CC96-445D-A8A2-C482D3BBE1AF}">
      <dsp:nvSpPr>
        <dsp:cNvPr id="0" name=""/>
        <dsp:cNvSpPr/>
      </dsp:nvSpPr>
      <dsp:spPr>
        <a:xfrm>
          <a:off x="0" y="0"/>
          <a:ext cx="6264870" cy="973440"/>
        </a:xfrm>
        <a:prstGeom prst="roundRect">
          <a:avLst/>
        </a:prstGeom>
        <a:solidFill>
          <a:srgbClr val="00B4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zh-CN" altLang="en-US" sz="2800" kern="1200" dirty="0" smtClean="0">
              <a:solidFill>
                <a:schemeClr val="bg1"/>
              </a:solidFill>
              <a:latin typeface="微软雅黑" panose="020B0503020204020204" pitchFamily="34" charset="-122"/>
              <a:ea typeface="微软雅黑" panose="020B0503020204020204" pitchFamily="34" charset="-122"/>
            </a:rPr>
            <a:t>一</a:t>
          </a:r>
          <a:r>
            <a:rPr lang="en-US" altLang="zh-CN" sz="2800" kern="1200" dirty="0" smtClean="0">
              <a:solidFill>
                <a:schemeClr val="bg1"/>
              </a:solidFill>
              <a:latin typeface="微软雅黑" panose="020B0503020204020204" pitchFamily="34" charset="-122"/>
              <a:ea typeface="微软雅黑" panose="020B0503020204020204" pitchFamily="34" charset="-122"/>
            </a:rPr>
            <a:t>. </a:t>
          </a:r>
          <a:r>
            <a:rPr lang="zh-CN" altLang="en-US" sz="2800" kern="1200" dirty="0" smtClean="0">
              <a:solidFill>
                <a:schemeClr val="bg1"/>
              </a:solidFill>
              <a:latin typeface="微软雅黑" panose="020B0503020204020204" pitchFamily="34" charset="-122"/>
              <a:ea typeface="微软雅黑" panose="020B0503020204020204" pitchFamily="34" charset="-122"/>
            </a:rPr>
            <a:t>软件工程的产生和发展</a:t>
          </a:r>
          <a:endParaRPr lang="zh-CN" altLang="en-US" sz="2800" kern="1200" dirty="0">
            <a:solidFill>
              <a:schemeClr val="bg1"/>
            </a:solidFill>
            <a:latin typeface="微软雅黑" panose="020B0503020204020204" pitchFamily="34" charset="-122"/>
            <a:ea typeface="微软雅黑" panose="020B0503020204020204" pitchFamily="34" charset="-122"/>
          </a:endParaRPr>
        </a:p>
      </dsp:txBody>
      <dsp:txXfrm>
        <a:off x="47519" y="47519"/>
        <a:ext cx="6169832" cy="878402"/>
      </dsp:txXfrm>
    </dsp:sp>
    <dsp:sp modelId="{BC3BAD33-EAC1-43E2-822A-47EFCF1A499C}">
      <dsp:nvSpPr>
        <dsp:cNvPr id="0" name=""/>
        <dsp:cNvSpPr/>
      </dsp:nvSpPr>
      <dsp:spPr>
        <a:xfrm>
          <a:off x="0" y="1162317"/>
          <a:ext cx="6264870" cy="973440"/>
        </a:xfrm>
        <a:prstGeom prst="roundRect">
          <a:avLst/>
        </a:prstGeom>
        <a:solidFill>
          <a:srgbClr val="00B4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zh-CN" altLang="en-US" sz="2800" kern="1200" dirty="0" smtClean="0">
              <a:latin typeface="微软雅黑" panose="020B0503020204020204" pitchFamily="34" charset="-122"/>
              <a:ea typeface="微软雅黑" panose="020B0503020204020204" pitchFamily="34" charset="-122"/>
            </a:rPr>
            <a:t>二</a:t>
          </a:r>
          <a:r>
            <a:rPr lang="en-US" altLang="zh-CN" sz="2800" kern="1200" dirty="0" smtClean="0">
              <a:latin typeface="微软雅黑" panose="020B0503020204020204" pitchFamily="34" charset="-122"/>
              <a:ea typeface="微软雅黑" panose="020B0503020204020204" pitchFamily="34" charset="-122"/>
            </a:rPr>
            <a:t>. </a:t>
          </a:r>
          <a:r>
            <a:rPr lang="zh-CN" altLang="en-US" sz="2800" kern="1200" dirty="0" smtClean="0">
              <a:latin typeface="微软雅黑" panose="020B0503020204020204" pitchFamily="34" charset="-122"/>
              <a:ea typeface="微软雅黑" panose="020B0503020204020204" pitchFamily="34" charset="-122"/>
            </a:rPr>
            <a:t>软件工程概述</a:t>
          </a:r>
          <a:endParaRPr lang="zh-CN" altLang="en-US" sz="2800" kern="1200" dirty="0">
            <a:latin typeface="微软雅黑" panose="020B0503020204020204" pitchFamily="34" charset="-122"/>
            <a:ea typeface="微软雅黑" panose="020B0503020204020204" pitchFamily="34" charset="-122"/>
          </a:endParaRPr>
        </a:p>
      </dsp:txBody>
      <dsp:txXfrm>
        <a:off x="47519" y="1209836"/>
        <a:ext cx="6169832" cy="878402"/>
      </dsp:txXfrm>
    </dsp:sp>
    <dsp:sp modelId="{FDB55205-D60C-4608-8916-05FE3AC90B48}">
      <dsp:nvSpPr>
        <dsp:cNvPr id="0" name=""/>
        <dsp:cNvSpPr/>
      </dsp:nvSpPr>
      <dsp:spPr>
        <a:xfrm>
          <a:off x="0" y="2285588"/>
          <a:ext cx="6264870" cy="973440"/>
        </a:xfrm>
        <a:prstGeom prst="roundRect">
          <a:avLst/>
        </a:prstGeom>
        <a:solidFill>
          <a:srgbClr val="00B4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zh-CN" altLang="en-US" sz="2800" kern="1200" dirty="0" smtClean="0">
              <a:latin typeface="微软雅黑" panose="020B0503020204020204" pitchFamily="34" charset="-122"/>
              <a:ea typeface="微软雅黑" panose="020B0503020204020204" pitchFamily="34" charset="-122"/>
            </a:rPr>
            <a:t>三</a:t>
          </a:r>
          <a:r>
            <a:rPr lang="en-US" altLang="zh-CN" sz="2800" kern="1200" dirty="0" smtClean="0">
              <a:latin typeface="微软雅黑" panose="020B0503020204020204" pitchFamily="34" charset="-122"/>
              <a:ea typeface="微软雅黑" panose="020B0503020204020204" pitchFamily="34" charset="-122"/>
            </a:rPr>
            <a:t>. </a:t>
          </a:r>
          <a:r>
            <a:rPr lang="zh-CN" altLang="en-US" sz="2800" kern="1200" dirty="0" smtClean="0">
              <a:latin typeface="微软雅黑" panose="020B0503020204020204" pitchFamily="34" charset="-122"/>
              <a:ea typeface="微软雅黑" panose="020B0503020204020204" pitchFamily="34" charset="-122"/>
            </a:rPr>
            <a:t>需求分析</a:t>
          </a:r>
          <a:endParaRPr lang="zh-CN" altLang="en-US" sz="2800" kern="1200" dirty="0">
            <a:latin typeface="微软雅黑" panose="020B0503020204020204" pitchFamily="34" charset="-122"/>
            <a:ea typeface="微软雅黑" panose="020B0503020204020204" pitchFamily="34" charset="-122"/>
          </a:endParaRPr>
        </a:p>
      </dsp:txBody>
      <dsp:txXfrm>
        <a:off x="47519" y="2333107"/>
        <a:ext cx="6169832" cy="878402"/>
      </dsp:txXfrm>
    </dsp:sp>
    <dsp:sp modelId="{77B48E14-E7C4-43F4-9F61-BAA0E503593D}">
      <dsp:nvSpPr>
        <dsp:cNvPr id="0" name=""/>
        <dsp:cNvSpPr/>
      </dsp:nvSpPr>
      <dsp:spPr>
        <a:xfrm>
          <a:off x="0" y="3419048"/>
          <a:ext cx="6264870" cy="973440"/>
        </a:xfrm>
        <a:prstGeom prst="roundRect">
          <a:avLst/>
        </a:prstGeom>
        <a:solidFill>
          <a:srgbClr val="00B4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zh-CN" altLang="en-US" sz="2800" kern="1200" dirty="0" smtClean="0">
              <a:latin typeface="微软雅黑" panose="020B0503020204020204" pitchFamily="34" charset="-122"/>
              <a:ea typeface="微软雅黑" panose="020B0503020204020204" pitchFamily="34" charset="-122"/>
            </a:rPr>
            <a:t>四</a:t>
          </a:r>
          <a:r>
            <a:rPr lang="en-US" altLang="zh-CN" sz="2800" kern="1200" dirty="0" smtClean="0">
              <a:latin typeface="微软雅黑" panose="020B0503020204020204" pitchFamily="34" charset="-122"/>
              <a:ea typeface="微软雅黑" panose="020B0503020204020204" pitchFamily="34" charset="-122"/>
            </a:rPr>
            <a:t>. </a:t>
          </a:r>
          <a:r>
            <a:rPr lang="zh-CN" altLang="en-US" sz="2800" kern="1200" dirty="0" smtClean="0">
              <a:latin typeface="微软雅黑" panose="020B0503020204020204" pitchFamily="34" charset="-122"/>
              <a:ea typeface="微软雅黑" panose="020B0503020204020204" pitchFamily="34" charset="-122"/>
            </a:rPr>
            <a:t>软件开发基本策略</a:t>
          </a:r>
          <a:endParaRPr lang="zh-CN" altLang="en-US" sz="2800" kern="1200" dirty="0">
            <a:latin typeface="微软雅黑" panose="020B0503020204020204" pitchFamily="34" charset="-122"/>
            <a:ea typeface="微软雅黑" panose="020B0503020204020204" pitchFamily="34" charset="-122"/>
          </a:endParaRPr>
        </a:p>
      </dsp:txBody>
      <dsp:txXfrm>
        <a:off x="47519" y="3466567"/>
        <a:ext cx="6169832" cy="878402"/>
      </dsp:txXfrm>
    </dsp:sp>
    <dsp:sp modelId="{2FF89AE3-8D64-4B87-9D5F-93C53A3BB76E}">
      <dsp:nvSpPr>
        <dsp:cNvPr id="0" name=""/>
        <dsp:cNvSpPr/>
      </dsp:nvSpPr>
      <dsp:spPr>
        <a:xfrm>
          <a:off x="0" y="4571175"/>
          <a:ext cx="6264870" cy="973440"/>
        </a:xfrm>
        <a:prstGeom prst="roundRect">
          <a:avLst/>
        </a:prstGeom>
        <a:solidFill>
          <a:srgbClr val="00B4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zh-CN" altLang="en-US" sz="2800" kern="1200" dirty="0" smtClean="0">
              <a:latin typeface="微软雅黑" panose="020B0503020204020204" pitchFamily="34" charset="-122"/>
              <a:ea typeface="微软雅黑" panose="020B0503020204020204" pitchFamily="34" charset="-122"/>
            </a:rPr>
            <a:t>五</a:t>
          </a:r>
          <a:r>
            <a:rPr lang="en-US" altLang="zh-CN" sz="2800" kern="1200" dirty="0" smtClean="0">
              <a:latin typeface="微软雅黑" panose="020B0503020204020204" pitchFamily="34" charset="-122"/>
              <a:ea typeface="微软雅黑" panose="020B0503020204020204" pitchFamily="34" charset="-122"/>
            </a:rPr>
            <a:t>. </a:t>
          </a:r>
          <a:r>
            <a:rPr lang="zh-CN" altLang="en-US" sz="2800" kern="1200" dirty="0" smtClean="0">
              <a:latin typeface="微软雅黑" panose="020B0503020204020204" pitchFamily="34" charset="-122"/>
              <a:ea typeface="微软雅黑" panose="020B0503020204020204" pitchFamily="34" charset="-122"/>
            </a:rPr>
            <a:t>软件测试</a:t>
          </a:r>
          <a:endParaRPr lang="zh-CN" altLang="en-US" sz="2800" kern="1200" dirty="0">
            <a:latin typeface="微软雅黑" panose="020B0503020204020204" pitchFamily="34" charset="-122"/>
            <a:ea typeface="微软雅黑" panose="020B0503020204020204" pitchFamily="34" charset="-122"/>
          </a:endParaRPr>
        </a:p>
      </dsp:txBody>
      <dsp:txXfrm>
        <a:off x="47519" y="4618694"/>
        <a:ext cx="6169832" cy="8784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0165DB8-FA0D-440F-B398-9BC78DBFDA2E}" type="datetimeFigureOut">
              <a:rPr lang="zh-CN" altLang="en-US" smtClean="0"/>
              <a:pPr/>
              <a:t>2017-4-27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D892A77-C51A-4386-A561-B02F24A46836}" type="slidenum">
              <a:rPr lang="zh-CN" altLang="en-US" smtClean="0"/>
              <a:pPr/>
              <a:t>‹#›</a:t>
            </a:fld>
            <a:endParaRPr lang="zh-CN" altLang="en-US"/>
          </a:p>
        </p:txBody>
      </p:sp>
    </p:spTree>
    <p:extLst>
      <p:ext uri="{BB962C8B-B14F-4D97-AF65-F5344CB8AC3E}">
        <p14:creationId xmlns:p14="http://schemas.microsoft.com/office/powerpoint/2010/main" val="145611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Rot="1" noChangeAspect="1" noChangeArrowheads="1"/>
          </p:cNvSpPr>
          <p:nvPr>
            <p:ph type="sldImg" idx="2"/>
          </p:nvPr>
        </p:nvSpPr>
        <p:spPr bwMode="auto">
          <a:xfrm>
            <a:off x="1050925" y="754063"/>
            <a:ext cx="4572000" cy="3294062"/>
          </a:xfrm>
          <a:prstGeom prst="rect">
            <a:avLst/>
          </a:prstGeom>
          <a:noFill/>
          <a:ln w="9525">
            <a:noFill/>
            <a:miter lim="800000"/>
            <a:headEnd/>
            <a:tailEnd/>
          </a:ln>
        </p:spPr>
      </p:sp>
      <p:sp>
        <p:nvSpPr>
          <p:cNvPr id="4099" name="Rectangle 3"/>
          <p:cNvSpPr>
            <a:spLocks noGrp="1" noChangeArrowheads="1"/>
          </p:cNvSpPr>
          <p:nvPr/>
        </p:nvSpPr>
        <p:spPr bwMode="auto">
          <a:xfrm>
            <a:off x="538163" y="4387850"/>
            <a:ext cx="5780087" cy="3952875"/>
          </a:xfrm>
          <a:prstGeom prst="rect">
            <a:avLst/>
          </a:prstGeom>
          <a:noFill/>
          <a:ln w="9525">
            <a:noFill/>
            <a:miter lim="800000"/>
            <a:headEnd/>
            <a:tailEnd/>
          </a:ln>
        </p:spPr>
        <p:txBody>
          <a:bodyPr/>
          <a:lstStyle/>
          <a:p>
            <a:pPr defTabSz="0">
              <a:spcBef>
                <a:spcPct val="30000"/>
              </a:spcBef>
            </a:pPr>
            <a:r>
              <a:rPr lang="zh-CN" sz="1200"/>
              <a:t>单击此处编辑母版文本样式</a:t>
            </a:r>
          </a:p>
          <a:p>
            <a:pPr defTabSz="0">
              <a:spcBef>
                <a:spcPct val="30000"/>
              </a:spcBef>
            </a:pPr>
            <a:r>
              <a:rPr lang="zh-CN" sz="1200"/>
              <a:t>第二级</a:t>
            </a:r>
          </a:p>
          <a:p>
            <a:pPr defTabSz="0">
              <a:spcBef>
                <a:spcPct val="30000"/>
              </a:spcBef>
            </a:pPr>
            <a:r>
              <a:rPr lang="zh-CN" sz="1200"/>
              <a:t>第三级</a:t>
            </a:r>
          </a:p>
          <a:p>
            <a:pPr defTabSz="0">
              <a:spcBef>
                <a:spcPct val="30000"/>
              </a:spcBef>
            </a:pPr>
            <a:r>
              <a:rPr lang="zh-CN" sz="1200"/>
              <a:t>第四级</a:t>
            </a:r>
          </a:p>
          <a:p>
            <a:pPr defTabSz="0">
              <a:spcBef>
                <a:spcPct val="30000"/>
              </a:spcBef>
            </a:pPr>
            <a:r>
              <a:rPr lang="zh-CN" sz="1200"/>
              <a:t>第五级</a:t>
            </a:r>
          </a:p>
        </p:txBody>
      </p:sp>
      <p:sp>
        <p:nvSpPr>
          <p:cNvPr id="4100" name="Rectangle 4"/>
          <p:cNvSpPr>
            <a:spLocks noGrp="1" noChangeArrowheads="1"/>
          </p:cNvSpPr>
          <p:nvPr>
            <p:ph type="hdr" sz="quarter" idx="4294967295"/>
          </p:nvPr>
        </p:nvSpPr>
        <p:spPr bwMode="auto">
          <a:xfrm>
            <a:off x="0" y="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lvl1pPr>
          </a:lstStyle>
          <a:p>
            <a:endParaRPr lang="zh-CN" altLang="zh-CN"/>
          </a:p>
        </p:txBody>
      </p:sp>
      <p:sp>
        <p:nvSpPr>
          <p:cNvPr id="4101" name="Rectangle 5"/>
          <p:cNvSpPr>
            <a:spLocks noGrp="1" noChangeArrowheads="1"/>
          </p:cNvSpPr>
          <p:nvPr>
            <p:ph type="dt" idx="1"/>
          </p:nvPr>
        </p:nvSpPr>
        <p:spPr bwMode="auto">
          <a:xfrm>
            <a:off x="3884613" y="0"/>
            <a:ext cx="2973387"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lvl1pPr>
          </a:lstStyle>
          <a:p>
            <a:endParaRPr lang="zh-CN" altLang="zh-CN"/>
          </a:p>
        </p:txBody>
      </p:sp>
      <p:sp>
        <p:nvSpPr>
          <p:cNvPr id="4102" name="Rectangle 6"/>
          <p:cNvSpPr>
            <a:spLocks noGrp="1" noChangeArrowheads="1"/>
          </p:cNvSpPr>
          <p:nvPr>
            <p:ph type="ftr" sz="quarter" idx="4"/>
          </p:nvPr>
        </p:nvSpPr>
        <p:spPr bwMode="auto">
          <a:xfrm>
            <a:off x="0" y="868680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lvl1pPr>
          </a:lstStyle>
          <a:p>
            <a:endParaRPr lang="zh-CN" altLang="zh-CN"/>
          </a:p>
        </p:txBody>
      </p:sp>
      <p:sp>
        <p:nvSpPr>
          <p:cNvPr id="4103" name="Rectangle 7"/>
          <p:cNvSpPr>
            <a:spLocks noGrp="1" noChangeArrowheads="1"/>
          </p:cNvSpPr>
          <p:nvPr>
            <p:ph type="sldNum" sz="quarter" idx="5"/>
          </p:nvPr>
        </p:nvSpPr>
        <p:spPr bwMode="auto">
          <a:xfrm>
            <a:off x="3884613" y="8686800"/>
            <a:ext cx="2973387"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lvl1pPr>
          </a:lstStyle>
          <a:p>
            <a:fld id="{55187248-0BC4-403D-9C20-7860641B875F}" type="slidenum">
              <a:rPr lang="zh-CN" altLang="en-US"/>
              <a:pPr/>
              <a:t>‹#›</a:t>
            </a:fld>
            <a:endParaRPr lang="zh-CN" altLang="en-US"/>
          </a:p>
        </p:txBody>
      </p:sp>
    </p:spTree>
    <p:extLst>
      <p:ext uri="{BB962C8B-B14F-4D97-AF65-F5344CB8AC3E}">
        <p14:creationId xmlns:p14="http://schemas.microsoft.com/office/powerpoint/2010/main" val="3860947676"/>
      </p:ext>
    </p:extLst>
  </p:cSld>
  <p:clrMap bg1="lt1" tx1="dk1" bg2="lt2" tx2="dk2" accent1="accent1" accent2="accent2" accent3="accent3" accent4="accent4" accent5="accent5" accent6="accent6" hlink="hlink" folHlink="folHlink"/>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19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29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39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40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41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42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a:xfrm>
            <a:off x="685800" y="4343400"/>
            <a:ext cx="5486400" cy="4114800"/>
          </a:xfrm>
          <a:prstGeom prst="rect">
            <a:avLst/>
          </a:prstGeom>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187248-0BC4-403D-9C20-7860641B875F}" type="slidenum">
              <a:rPr lang="zh-CN" altLang="en-US" smtClean="0"/>
              <a:pPr/>
              <a:t>43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4" name="页脚占位符 3"/>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5" name="矩形 4"/>
          <p:cNvSpPr/>
          <p:nvPr/>
        </p:nvSpPr>
        <p:spPr bwMode="auto">
          <a:xfrm>
            <a:off x="108000" y="5209988"/>
            <a:ext cx="8928000" cy="1530000"/>
          </a:xfrm>
          <a:prstGeom prst="rect">
            <a:avLst/>
          </a:prstGeom>
          <a:solidFill>
            <a:srgbClr val="F2F2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7" name="单圆角矩形 6"/>
          <p:cNvSpPr/>
          <p:nvPr/>
        </p:nvSpPr>
        <p:spPr bwMode="auto">
          <a:xfrm flipH="1">
            <a:off x="107380" y="114080"/>
            <a:ext cx="8933688" cy="5043160"/>
          </a:xfrm>
          <a:prstGeom prst="round1Rect">
            <a:avLst>
              <a:gd name="adj" fmla="val 7743"/>
            </a:avLst>
          </a:prstGeom>
          <a:solidFill>
            <a:srgbClr val="00B2BE"/>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8" name="矩形 7"/>
          <p:cNvSpPr/>
          <p:nvPr/>
        </p:nvSpPr>
        <p:spPr bwMode="auto">
          <a:xfrm flipH="1">
            <a:off x="107380" y="5157240"/>
            <a:ext cx="8933688" cy="45720"/>
          </a:xfrm>
          <a:prstGeom prst="rect">
            <a:avLst/>
          </a:prstGeom>
          <a:solidFill>
            <a:srgbClr val="FFA50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2300" y="5674269"/>
            <a:ext cx="1800250" cy="716859"/>
          </a:xfrm>
          <a:prstGeom prst="rect">
            <a:avLst/>
          </a:prstGeom>
        </p:spPr>
      </p:pic>
      <p:sp>
        <p:nvSpPr>
          <p:cNvPr id="2" name="文本框 1"/>
          <p:cNvSpPr txBox="1"/>
          <p:nvPr userDrawn="1"/>
        </p:nvSpPr>
        <p:spPr>
          <a:xfrm>
            <a:off x="1236992" y="5715096"/>
            <a:ext cx="2819664" cy="654025"/>
          </a:xfrm>
          <a:prstGeom prst="rect">
            <a:avLst/>
          </a:prstGeom>
          <a:noFill/>
        </p:spPr>
        <p:txBody>
          <a:bodyPr wrap="square" rtlCol="0">
            <a:spAutoFit/>
          </a:bodyPr>
          <a:lstStyle/>
          <a:p>
            <a:pPr algn="ctr"/>
            <a:r>
              <a:rPr lang="zh-CN" altLang="en-US" sz="2200" dirty="0" smtClean="0">
                <a:solidFill>
                  <a:schemeClr val="tx1">
                    <a:lumMod val="65000"/>
                    <a:lumOff val="35000"/>
                  </a:schemeClr>
                </a:solidFill>
                <a:latin typeface="微软雅黑" panose="020B0503020204020204" pitchFamily="34" charset="-122"/>
                <a:ea typeface="微软雅黑" panose="020B0503020204020204" pitchFamily="34" charset="-122"/>
              </a:rPr>
              <a:t>让能源的使用更智慧</a:t>
            </a:r>
            <a:endParaRPr lang="en-US" altLang="zh-CN" sz="2200"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sz="1450" kern="1200" dirty="0" smtClean="0">
                <a:solidFill>
                  <a:schemeClr val="tx1">
                    <a:lumMod val="65000"/>
                    <a:lumOff val="35000"/>
                  </a:schemeClr>
                </a:solidFill>
                <a:effectLst/>
                <a:latin typeface="微软雅黑" panose="020B0503020204020204" pitchFamily="34" charset="-122"/>
                <a:ea typeface="微软雅黑" panose="020B0503020204020204" pitchFamily="34" charset="-122"/>
                <a:cs typeface="+mn-cs"/>
              </a:rPr>
              <a:t>Make Energy Usage Smarter</a:t>
            </a:r>
            <a:endParaRPr lang="zh-CN" altLang="zh-CN" sz="1450" kern="1200" dirty="0">
              <a:solidFill>
                <a:schemeClr val="tx1">
                  <a:lumMod val="65000"/>
                  <a:lumOff val="35000"/>
                </a:schemeClr>
              </a:solidFill>
              <a:effectLst/>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6265468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kumimoji="1" lang="zh-CN" altLang="en-US" smtClean="0"/>
              <a:t>单击此处编辑母版文本样式</a:t>
            </a:r>
          </a:p>
          <a:p>
            <a:pPr lvl="1"/>
            <a:r>
              <a:rPr kumimoji="1" lang="zh-CN" altLang="en-US" smtClean="0"/>
              <a:t>第二级</a:t>
            </a:r>
          </a:p>
          <a:p>
            <a:pPr lvl="2"/>
            <a:r>
              <a:rPr kumimoji="1" lang="zh-CN" altLang="en-US" smtClean="0"/>
              <a:t>第三级</a:t>
            </a:r>
          </a:p>
          <a:p>
            <a:pPr lvl="3"/>
            <a:r>
              <a:rPr kumimoji="1" lang="zh-CN" altLang="en-US" smtClean="0"/>
              <a:t>第四级</a:t>
            </a:r>
          </a:p>
          <a:p>
            <a:pPr lvl="4"/>
            <a:r>
              <a:rPr kumimoji="1" lang="zh-CN" altLang="en-US" smtClean="0"/>
              <a:t>第五级</a:t>
            </a:r>
            <a:endParaRPr kumimoji="1"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2A7D386A-E14B-9942-99B3-820B3A8E0984}" type="datetimeFigureOut">
              <a:rPr kumimoji="1" lang="zh-CN" altLang="en-US" smtClean="0"/>
              <a:pPr/>
              <a:t>2017-4-27</a:t>
            </a:fld>
            <a:endParaRPr kumimoji="1"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kumimoji="1" lang="zh-CN" altLang="en-US"/>
          </a:p>
        </p:txBody>
      </p:sp>
      <p:sp>
        <p:nvSpPr>
          <p:cNvPr id="6" name="幻灯片编号占位符 5"/>
          <p:cNvSpPr>
            <a:spLocks noGrp="1"/>
          </p:cNvSpPr>
          <p:nvPr>
            <p:ph type="sldNum" sz="quarter" idx="12"/>
          </p:nvPr>
        </p:nvSpPr>
        <p:spPr>
          <a:xfrm>
            <a:off x="6553200" y="6356350"/>
            <a:ext cx="2133600" cy="365125"/>
          </a:xfrm>
          <a:prstGeom prst="rect">
            <a:avLst/>
          </a:prstGeom>
        </p:spPr>
        <p:txBody>
          <a:bodyPr/>
          <a:lstStyle/>
          <a:p>
            <a:fld id="{09B642DF-0946-6F49-B288-C49AD47366E0}" type="slidenum">
              <a:rPr kumimoji="1" lang="zh-CN" altLang="en-US" smtClean="0"/>
              <a:pPr/>
              <a:t>‹#›</a:t>
            </a:fld>
            <a:endParaRPr kumimoji="1" lang="zh-CN" altLang="en-US"/>
          </a:p>
        </p:txBody>
      </p:sp>
    </p:spTree>
    <p:extLst>
      <p:ext uri="{BB962C8B-B14F-4D97-AF65-F5344CB8AC3E}">
        <p14:creationId xmlns:p14="http://schemas.microsoft.com/office/powerpoint/2010/main" val="40913145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89336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6131080" cy="489992"/>
          </a:xfrm>
          <a:prstGeom prst="rect">
            <a:avLst/>
          </a:prstGeom>
        </p:spPr>
        <p:txBody>
          <a:bodyPr/>
          <a:lstStyle>
            <a:lvl1pPr algn="l">
              <a:defRPr sz="2800">
                <a:solidFill>
                  <a:schemeClr val="tx1">
                    <a:lumMod val="65000"/>
                    <a:lumOff val="35000"/>
                  </a:schemeClr>
                </a:solidFill>
                <a:ea typeface="微软雅黑"/>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600200"/>
            <a:ext cx="8229600" cy="4686320"/>
          </a:xfrm>
          <a:prstGeom prst="rect">
            <a:avLst/>
          </a:prstGeom>
        </p:spPr>
        <p:txBody>
          <a:bodyPr/>
          <a:lstStyle>
            <a:lvl1pPr>
              <a:lnSpc>
                <a:spcPct val="120000"/>
              </a:lnSpc>
              <a:defRPr sz="1800">
                <a:solidFill>
                  <a:schemeClr val="tx1">
                    <a:lumMod val="65000"/>
                    <a:lumOff val="35000"/>
                  </a:schemeClr>
                </a:solidFill>
                <a:ea typeface="微软雅黑"/>
              </a:defRPr>
            </a:lvl1pPr>
            <a:lvl2pPr>
              <a:lnSpc>
                <a:spcPct val="120000"/>
              </a:lnSpc>
              <a:defRPr>
                <a:solidFill>
                  <a:schemeClr val="tx1">
                    <a:lumMod val="65000"/>
                    <a:lumOff val="35000"/>
                  </a:schemeClr>
                </a:solidFill>
                <a:ea typeface="微软雅黑"/>
              </a:defRPr>
            </a:lvl2pPr>
            <a:lvl3pPr>
              <a:lnSpc>
                <a:spcPct val="120000"/>
              </a:lnSpc>
              <a:defRPr>
                <a:solidFill>
                  <a:schemeClr val="tx1">
                    <a:lumMod val="65000"/>
                    <a:lumOff val="35000"/>
                  </a:schemeClr>
                </a:solidFill>
                <a:ea typeface="微软雅黑"/>
              </a:defRPr>
            </a:lvl3pPr>
            <a:lvl4pPr>
              <a:lnSpc>
                <a:spcPct val="120000"/>
              </a:lnSpc>
              <a:defRPr>
                <a:solidFill>
                  <a:schemeClr val="tx1">
                    <a:lumMod val="65000"/>
                    <a:lumOff val="35000"/>
                  </a:schemeClr>
                </a:solidFill>
                <a:ea typeface="微软雅黑"/>
              </a:defRPr>
            </a:lvl4pPr>
            <a:lvl5pPr>
              <a:lnSpc>
                <a:spcPct val="120000"/>
              </a:lnSpc>
              <a:defRPr>
                <a:solidFill>
                  <a:schemeClr val="tx1">
                    <a:lumMod val="65000"/>
                    <a:lumOff val="35000"/>
                  </a:schemeClr>
                </a:solidFill>
                <a:ea typeface="微软雅黑"/>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Tree>
    <p:extLst>
      <p:ext uri="{BB962C8B-B14F-4D97-AF65-F5344CB8AC3E}">
        <p14:creationId xmlns:p14="http://schemas.microsoft.com/office/powerpoint/2010/main" val="92907065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245225"/>
            <a:ext cx="2133600" cy="476250"/>
          </a:xfrm>
          <a:prstGeom prst="rect">
            <a:avLst/>
          </a:prstGeom>
        </p:spPr>
        <p:txBody>
          <a:bodyPr/>
          <a:lstStyle>
            <a:lvl1pPr>
              <a:defRPr/>
            </a:lvl1pPr>
          </a:lstStyle>
          <a:p>
            <a:r>
              <a:rPr lang="en-US" altLang="zh-CN" smtClean="0"/>
              <a:t>1</a:t>
            </a:r>
            <a:endParaRPr lang="zh-CN" altLang="zh-CN"/>
          </a:p>
        </p:txBody>
      </p:sp>
      <p:sp>
        <p:nvSpPr>
          <p:cNvPr id="3" name="页脚占位符 2"/>
          <p:cNvSpPr>
            <a:spLocks noGrp="1"/>
          </p:cNvSpPr>
          <p:nvPr>
            <p:ph type="ftr" sz="quarter" idx="11"/>
          </p:nvPr>
        </p:nvSpPr>
        <p:spPr>
          <a:xfrm>
            <a:off x="3124200" y="6245225"/>
            <a:ext cx="2895600" cy="476250"/>
          </a:xfrm>
          <a:prstGeom prst="rect">
            <a:avLst/>
          </a:prstGeom>
        </p:spPr>
        <p:txBody>
          <a:bodyPr/>
          <a:lstStyle>
            <a:lvl1pPr>
              <a:defRPr/>
            </a:lvl1pPr>
          </a:lstStyle>
          <a:p>
            <a:endParaRPr lang="zh-CN" altLang="zh-CN"/>
          </a:p>
        </p:txBody>
      </p:sp>
      <p:sp>
        <p:nvSpPr>
          <p:cNvPr id="4" name="灯片编号占位符 3"/>
          <p:cNvSpPr>
            <a:spLocks noGrp="1"/>
          </p:cNvSpPr>
          <p:nvPr>
            <p:ph type="sldNum" sz="quarter" idx="12"/>
          </p:nvPr>
        </p:nvSpPr>
        <p:spPr>
          <a:xfrm>
            <a:off x="6553200" y="6245225"/>
            <a:ext cx="2133600" cy="476250"/>
          </a:xfrm>
          <a:prstGeom prst="rect">
            <a:avLst/>
          </a:prstGeom>
        </p:spPr>
        <p:txBody>
          <a:bodyPr/>
          <a:lstStyle>
            <a:lvl1pPr>
              <a:defRPr/>
            </a:lvl1pPr>
          </a:lstStyle>
          <a:p>
            <a:fld id="{80B43A77-5382-4288-B716-9A7AE84CD6B0}" type="slidenum">
              <a:rPr lang="zh-CN" altLang="en-US"/>
              <a:pPr/>
              <a:t>‹#›</a:t>
            </a:fld>
            <a:endParaRPr lang="zh-CN" altLang="en-US" sz="1800" dirty="0">
              <a:latin typeface="+mn-lt"/>
              <a:ea typeface="宋体" pitchFamily="2" charset="-122"/>
            </a:endParaRPr>
          </a:p>
        </p:txBody>
      </p:sp>
    </p:spTree>
    <p:extLst>
      <p:ext uri="{BB962C8B-B14F-4D97-AF65-F5344CB8AC3E}">
        <p14:creationId xmlns:p14="http://schemas.microsoft.com/office/powerpoint/2010/main" val="51582043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1225480181"/>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15051306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120595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652605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25034918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4" name="页脚占位符 3"/>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32865361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29153225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34130112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36524534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4359470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r>
              <a:rPr lang="en-US" altLang="zh-CN" smtClean="0"/>
              <a:t>1</a:t>
            </a:r>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B693250A-6B3A-401B-9DDB-41A9EB5B817C}" type="slidenum">
              <a:rPr lang="zh-CN" altLang="en-US" smtClean="0"/>
              <a:pPr/>
              <a:t>‹#›</a:t>
            </a:fld>
            <a:endParaRPr lang="zh-CN" altLang="en-US"/>
          </a:p>
        </p:txBody>
      </p:sp>
    </p:spTree>
    <p:extLst>
      <p:ext uri="{BB962C8B-B14F-4D97-AF65-F5344CB8AC3E}">
        <p14:creationId xmlns:p14="http://schemas.microsoft.com/office/powerpoint/2010/main" val="3849953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2" descr="007 副本.jpg"/>
          <p:cNvPicPr>
            <a:picLocks noChangeAspect="1" noChangeArrowheads="1"/>
          </p:cNvPicPr>
          <p:nvPr userDrawn="1"/>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8" name="矩形 7"/>
          <p:cNvSpPr/>
          <p:nvPr userDrawn="1"/>
        </p:nvSpPr>
        <p:spPr bwMode="auto">
          <a:xfrm>
            <a:off x="108000" y="4214818"/>
            <a:ext cx="8928000" cy="2571182"/>
          </a:xfrm>
          <a:prstGeom prst="rect">
            <a:avLst/>
          </a:prstGeom>
          <a:solidFill>
            <a:srgbClr val="6A838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9" name="矩形 8"/>
          <p:cNvSpPr/>
          <p:nvPr userDrawn="1"/>
        </p:nvSpPr>
        <p:spPr bwMode="auto">
          <a:xfrm>
            <a:off x="108000" y="108000"/>
            <a:ext cx="8928000" cy="4106818"/>
          </a:xfrm>
          <a:prstGeom prst="rect">
            <a:avLst/>
          </a:prstGeom>
          <a:gradFill flip="none" rotWithShape="1">
            <a:gsLst>
              <a:gs pos="0">
                <a:srgbClr val="6A8384">
                  <a:tint val="66000"/>
                  <a:satMod val="160000"/>
                </a:srgbClr>
              </a:gs>
              <a:gs pos="50000">
                <a:srgbClr val="6A8384">
                  <a:tint val="44500"/>
                  <a:satMod val="160000"/>
                </a:srgbClr>
              </a:gs>
              <a:gs pos="100000">
                <a:srgbClr val="6A8384">
                  <a:tint val="23500"/>
                  <a:satMod val="160000"/>
                </a:srgbClr>
              </a:gs>
            </a:gsLst>
            <a:lin ang="81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5166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49" r:id="rId3"/>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3" name="矩形 22"/>
          <p:cNvSpPr/>
          <p:nvPr/>
        </p:nvSpPr>
        <p:spPr bwMode="auto">
          <a:xfrm>
            <a:off x="108000" y="1018700"/>
            <a:ext cx="8928000" cy="5722760"/>
          </a:xfrm>
          <a:prstGeom prst="rect">
            <a:avLst/>
          </a:prstGeom>
          <a:solidFill>
            <a:srgbClr val="F2F2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8" name="矩形 7"/>
          <p:cNvSpPr/>
          <p:nvPr/>
        </p:nvSpPr>
        <p:spPr bwMode="auto">
          <a:xfrm>
            <a:off x="108000" y="908650"/>
            <a:ext cx="6840330" cy="45719"/>
          </a:xfrm>
          <a:prstGeom prst="rect">
            <a:avLst/>
          </a:prstGeom>
          <a:solidFill>
            <a:srgbClr val="00A5B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25" name="TextBox 24"/>
          <p:cNvSpPr txBox="1"/>
          <p:nvPr/>
        </p:nvSpPr>
        <p:spPr>
          <a:xfrm>
            <a:off x="7020340" y="507082"/>
            <a:ext cx="1872260" cy="284693"/>
          </a:xfrm>
          <a:prstGeom prst="rect">
            <a:avLst/>
          </a:prstGeom>
          <a:noFill/>
        </p:spPr>
        <p:txBody>
          <a:bodyPr wrap="square" rtlCol="0">
            <a:spAutoFit/>
          </a:bodyPr>
          <a:lstStyle/>
          <a:p>
            <a:r>
              <a:rPr lang="en-US" altLang="zh-CN" sz="1250" dirty="0" smtClean="0">
                <a:solidFill>
                  <a:srgbClr val="00A5B2"/>
                </a:solidFill>
                <a:latin typeface="Calibri" pitchFamily="34" charset="0"/>
                <a:cs typeface="Calibri" pitchFamily="34" charset="0"/>
              </a:rPr>
              <a:t>www.accuenergy.com.cn</a:t>
            </a:r>
            <a:endParaRPr lang="zh-CN" altLang="en-US" sz="1250" dirty="0">
              <a:solidFill>
                <a:srgbClr val="00A5B2"/>
              </a:solidFill>
              <a:latin typeface="Calibri" pitchFamily="34" charset="0"/>
              <a:cs typeface="Calibri" pitchFamily="34" charset="0"/>
            </a:endParaRPr>
          </a:p>
        </p:txBody>
      </p:sp>
      <p:sp>
        <p:nvSpPr>
          <p:cNvPr id="6" name="矩形 5"/>
          <p:cNvSpPr/>
          <p:nvPr/>
        </p:nvSpPr>
        <p:spPr bwMode="auto">
          <a:xfrm flipH="1">
            <a:off x="7092350" y="908650"/>
            <a:ext cx="1944270" cy="45719"/>
          </a:xfrm>
          <a:prstGeom prst="rect">
            <a:avLst/>
          </a:prstGeom>
          <a:solidFill>
            <a:srgbClr val="FFA50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2" name="平行四边形 1"/>
          <p:cNvSpPr/>
          <p:nvPr/>
        </p:nvSpPr>
        <p:spPr bwMode="auto">
          <a:xfrm>
            <a:off x="7013230" y="908650"/>
            <a:ext cx="144020" cy="45719"/>
          </a:xfrm>
          <a:prstGeom prst="parallelogram">
            <a:avLst/>
          </a:prstGeom>
          <a:solidFill>
            <a:srgbClr val="FFA5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9" name="平行四边形 8"/>
          <p:cNvSpPr/>
          <p:nvPr/>
        </p:nvSpPr>
        <p:spPr bwMode="auto">
          <a:xfrm>
            <a:off x="6838344" y="908650"/>
            <a:ext cx="144020" cy="45719"/>
          </a:xfrm>
          <a:prstGeom prst="parallelogram">
            <a:avLst/>
          </a:prstGeom>
          <a:solidFill>
            <a:srgbClr val="00A8B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0" name="Picture 1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117314" y="260560"/>
            <a:ext cx="1681931" cy="279180"/>
          </a:xfrm>
          <a:prstGeom prst="rect">
            <a:avLst/>
          </a:prstGeom>
          <a:noFill/>
        </p:spPr>
      </p:pic>
    </p:spTree>
    <p:extLst>
      <p:ext uri="{BB962C8B-B14F-4D97-AF65-F5344CB8AC3E}">
        <p14:creationId xmlns:p14="http://schemas.microsoft.com/office/powerpoint/2010/main" val="224231276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Lst>
  <p:timing>
    <p:tnLst>
      <p:par>
        <p:cTn id="1" dur="indefinite" restart="never" nodeType="tmRoot"/>
      </p:par>
    </p:tnLst>
  </p:timing>
  <p:hf hdr="0" ftr="0"/>
  <p:txStyles>
    <p:titleStyle>
      <a:lvl1pPr algn="ctr" rtl="0" eaLnBrk="1" fontAlgn="base" hangingPunct="1">
        <a:spcBef>
          <a:spcPct val="0"/>
        </a:spcBef>
        <a:spcAft>
          <a:spcPct val="0"/>
        </a:spcAft>
        <a:defRPr sz="3200">
          <a:solidFill>
            <a:schemeClr val="tx2"/>
          </a:solidFill>
          <a:latin typeface="+mj-lt"/>
          <a:ea typeface="+mj-ea"/>
          <a:cs typeface="+mj-cs"/>
          <a:sym typeface="Arial" pitchFamily="34" charset="0"/>
        </a:defRPr>
      </a:lvl1pPr>
      <a:lvl2pPr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2pPr>
      <a:lvl3pPr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3pPr>
      <a:lvl4pPr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4pPr>
      <a:lvl5pPr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5pPr>
      <a:lvl6pPr marL="457200"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6pPr>
      <a:lvl7pPr marL="914400"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7pPr>
      <a:lvl8pPr marL="1371600"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8pPr>
      <a:lvl9pPr marL="1828800" algn="ctr" rtl="0" eaLnBrk="1" fontAlgn="base" hangingPunct="1">
        <a:spcBef>
          <a:spcPct val="0"/>
        </a:spcBef>
        <a:spcAft>
          <a:spcPct val="0"/>
        </a:spcAft>
        <a:defRPr sz="3200">
          <a:solidFill>
            <a:schemeClr val="tx2"/>
          </a:solidFill>
          <a:latin typeface="Arial" pitchFamily="34" charset="0"/>
          <a:ea typeface="微软雅黑" pitchFamily="34" charset="-122"/>
          <a:sym typeface="Arial" pitchFamily="34" charset="0"/>
        </a:defRPr>
      </a:lvl9pPr>
    </p:titleStyle>
    <p:bodyStyle>
      <a:lvl1pPr marL="342900" indent="-342900" algn="l" defTabSz="0" rtl="0" eaLnBrk="1" fontAlgn="base" hangingPunct="1">
        <a:spcBef>
          <a:spcPct val="20000"/>
        </a:spcBef>
        <a:spcAft>
          <a:spcPct val="0"/>
        </a:spcAft>
        <a:buFont typeface="Arial" pitchFamily="34" charset="0"/>
        <a:buChar char="•"/>
        <a:defRPr sz="2000">
          <a:solidFill>
            <a:schemeClr val="tx1"/>
          </a:solidFill>
          <a:latin typeface="+mn-lt"/>
          <a:ea typeface="+mn-ea"/>
          <a:cs typeface="+mn-cs"/>
          <a:sym typeface="Arial" pitchFamily="34" charset="0"/>
        </a:defRPr>
      </a:lvl1pPr>
      <a:lvl2pPr marL="742950" indent="-285750" algn="l" defTabSz="0" rtl="0" eaLnBrk="1" fontAlgn="base" hangingPunct="1">
        <a:spcBef>
          <a:spcPct val="20000"/>
        </a:spcBef>
        <a:spcAft>
          <a:spcPct val="0"/>
        </a:spcAft>
        <a:buFont typeface="Arial" pitchFamily="34" charset="0"/>
        <a:buChar char="–"/>
        <a:defRPr>
          <a:solidFill>
            <a:schemeClr val="tx1"/>
          </a:solidFill>
          <a:latin typeface="+mn-lt"/>
          <a:ea typeface="+mn-ea"/>
          <a:sym typeface="Arial" pitchFamily="34" charset="0"/>
        </a:defRPr>
      </a:lvl2pPr>
      <a:lvl3pPr marL="1143000" indent="-228600" algn="l" defTabSz="0" rtl="0" eaLnBrk="1" fontAlgn="base" hangingPunct="1">
        <a:spcBef>
          <a:spcPct val="20000"/>
        </a:spcBef>
        <a:spcAft>
          <a:spcPct val="0"/>
        </a:spcAft>
        <a:buFont typeface="Arial" pitchFamily="34" charset="0"/>
        <a:buChar char="•"/>
        <a:defRPr sz="1600">
          <a:solidFill>
            <a:schemeClr val="tx1"/>
          </a:solidFill>
          <a:latin typeface="+mn-lt"/>
          <a:ea typeface="+mn-ea"/>
          <a:sym typeface="Arial" pitchFamily="34" charset="0"/>
        </a:defRPr>
      </a:lvl3pPr>
      <a:lvl4pPr marL="16002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4pPr>
      <a:lvl5pPr marL="20574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5pPr>
      <a:lvl6pPr marL="25146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6pPr>
      <a:lvl7pPr marL="29718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7pPr>
      <a:lvl8pPr marL="34290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8pPr>
      <a:lvl9pPr marL="3886200" indent="-228600" algn="l" defTabSz="0" rtl="0" eaLnBrk="1" fontAlgn="base" hangingPunct="1">
        <a:spcBef>
          <a:spcPct val="20000"/>
        </a:spcBef>
        <a:spcAft>
          <a:spcPct val="0"/>
        </a:spcAft>
        <a:buFont typeface="Arial" pitchFamily="34" charset="0"/>
        <a:buChar char="»"/>
        <a:defRPr sz="1400">
          <a:solidFill>
            <a:schemeClr val="tx1"/>
          </a:solidFill>
          <a:latin typeface="+mn-lt"/>
          <a:ea typeface="+mn-ea"/>
          <a:sym typeface="Arial"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矩形 3"/>
          <p:cNvSpPr/>
          <p:nvPr/>
        </p:nvSpPr>
        <p:spPr bwMode="auto">
          <a:xfrm>
            <a:off x="108000" y="121080"/>
            <a:ext cx="8928000" cy="4054310"/>
          </a:xfrm>
          <a:prstGeom prst="rect">
            <a:avLst/>
          </a:prstGeom>
          <a:solidFill>
            <a:srgbClr val="F2F2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8" name="矩形 7"/>
          <p:cNvSpPr/>
          <p:nvPr/>
        </p:nvSpPr>
        <p:spPr bwMode="auto">
          <a:xfrm>
            <a:off x="108000" y="4193632"/>
            <a:ext cx="8928000" cy="2571182"/>
          </a:xfrm>
          <a:prstGeom prst="rect">
            <a:avLst/>
          </a:prstGeom>
          <a:solidFill>
            <a:srgbClr val="00A5B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9" name="矩形 8"/>
          <p:cNvSpPr/>
          <p:nvPr/>
        </p:nvSpPr>
        <p:spPr bwMode="auto">
          <a:xfrm>
            <a:off x="108000" y="4175390"/>
            <a:ext cx="8928000" cy="45720"/>
          </a:xfrm>
          <a:prstGeom prst="rect">
            <a:avLst/>
          </a:prstGeom>
          <a:solidFill>
            <a:srgbClr val="FFA5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834529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iming>
    <p:tnLst>
      <p:par>
        <p:cTn id="1" dur="indefinite" restart="never" nodeType="tmRoot"/>
      </p:par>
    </p:tnLst>
  </p:timing>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p:cNvSpPr txBox="1"/>
          <p:nvPr/>
        </p:nvSpPr>
        <p:spPr>
          <a:xfrm>
            <a:off x="857224" y="1916790"/>
            <a:ext cx="7286676" cy="707886"/>
          </a:xfrm>
          <a:prstGeom prst="rect">
            <a:avLst/>
          </a:prstGeom>
          <a:noFill/>
        </p:spPr>
        <p:txBody>
          <a:bodyPr wrap="square" rtlCol="0">
            <a:spAutoFit/>
          </a:bodyPr>
          <a:lstStyle/>
          <a:p>
            <a:pPr algn="ctr"/>
            <a:r>
              <a:rPr lang="zh-CN" altLang="en-US" sz="4000" dirty="0" smtClean="0">
                <a:solidFill>
                  <a:schemeClr val="bg1">
                    <a:lumMod val="95000"/>
                  </a:schemeClr>
                </a:solidFill>
                <a:effectLst>
                  <a:outerShdw blurRad="38100" dist="38100" dir="2700000" algn="tl">
                    <a:srgbClr val="000000">
                      <a:alpha val="43137"/>
                    </a:srgbClr>
                  </a:outerShdw>
                </a:effectLst>
                <a:latin typeface="微软雅黑"/>
                <a:ea typeface="微软雅黑"/>
                <a:cs typeface="微软雅黑"/>
              </a:rPr>
              <a:t>软件工程基础理论</a:t>
            </a:r>
            <a:endParaRPr lang="zh-CN" altLang="en-US" sz="4000" dirty="0">
              <a:solidFill>
                <a:schemeClr val="bg1">
                  <a:lumMod val="95000"/>
                </a:schemeClr>
              </a:solidFill>
              <a:effectLst>
                <a:outerShdw blurRad="38100" dist="38100" dir="2700000" algn="tl">
                  <a:srgbClr val="000000">
                    <a:alpha val="43137"/>
                  </a:srgbClr>
                </a:outerShdw>
              </a:effectLst>
              <a:latin typeface="微软雅黑"/>
              <a:ea typeface="微软雅黑"/>
              <a:cs typeface="微软雅黑"/>
            </a:endParaRPr>
          </a:p>
        </p:txBody>
      </p:sp>
      <p:sp>
        <p:nvSpPr>
          <p:cNvPr id="6" name="TextBox 3"/>
          <p:cNvSpPr txBox="1"/>
          <p:nvPr/>
        </p:nvSpPr>
        <p:spPr>
          <a:xfrm>
            <a:off x="3094276" y="4077090"/>
            <a:ext cx="2964693" cy="1015663"/>
          </a:xfrm>
          <a:prstGeom prst="rect">
            <a:avLst/>
          </a:prstGeom>
          <a:noFill/>
        </p:spPr>
        <p:txBody>
          <a:bodyPr wrap="square" rtlCol="0">
            <a:spAutoFit/>
          </a:bodyPr>
          <a:lstStyle/>
          <a:p>
            <a:pPr algn="ctr">
              <a:lnSpc>
                <a:spcPct val="150000"/>
              </a:lnSpc>
            </a:pPr>
            <a:r>
              <a:rPr lang="en-US" altLang="zh-CN" sz="2000" dirty="0" smtClean="0">
                <a:solidFill>
                  <a:schemeClr val="bg1">
                    <a:lumMod val="95000"/>
                  </a:schemeClr>
                </a:solidFill>
                <a:effectLst>
                  <a:outerShdw blurRad="38100" dist="38100" dir="2700000" algn="tl">
                    <a:srgbClr val="000000">
                      <a:alpha val="43137"/>
                    </a:srgbClr>
                  </a:outerShdw>
                </a:effectLst>
                <a:latin typeface="微软雅黑"/>
                <a:ea typeface="微软雅黑"/>
                <a:cs typeface="微软雅黑"/>
              </a:rPr>
              <a:t>2017.04.25</a:t>
            </a:r>
          </a:p>
          <a:p>
            <a:pPr algn="ctr">
              <a:lnSpc>
                <a:spcPct val="150000"/>
              </a:lnSpc>
            </a:pPr>
            <a:r>
              <a:rPr lang="zh-CN" altLang="en-US" sz="2000" dirty="0">
                <a:solidFill>
                  <a:schemeClr val="bg1">
                    <a:lumMod val="95000"/>
                  </a:schemeClr>
                </a:solidFill>
                <a:effectLst>
                  <a:outerShdw blurRad="38100" dist="38100" dir="2700000" algn="tl">
                    <a:srgbClr val="000000">
                      <a:alpha val="43137"/>
                    </a:srgbClr>
                  </a:outerShdw>
                </a:effectLst>
                <a:latin typeface="微软雅黑"/>
                <a:ea typeface="微软雅黑"/>
                <a:cs typeface="微软雅黑"/>
              </a:rPr>
              <a:t>毛艳华</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aphicFrame>
        <p:nvGraphicFramePr>
          <p:cNvPr id="16" name="图示 15"/>
          <p:cNvGraphicFramePr/>
          <p:nvPr>
            <p:extLst>
              <p:ext uri="{D42A27DB-BD31-4B8C-83A1-F6EECF244321}">
                <p14:modId xmlns:p14="http://schemas.microsoft.com/office/powerpoint/2010/main" val="153686741"/>
              </p:ext>
            </p:extLst>
          </p:nvPr>
        </p:nvGraphicFramePr>
        <p:xfrm>
          <a:off x="1338266" y="1124744"/>
          <a:ext cx="6264870" cy="55446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3605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199" y="1545500"/>
            <a:ext cx="8810367" cy="4547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7591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举例</a:t>
            </a: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：阿丽亚娜（</a:t>
            </a:r>
            <a:r>
              <a:rPr lang="en-US" altLang="zh-CN" sz="2000" b="1" dirty="0" smtClean="0">
                <a:latin typeface="微软雅黑" panose="020B0503020204020204" pitchFamily="34" charset="-122"/>
                <a:ea typeface="微软雅黑" panose="020B0503020204020204" pitchFamily="34" charset="-122"/>
              </a:rPr>
              <a:t>Ariane</a:t>
            </a:r>
            <a:r>
              <a:rPr lang="zh-CN" altLang="en-US" sz="2000" b="1" dirty="0" smtClean="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5 </a:t>
            </a:r>
            <a:r>
              <a:rPr lang="zh-CN" altLang="en-US" sz="2000" b="1" dirty="0" smtClean="0">
                <a:latin typeface="微软雅黑" panose="020B0503020204020204" pitchFamily="34" charset="-122"/>
                <a:ea typeface="微软雅黑" panose="020B0503020204020204" pitchFamily="34" charset="-122"/>
              </a:rPr>
              <a:t>火箭</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988841"/>
            <a:ext cx="8928992" cy="3053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34370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举例</a:t>
            </a:r>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Window Vista </a:t>
            </a:r>
            <a:r>
              <a:rPr lang="zh-CN" altLang="en-US" sz="2000" b="1" dirty="0" smtClean="0">
                <a:latin typeface="微软雅黑" panose="020B0503020204020204" pitchFamily="34" charset="-122"/>
                <a:ea typeface="微软雅黑" panose="020B0503020204020204" pitchFamily="34" charset="-122"/>
              </a:rPr>
              <a:t>系统</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44825"/>
            <a:ext cx="9036496" cy="3201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69102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举例</a:t>
            </a:r>
            <a:r>
              <a:rPr lang="en-US" altLang="zh-CN" sz="2000" b="1" dirty="0" smtClean="0">
                <a:latin typeface="微软雅黑" panose="020B0503020204020204" pitchFamily="34" charset="-122"/>
                <a:ea typeface="微软雅黑" panose="020B0503020204020204" pitchFamily="34" charset="-122"/>
              </a:rPr>
              <a:t>3</a:t>
            </a:r>
            <a:r>
              <a:rPr lang="zh-CN" altLang="en-US" sz="2000" b="1" dirty="0" smtClean="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12306 </a:t>
            </a:r>
            <a:r>
              <a:rPr lang="zh-CN" altLang="en-US" sz="2000" b="1" dirty="0" smtClean="0">
                <a:latin typeface="微软雅黑" panose="020B0503020204020204" pitchFamily="34" charset="-122"/>
                <a:ea typeface="微软雅黑" panose="020B0503020204020204" pitchFamily="34" charset="-122"/>
              </a:rPr>
              <a:t>网络购票系统</a:t>
            </a:r>
            <a:endParaRPr lang="en-US" altLang="zh-CN" sz="2000" b="1" dirty="0" smtClean="0">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44825"/>
            <a:ext cx="9036496" cy="3112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52994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软件开发面临的挑战</a:t>
            </a:r>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827741"/>
            <a:ext cx="9071992" cy="3521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1620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探讨软件之道</a:t>
            </a:r>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071688"/>
            <a:ext cx="8856984" cy="2554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109831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探讨软件之道</a:t>
            </a:r>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060847"/>
            <a:ext cx="8856984" cy="19996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2874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一、软件工程</a:t>
            </a:r>
            <a:r>
              <a:rPr lang="zh-CN" altLang="en-US" dirty="0" smtClean="0"/>
              <a:t>的产生和发展</a:t>
            </a:r>
            <a:endParaRPr lang="zh-CN" altLang="en-US" dirty="0"/>
          </a:p>
        </p:txBody>
      </p:sp>
      <p:sp>
        <p:nvSpPr>
          <p:cNvPr id="3" name="内容占位符 2"/>
          <p:cNvSpPr>
            <a:spLocks noGrp="1"/>
          </p:cNvSpPr>
          <p:nvPr>
            <p:ph idx="1"/>
          </p:nvPr>
        </p:nvSpPr>
        <p:spPr>
          <a:xfrm>
            <a:off x="457200" y="1124744"/>
            <a:ext cx="8229600" cy="5161776"/>
          </a:xfrm>
        </p:spPr>
        <p:txBody>
          <a:bodyPr/>
          <a:lstStyle/>
          <a:p>
            <a:pPr marL="0" indent="0">
              <a:buNone/>
            </a:pPr>
            <a:r>
              <a:rPr lang="zh-CN" altLang="en-US" sz="2000" b="1" dirty="0" smtClean="0">
                <a:latin typeface="微软雅黑" panose="020B0503020204020204" pitchFamily="34" charset="-122"/>
                <a:ea typeface="微软雅黑" panose="020B0503020204020204" pitchFamily="34" charset="-122"/>
              </a:rPr>
              <a:t>探讨软件之道</a:t>
            </a:r>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7" y="1971934"/>
            <a:ext cx="9136944" cy="3473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15486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二</a:t>
            </a:r>
            <a:r>
              <a:rPr lang="zh-CN" altLang="en-US" sz="3200" dirty="0" smtClean="0"/>
              <a:t>、软件工程概述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4686320"/>
          </a:xfrm>
        </p:spPr>
        <p:txBody>
          <a:bodyPr/>
          <a:lstStyle/>
          <a:p>
            <a:pPr>
              <a:lnSpc>
                <a:spcPct val="150000"/>
              </a:lnSpc>
              <a:buFont typeface="+mj-lt"/>
              <a:buAutoNum type="arabicPeriod"/>
            </a:pPr>
            <a:r>
              <a:rPr lang="zh-CN" altLang="en-US" sz="2000" b="1" dirty="0" smtClean="0"/>
              <a:t>软件定义：</a:t>
            </a:r>
            <a:endParaRPr lang="en-US" altLang="zh-CN" sz="2000" b="1" dirty="0" smtClean="0"/>
          </a:p>
          <a:p>
            <a:pPr marL="0" indent="0">
              <a:lnSpc>
                <a:spcPct val="150000"/>
              </a:lnSpc>
              <a:buNone/>
            </a:pPr>
            <a:r>
              <a:rPr lang="zh-CN" altLang="en-US" dirty="0" smtClean="0"/>
              <a:t>软件</a:t>
            </a:r>
            <a:r>
              <a:rPr lang="zh-CN" altLang="zh-CN" dirty="0" smtClean="0"/>
              <a:t>是计算机系统中与硬件相互依存的另一部分，是包括</a:t>
            </a:r>
            <a:r>
              <a:rPr lang="zh-CN" altLang="zh-CN" dirty="0" smtClean="0">
                <a:solidFill>
                  <a:srgbClr val="FF0000"/>
                </a:solidFill>
              </a:rPr>
              <a:t>程序</a:t>
            </a:r>
            <a:r>
              <a:rPr lang="zh-CN" altLang="zh-CN" dirty="0" smtClean="0"/>
              <a:t>、</a:t>
            </a:r>
            <a:r>
              <a:rPr lang="zh-CN" altLang="zh-CN" dirty="0" smtClean="0">
                <a:solidFill>
                  <a:srgbClr val="FF0000"/>
                </a:solidFill>
              </a:rPr>
              <a:t>数据</a:t>
            </a:r>
            <a:r>
              <a:rPr lang="zh-CN" altLang="zh-CN" dirty="0" smtClean="0"/>
              <a:t>以及</a:t>
            </a:r>
            <a:r>
              <a:rPr lang="zh-CN" altLang="zh-CN" dirty="0" smtClean="0">
                <a:solidFill>
                  <a:srgbClr val="FF0000"/>
                </a:solidFill>
              </a:rPr>
              <a:t>相</a:t>
            </a:r>
            <a:r>
              <a:rPr lang="en-US" altLang="zh-CN" dirty="0" smtClean="0">
                <a:solidFill>
                  <a:srgbClr val="FF0000"/>
                </a:solidFill>
              </a:rPr>
              <a:t> </a:t>
            </a:r>
            <a:r>
              <a:rPr lang="zh-CN" altLang="zh-CN" dirty="0" smtClean="0">
                <a:solidFill>
                  <a:srgbClr val="FF0000"/>
                </a:solidFill>
              </a:rPr>
              <a:t>关文档</a:t>
            </a:r>
            <a:r>
              <a:rPr lang="zh-CN" altLang="zh-CN" dirty="0"/>
              <a:t>的完整集合</a:t>
            </a:r>
            <a:r>
              <a:rPr lang="zh-CN" altLang="zh-CN" dirty="0" smtClean="0"/>
              <a:t>。</a:t>
            </a:r>
            <a:endParaRPr lang="en-US" altLang="zh-CN" dirty="0" smtClean="0"/>
          </a:p>
          <a:p>
            <a:pPr marL="0" indent="0">
              <a:lnSpc>
                <a:spcPct val="150000"/>
              </a:lnSpc>
              <a:buNone/>
            </a:pPr>
            <a:r>
              <a:rPr lang="zh-CN" altLang="zh-CN" dirty="0" smtClean="0"/>
              <a:t>（</a:t>
            </a:r>
            <a:r>
              <a:rPr lang="en-US" altLang="zh-CN" dirty="0"/>
              <a:t>1</a:t>
            </a:r>
            <a:r>
              <a:rPr lang="zh-CN" altLang="zh-CN" dirty="0"/>
              <a:t>）程序是软件开发人员根据</a:t>
            </a:r>
            <a:r>
              <a:rPr lang="zh-CN" altLang="zh-CN" dirty="0">
                <a:solidFill>
                  <a:srgbClr val="FF0000"/>
                </a:solidFill>
              </a:rPr>
              <a:t>用户需求</a:t>
            </a:r>
            <a:r>
              <a:rPr lang="zh-CN" altLang="zh-CN" dirty="0"/>
              <a:t>开发的、用程序设计语言描述的、适合计算机执行的指令（语句）序列</a:t>
            </a:r>
            <a:r>
              <a:rPr lang="zh-CN" altLang="zh-CN" dirty="0" smtClean="0"/>
              <a:t>。</a:t>
            </a:r>
            <a:endParaRPr lang="en-US" altLang="zh-CN" dirty="0" smtClean="0"/>
          </a:p>
          <a:p>
            <a:pPr marL="0" indent="0">
              <a:lnSpc>
                <a:spcPct val="150000"/>
              </a:lnSpc>
              <a:buNone/>
            </a:pPr>
            <a:r>
              <a:rPr lang="zh-CN" altLang="zh-CN" dirty="0" smtClean="0"/>
              <a:t>（</a:t>
            </a:r>
            <a:r>
              <a:rPr lang="en-US" altLang="zh-CN" dirty="0"/>
              <a:t>2</a:t>
            </a:r>
            <a:r>
              <a:rPr lang="zh-CN" altLang="zh-CN" dirty="0"/>
              <a:t>）数据是使程序能够正常操作信息的数据结构。</a:t>
            </a:r>
          </a:p>
          <a:p>
            <a:pPr marL="0" indent="0">
              <a:lnSpc>
                <a:spcPct val="150000"/>
              </a:lnSpc>
              <a:buNone/>
            </a:pPr>
            <a:r>
              <a:rPr lang="zh-CN" altLang="zh-CN" dirty="0" smtClean="0"/>
              <a:t>（</a:t>
            </a:r>
            <a:r>
              <a:rPr lang="en-US" altLang="zh-CN" dirty="0"/>
              <a:t>3</a:t>
            </a:r>
            <a:r>
              <a:rPr lang="zh-CN" altLang="zh-CN" dirty="0"/>
              <a:t>）文档是与程序开发、维护和使用有关的图文资料。</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二</a:t>
            </a:r>
            <a:r>
              <a:rPr lang="zh-CN" altLang="en-US" sz="3200" dirty="0" smtClean="0"/>
              <a:t>、软件工程概述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4686320"/>
          </a:xfrm>
        </p:spPr>
        <p:txBody>
          <a:bodyPr/>
          <a:lstStyle/>
          <a:p>
            <a:pPr marL="0" indent="0">
              <a:lnSpc>
                <a:spcPct val="150000"/>
              </a:lnSpc>
              <a:buNone/>
            </a:pPr>
            <a:r>
              <a:rPr lang="en-US" altLang="zh-CN" b="1" dirty="0" smtClean="0"/>
              <a:t>2</a:t>
            </a:r>
            <a:r>
              <a:rPr lang="en-US" altLang="zh-CN" sz="2000" b="1" dirty="0" smtClean="0"/>
              <a:t>.  </a:t>
            </a:r>
            <a:r>
              <a:rPr lang="zh-CN" altLang="zh-CN" sz="2000" b="1" dirty="0" smtClean="0"/>
              <a:t>软件</a:t>
            </a:r>
            <a:r>
              <a:rPr lang="zh-CN" altLang="zh-CN" sz="2000" b="1" dirty="0"/>
              <a:t>特点</a:t>
            </a:r>
            <a:r>
              <a:rPr lang="zh-CN" altLang="en-US" sz="2000" b="1" dirty="0" smtClean="0"/>
              <a:t>：</a:t>
            </a:r>
            <a:endParaRPr lang="en-US" altLang="zh-CN" sz="2000" b="1" dirty="0"/>
          </a:p>
          <a:p>
            <a:pPr marL="0" indent="0">
              <a:lnSpc>
                <a:spcPct val="150000"/>
              </a:lnSpc>
              <a:buNone/>
            </a:pPr>
            <a:r>
              <a:rPr lang="zh-CN" altLang="zh-CN" dirty="0" smtClean="0"/>
              <a:t>（</a:t>
            </a:r>
            <a:r>
              <a:rPr lang="en-US" altLang="zh-CN" dirty="0"/>
              <a:t>1</a:t>
            </a:r>
            <a:r>
              <a:rPr lang="zh-CN" altLang="zh-CN" dirty="0"/>
              <a:t>）软件是一种逻辑实体，而不是物理实体，具有抽象性</a:t>
            </a:r>
            <a:r>
              <a:rPr lang="en-US" altLang="zh-CN" dirty="0"/>
              <a:t>,</a:t>
            </a:r>
            <a:r>
              <a:rPr lang="zh-CN" altLang="zh-CN" dirty="0"/>
              <a:t>是计算机的无形</a:t>
            </a:r>
            <a:r>
              <a:rPr lang="zh-CN" altLang="zh-CN" dirty="0" smtClean="0"/>
              <a:t>部</a:t>
            </a:r>
            <a:r>
              <a:rPr lang="en-US" altLang="zh-CN" dirty="0" smtClean="0"/>
              <a:t> </a:t>
            </a:r>
            <a:r>
              <a:rPr lang="zh-CN" altLang="zh-CN" dirty="0" smtClean="0"/>
              <a:t>分；</a:t>
            </a:r>
            <a:endParaRPr lang="en-US" altLang="zh-CN" dirty="0" smtClean="0"/>
          </a:p>
          <a:p>
            <a:pPr marL="0" indent="0">
              <a:lnSpc>
                <a:spcPct val="150000"/>
              </a:lnSpc>
              <a:buNone/>
            </a:pPr>
            <a:r>
              <a:rPr lang="zh-CN" altLang="zh-CN" dirty="0" smtClean="0"/>
              <a:t>（</a:t>
            </a:r>
            <a:r>
              <a:rPr lang="en-US" altLang="zh-CN" dirty="0"/>
              <a:t>2</a:t>
            </a:r>
            <a:r>
              <a:rPr lang="zh-CN" altLang="zh-CN" dirty="0"/>
              <a:t>）软件的生产与硬件不同，它没有明显的制作过程；</a:t>
            </a:r>
          </a:p>
          <a:p>
            <a:pPr marL="0" indent="0">
              <a:lnSpc>
                <a:spcPct val="150000"/>
              </a:lnSpc>
              <a:buNone/>
            </a:pPr>
            <a:r>
              <a:rPr lang="zh-CN" altLang="zh-CN" dirty="0" smtClean="0"/>
              <a:t>（</a:t>
            </a:r>
            <a:r>
              <a:rPr lang="en-US" altLang="zh-CN" dirty="0"/>
              <a:t>3</a:t>
            </a:r>
            <a:r>
              <a:rPr lang="zh-CN" altLang="zh-CN" dirty="0"/>
              <a:t>）软件在运行、使用期间不存在磨损、老化问题；</a:t>
            </a:r>
          </a:p>
          <a:p>
            <a:pPr marL="0" indent="0">
              <a:lnSpc>
                <a:spcPct val="150000"/>
              </a:lnSpc>
              <a:buNone/>
            </a:pPr>
            <a:r>
              <a:rPr lang="zh-CN" altLang="zh-CN" dirty="0" smtClean="0"/>
              <a:t>（</a:t>
            </a:r>
            <a:r>
              <a:rPr lang="en-US" altLang="zh-CN" dirty="0"/>
              <a:t>4</a:t>
            </a:r>
            <a:r>
              <a:rPr lang="zh-CN" altLang="zh-CN" dirty="0"/>
              <a:t>）软件的开发、运行对计算机系统具有依赖性，受计算机系统的限制，</a:t>
            </a:r>
            <a:r>
              <a:rPr lang="zh-CN" altLang="zh-CN" dirty="0" smtClean="0"/>
              <a:t>这导致</a:t>
            </a:r>
            <a:r>
              <a:rPr lang="zh-CN" altLang="zh-CN" dirty="0"/>
              <a:t>了软件移植的问题</a:t>
            </a:r>
            <a:r>
              <a:rPr lang="zh-CN" altLang="zh-CN" dirty="0" smtClean="0"/>
              <a:t>；</a:t>
            </a:r>
            <a:endParaRPr lang="en-US" altLang="zh-CN" dirty="0" smtClean="0"/>
          </a:p>
          <a:p>
            <a:pPr marL="0" indent="0">
              <a:lnSpc>
                <a:spcPct val="150000"/>
              </a:lnSpc>
              <a:buNone/>
            </a:pPr>
            <a:r>
              <a:rPr lang="zh-CN" altLang="zh-CN" dirty="0" smtClean="0"/>
              <a:t>（</a:t>
            </a:r>
            <a:r>
              <a:rPr lang="en-US" altLang="zh-CN" dirty="0"/>
              <a:t>5</a:t>
            </a:r>
            <a:r>
              <a:rPr lang="zh-CN" altLang="zh-CN" dirty="0"/>
              <a:t>）软件复杂性高，成本昂贵；</a:t>
            </a:r>
          </a:p>
          <a:p>
            <a:pPr marL="0" indent="0">
              <a:lnSpc>
                <a:spcPct val="150000"/>
              </a:lnSpc>
              <a:buNone/>
            </a:pPr>
            <a:r>
              <a:rPr lang="zh-CN" altLang="zh-CN" dirty="0" smtClean="0"/>
              <a:t>（</a:t>
            </a:r>
            <a:r>
              <a:rPr lang="en-US" altLang="zh-CN" dirty="0"/>
              <a:t>6</a:t>
            </a:r>
            <a:r>
              <a:rPr lang="zh-CN" altLang="zh-CN" dirty="0"/>
              <a:t>）软件开发涉及诸多的社会</a:t>
            </a:r>
            <a:r>
              <a:rPr lang="zh-CN" altLang="zh-CN" dirty="0" smtClean="0"/>
              <a:t>因素</a:t>
            </a:r>
            <a:r>
              <a:rPr lang="zh-CN" altLang="en-US" dirty="0" smtClean="0"/>
              <a:t>；</a:t>
            </a:r>
            <a:endParaRPr lang="en-US" altLang="zh-CN" dirty="0" smtClean="0"/>
          </a:p>
        </p:txBody>
      </p:sp>
    </p:spTree>
    <p:extLst>
      <p:ext uri="{BB962C8B-B14F-4D97-AF65-F5344CB8AC3E}">
        <p14:creationId xmlns:p14="http://schemas.microsoft.com/office/powerpoint/2010/main" val="28115398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二</a:t>
            </a:r>
            <a:r>
              <a:rPr lang="zh-CN" altLang="en-US" sz="3200" dirty="0" smtClean="0"/>
              <a:t>、软件工程概述</a:t>
            </a:r>
            <a:endParaRPr lang="zh-CN" altLang="en-US" dirty="0"/>
          </a:p>
        </p:txBody>
      </p:sp>
      <p:sp>
        <p:nvSpPr>
          <p:cNvPr id="3" name="内容占位符 2"/>
          <p:cNvSpPr>
            <a:spLocks noGrp="1"/>
          </p:cNvSpPr>
          <p:nvPr>
            <p:ph idx="1"/>
          </p:nvPr>
        </p:nvSpPr>
        <p:spPr>
          <a:xfrm>
            <a:off x="457200" y="1268760"/>
            <a:ext cx="8229600" cy="4686320"/>
          </a:xfrm>
        </p:spPr>
        <p:txBody>
          <a:bodyPr/>
          <a:lstStyle/>
          <a:p>
            <a:pPr marL="0" indent="0">
              <a:lnSpc>
                <a:spcPct val="150000"/>
              </a:lnSpc>
              <a:buNone/>
            </a:pPr>
            <a:r>
              <a:rPr lang="en-US" altLang="zh-CN" b="1" dirty="0" smtClean="0"/>
              <a:t>3. </a:t>
            </a:r>
            <a:r>
              <a:rPr lang="en-US" altLang="zh-CN" sz="2000" b="1" dirty="0" smtClean="0"/>
              <a:t> </a:t>
            </a:r>
            <a:r>
              <a:rPr lang="zh-CN" altLang="zh-CN" sz="2000" b="1" dirty="0" smtClean="0"/>
              <a:t>软件</a:t>
            </a:r>
            <a:r>
              <a:rPr lang="zh-CN" altLang="en-US" sz="2000" b="1" dirty="0" smtClean="0"/>
              <a:t>分类：</a:t>
            </a:r>
            <a:endParaRPr lang="en-US" altLang="zh-CN" sz="2000" b="1" dirty="0" smtClean="0"/>
          </a:p>
          <a:p>
            <a:pPr marL="0" indent="0">
              <a:lnSpc>
                <a:spcPct val="150000"/>
              </a:lnSpc>
              <a:buNone/>
            </a:pPr>
            <a:r>
              <a:rPr lang="en-US" altLang="zh-CN" b="1" dirty="0" smtClean="0"/>
              <a:t> </a:t>
            </a:r>
            <a:r>
              <a:rPr lang="zh-CN" altLang="zh-CN" dirty="0" smtClean="0"/>
              <a:t>按照</a:t>
            </a:r>
            <a:r>
              <a:rPr lang="zh-CN" altLang="zh-CN" dirty="0">
                <a:solidFill>
                  <a:srgbClr val="FF0000"/>
                </a:solidFill>
              </a:rPr>
              <a:t>功能</a:t>
            </a:r>
            <a:r>
              <a:rPr lang="zh-CN" altLang="zh-CN" dirty="0"/>
              <a:t>可以分为：</a:t>
            </a:r>
            <a:r>
              <a:rPr lang="zh-CN" altLang="zh-CN" dirty="0">
                <a:solidFill>
                  <a:srgbClr val="FF0000"/>
                </a:solidFill>
              </a:rPr>
              <a:t>应用软件</a:t>
            </a:r>
            <a:r>
              <a:rPr lang="zh-CN" altLang="zh-CN" dirty="0"/>
              <a:t>、</a:t>
            </a:r>
            <a:r>
              <a:rPr lang="zh-CN" altLang="zh-CN" dirty="0">
                <a:solidFill>
                  <a:srgbClr val="FF0000"/>
                </a:solidFill>
              </a:rPr>
              <a:t>系统软件</a:t>
            </a:r>
            <a:r>
              <a:rPr lang="zh-CN" altLang="zh-CN" dirty="0"/>
              <a:t>、</a:t>
            </a:r>
            <a:r>
              <a:rPr lang="zh-CN" altLang="zh-CN" dirty="0">
                <a:solidFill>
                  <a:srgbClr val="FF0000"/>
                </a:solidFill>
              </a:rPr>
              <a:t>支撑软件（或工具软件</a:t>
            </a:r>
            <a:r>
              <a:rPr lang="zh-CN" altLang="zh-CN" dirty="0" smtClean="0">
                <a:solidFill>
                  <a:srgbClr val="FF0000"/>
                </a:solidFill>
              </a:rPr>
              <a:t>）</a:t>
            </a:r>
            <a:endParaRPr lang="en-US" altLang="zh-CN" dirty="0" smtClean="0">
              <a:solidFill>
                <a:srgbClr val="FF0000"/>
              </a:solidFill>
            </a:endParaRPr>
          </a:p>
          <a:p>
            <a:pPr marL="0" indent="0">
              <a:lnSpc>
                <a:spcPct val="150000"/>
              </a:lnSpc>
              <a:buNone/>
            </a:pPr>
            <a:r>
              <a:rPr lang="zh-CN" altLang="zh-CN" dirty="0" smtClean="0"/>
              <a:t>（</a:t>
            </a:r>
            <a:r>
              <a:rPr lang="en-US" altLang="zh-CN" dirty="0"/>
              <a:t>1</a:t>
            </a:r>
            <a:r>
              <a:rPr lang="zh-CN" altLang="zh-CN" dirty="0"/>
              <a:t>）应用软件是为解决特定领域的应用而开发的软件。如</a:t>
            </a:r>
            <a:r>
              <a:rPr lang="zh-CN" altLang="zh-CN" dirty="0" smtClean="0"/>
              <a:t>：</a:t>
            </a:r>
            <a:r>
              <a:rPr lang="zh-CN" altLang="en-US" dirty="0" smtClean="0"/>
              <a:t>预付费管理</a:t>
            </a:r>
            <a:r>
              <a:rPr lang="zh-CN" altLang="zh-CN" dirty="0" smtClean="0"/>
              <a:t>系统、</a:t>
            </a:r>
            <a:r>
              <a:rPr lang="zh-CN" altLang="en-US" dirty="0" smtClean="0"/>
              <a:t>能源管理</a:t>
            </a:r>
            <a:r>
              <a:rPr lang="zh-CN" altLang="zh-CN" dirty="0" smtClean="0"/>
              <a:t>系统</a:t>
            </a:r>
            <a:r>
              <a:rPr lang="zh-CN" altLang="zh-CN" dirty="0"/>
              <a:t>等</a:t>
            </a:r>
            <a:r>
              <a:rPr lang="zh-CN" altLang="zh-CN" dirty="0" smtClean="0"/>
              <a:t>。</a:t>
            </a:r>
            <a:endParaRPr lang="en-US" altLang="zh-CN" dirty="0" smtClean="0"/>
          </a:p>
          <a:p>
            <a:pPr marL="0" indent="0">
              <a:lnSpc>
                <a:spcPct val="150000"/>
              </a:lnSpc>
              <a:buNone/>
            </a:pPr>
            <a:r>
              <a:rPr lang="zh-CN" altLang="zh-CN" dirty="0" smtClean="0"/>
              <a:t>（</a:t>
            </a:r>
            <a:r>
              <a:rPr lang="en-US" altLang="zh-CN" dirty="0"/>
              <a:t>2</a:t>
            </a:r>
            <a:r>
              <a:rPr lang="zh-CN" altLang="zh-CN" dirty="0"/>
              <a:t>）系统软件是计算机管理自身资源，提高计算机使用效率并为计算机用户提供各种服务的软件。如：操作系统、数据库管理系统等</a:t>
            </a:r>
            <a:r>
              <a:rPr lang="zh-CN" altLang="zh-CN" dirty="0" smtClean="0"/>
              <a:t>。</a:t>
            </a:r>
            <a:endParaRPr lang="en-US" altLang="zh-CN" dirty="0" smtClean="0"/>
          </a:p>
          <a:p>
            <a:pPr marL="0" indent="0">
              <a:lnSpc>
                <a:spcPct val="150000"/>
              </a:lnSpc>
              <a:buNone/>
            </a:pPr>
            <a:r>
              <a:rPr lang="zh-CN" altLang="zh-CN" dirty="0" smtClean="0"/>
              <a:t>（</a:t>
            </a:r>
            <a:r>
              <a:rPr lang="en-US" altLang="zh-CN" dirty="0"/>
              <a:t>3</a:t>
            </a:r>
            <a:r>
              <a:rPr lang="zh-CN" altLang="zh-CN" dirty="0"/>
              <a:t>）支撑软件是介于系统软件和应用软件之间，协助用户开发软件的工具软件。比如</a:t>
            </a:r>
            <a:r>
              <a:rPr lang="zh-CN" altLang="zh-CN" dirty="0" smtClean="0"/>
              <a:t>：</a:t>
            </a:r>
            <a:r>
              <a:rPr lang="zh-CN" altLang="en-US" dirty="0" smtClean="0"/>
              <a:t>上位机</a:t>
            </a:r>
            <a:r>
              <a:rPr lang="zh-CN" altLang="zh-CN" dirty="0" smtClean="0"/>
              <a:t>软件、</a:t>
            </a:r>
            <a:r>
              <a:rPr lang="en-US" altLang="zh-CN" dirty="0" err="1" smtClean="0"/>
              <a:t>MBDebug</a:t>
            </a:r>
            <a:r>
              <a:rPr lang="zh-CN" altLang="en-US" dirty="0" smtClean="0"/>
              <a:t>软件</a:t>
            </a:r>
            <a:r>
              <a:rPr lang="zh-CN" altLang="zh-CN" dirty="0" smtClean="0"/>
              <a:t>。</a:t>
            </a:r>
            <a:endParaRPr lang="zh-CN" altLang="zh-CN" dirty="0"/>
          </a:p>
        </p:txBody>
      </p:sp>
    </p:spTree>
    <p:extLst>
      <p:ext uri="{BB962C8B-B14F-4D97-AF65-F5344CB8AC3E}">
        <p14:creationId xmlns:p14="http://schemas.microsoft.com/office/powerpoint/2010/main" val="31592367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二</a:t>
            </a:r>
            <a:r>
              <a:rPr lang="zh-CN" altLang="en-US" sz="3200" dirty="0" smtClean="0"/>
              <a:t>、软件工程概述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4.  </a:t>
            </a:r>
            <a:r>
              <a:rPr lang="zh-CN" altLang="zh-CN" sz="2000" b="1" dirty="0" smtClean="0"/>
              <a:t>软件工程</a:t>
            </a:r>
            <a:r>
              <a:rPr lang="zh-CN" altLang="zh-CN" sz="2000" b="1" dirty="0"/>
              <a:t>的定义和目的</a:t>
            </a:r>
            <a:r>
              <a:rPr lang="zh-CN" altLang="en-US" sz="2000" b="1" dirty="0" smtClean="0"/>
              <a:t>：</a:t>
            </a:r>
            <a:endParaRPr lang="en-US" altLang="zh-CN" sz="2000" b="1" dirty="0" smtClean="0"/>
          </a:p>
          <a:p>
            <a:pPr marL="0" indent="0">
              <a:lnSpc>
                <a:spcPct val="150000"/>
              </a:lnSpc>
              <a:buNone/>
            </a:pPr>
            <a:r>
              <a:rPr lang="zh-CN" altLang="zh-CN" dirty="0"/>
              <a:t>（</a:t>
            </a:r>
            <a:r>
              <a:rPr lang="en-US" altLang="zh-CN" dirty="0"/>
              <a:t>1</a:t>
            </a:r>
            <a:r>
              <a:rPr lang="zh-CN" altLang="zh-CN" dirty="0"/>
              <a:t>）定义：</a:t>
            </a:r>
            <a:r>
              <a:rPr lang="zh-CN" altLang="zh-CN" dirty="0">
                <a:solidFill>
                  <a:srgbClr val="FF0000"/>
                </a:solidFill>
              </a:rPr>
              <a:t>软件工程</a:t>
            </a:r>
            <a:r>
              <a:rPr lang="zh-CN" altLang="zh-CN" dirty="0"/>
              <a:t>是指应用计算机科学、数学及管理科学等原理，以</a:t>
            </a:r>
            <a:r>
              <a:rPr lang="zh-CN" altLang="zh-CN" dirty="0">
                <a:solidFill>
                  <a:srgbClr val="FF0000"/>
                </a:solidFill>
              </a:rPr>
              <a:t>工程化的原则和方法</a:t>
            </a:r>
            <a:r>
              <a:rPr lang="zh-CN" altLang="zh-CN" dirty="0"/>
              <a:t>来开发与维护软件的学科</a:t>
            </a:r>
            <a:r>
              <a:rPr lang="zh-CN" altLang="zh-CN" dirty="0" smtClean="0"/>
              <a:t>。</a:t>
            </a:r>
            <a:endParaRPr lang="zh-CN" altLang="zh-CN" dirty="0"/>
          </a:p>
          <a:p>
            <a:pPr marL="0" indent="0">
              <a:lnSpc>
                <a:spcPct val="150000"/>
              </a:lnSpc>
              <a:buNone/>
            </a:pPr>
            <a:r>
              <a:rPr lang="zh-CN" altLang="zh-CN" dirty="0" smtClean="0"/>
              <a:t>（</a:t>
            </a:r>
            <a:r>
              <a:rPr lang="en-US" altLang="zh-CN" dirty="0" smtClean="0"/>
              <a:t>2</a:t>
            </a:r>
            <a:r>
              <a:rPr lang="zh-CN" altLang="zh-CN" dirty="0" smtClean="0"/>
              <a:t>）</a:t>
            </a:r>
            <a:r>
              <a:rPr lang="zh-CN" altLang="zh-CN" dirty="0"/>
              <a:t>目的：研究软件工程的主要目的就是在</a:t>
            </a:r>
            <a:r>
              <a:rPr lang="zh-CN" altLang="zh-CN" dirty="0">
                <a:solidFill>
                  <a:srgbClr val="FF0000"/>
                </a:solidFill>
              </a:rPr>
              <a:t>规定</a:t>
            </a:r>
            <a:r>
              <a:rPr lang="zh-CN" altLang="zh-CN" dirty="0"/>
              <a:t>的</a:t>
            </a:r>
            <a:r>
              <a:rPr lang="zh-CN" altLang="zh-CN" dirty="0">
                <a:solidFill>
                  <a:srgbClr val="FF0000"/>
                </a:solidFill>
              </a:rPr>
              <a:t>时间</a:t>
            </a:r>
            <a:r>
              <a:rPr lang="zh-CN" altLang="zh-CN" dirty="0"/>
              <a:t>、</a:t>
            </a:r>
            <a:r>
              <a:rPr lang="zh-CN" altLang="zh-CN" dirty="0">
                <a:solidFill>
                  <a:srgbClr val="FF0000"/>
                </a:solidFill>
              </a:rPr>
              <a:t>规定</a:t>
            </a:r>
            <a:r>
              <a:rPr lang="zh-CN" altLang="zh-CN" dirty="0"/>
              <a:t>的</a:t>
            </a:r>
            <a:r>
              <a:rPr lang="zh-CN" altLang="zh-CN" dirty="0">
                <a:solidFill>
                  <a:srgbClr val="FF0000"/>
                </a:solidFill>
              </a:rPr>
              <a:t>开发费用</a:t>
            </a:r>
            <a:r>
              <a:rPr lang="zh-CN" altLang="zh-CN" dirty="0"/>
              <a:t>内开发出</a:t>
            </a:r>
            <a:r>
              <a:rPr lang="zh-CN" altLang="zh-CN" dirty="0">
                <a:solidFill>
                  <a:srgbClr val="FF0000"/>
                </a:solidFill>
              </a:rPr>
              <a:t>满足用户需求</a:t>
            </a:r>
            <a:r>
              <a:rPr lang="zh-CN" altLang="zh-CN" dirty="0"/>
              <a:t>的</a:t>
            </a:r>
            <a:r>
              <a:rPr lang="zh-CN" altLang="zh-CN" dirty="0">
                <a:solidFill>
                  <a:srgbClr val="FF0000"/>
                </a:solidFill>
              </a:rPr>
              <a:t>高质量</a:t>
            </a:r>
            <a:r>
              <a:rPr lang="zh-CN" altLang="zh-CN" dirty="0"/>
              <a:t>的软件系统</a:t>
            </a:r>
            <a:r>
              <a:rPr lang="en-US" altLang="zh-CN" dirty="0"/>
              <a:t>(</a:t>
            </a:r>
            <a:r>
              <a:rPr lang="zh-CN" altLang="zh-CN" dirty="0"/>
              <a:t>高质量是指错误率低、好用、易用、可移植、易维护等</a:t>
            </a:r>
            <a:r>
              <a:rPr lang="en-US" altLang="zh-CN" dirty="0"/>
              <a:t>)</a:t>
            </a:r>
            <a:r>
              <a:rPr lang="zh-CN" altLang="zh-CN" dirty="0" smtClean="0"/>
              <a:t>。</a:t>
            </a:r>
            <a:r>
              <a:rPr lang="zh-CN" altLang="en-US" dirty="0" smtClean="0"/>
              <a:t>简言之：创造“足够好”的软件。</a:t>
            </a:r>
            <a:endParaRPr lang="zh-CN" altLang="zh-CN" dirty="0"/>
          </a:p>
          <a:p>
            <a:pPr marL="0" indent="0">
              <a:lnSpc>
                <a:spcPct val="150000"/>
              </a:lnSpc>
              <a:buNone/>
            </a:pPr>
            <a:r>
              <a:rPr lang="zh-CN" altLang="zh-CN" dirty="0" smtClean="0"/>
              <a:t>（</a:t>
            </a:r>
            <a:r>
              <a:rPr lang="en-US" altLang="zh-CN" dirty="0" smtClean="0"/>
              <a:t>3</a:t>
            </a:r>
            <a:r>
              <a:rPr lang="zh-CN" altLang="zh-CN" dirty="0" smtClean="0"/>
              <a:t>）</a:t>
            </a:r>
            <a:r>
              <a:rPr lang="zh-CN" altLang="zh-CN" dirty="0"/>
              <a:t>核心思想：把软件产品看作是一个工程产品来处理。</a:t>
            </a:r>
          </a:p>
        </p:txBody>
      </p:sp>
    </p:spTree>
    <p:extLst>
      <p:ext uri="{BB962C8B-B14F-4D97-AF65-F5344CB8AC3E}">
        <p14:creationId xmlns:p14="http://schemas.microsoft.com/office/powerpoint/2010/main" val="34183528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a:t>
            </a:r>
            <a:r>
              <a:rPr lang="zh-CN" altLang="en-US" dirty="0" smtClean="0"/>
              <a:t>、软件工程概述</a:t>
            </a:r>
            <a:endParaRPr lang="zh-CN" altLang="en-US" dirty="0"/>
          </a:p>
        </p:txBody>
      </p:sp>
      <p:sp>
        <p:nvSpPr>
          <p:cNvPr id="3" name="内容占位符 2"/>
          <p:cNvSpPr>
            <a:spLocks noGrp="1"/>
          </p:cNvSpPr>
          <p:nvPr>
            <p:ph idx="1"/>
          </p:nvPr>
        </p:nvSpPr>
        <p:spPr>
          <a:xfrm>
            <a:off x="457200" y="1052736"/>
            <a:ext cx="8229600" cy="5233784"/>
          </a:xfrm>
        </p:spPr>
        <p:txBody>
          <a:bodyPr/>
          <a:lstStyle/>
          <a:p>
            <a:pPr marL="0" indent="0">
              <a:buNone/>
            </a:pPr>
            <a:r>
              <a:rPr lang="zh-CN" altLang="zh-CN" dirty="0" smtClean="0"/>
              <a:t>（</a:t>
            </a:r>
            <a:r>
              <a:rPr lang="en-US" altLang="zh-CN" dirty="0" smtClean="0"/>
              <a:t>4</a:t>
            </a:r>
            <a:r>
              <a:rPr lang="zh-CN" altLang="zh-CN" dirty="0" smtClean="0"/>
              <a:t>）</a:t>
            </a:r>
            <a:r>
              <a:rPr lang="zh-CN" altLang="zh-CN" dirty="0"/>
              <a:t>软件工程的三个要素：方法、工具和过程</a:t>
            </a:r>
            <a:r>
              <a:rPr lang="zh-CN" altLang="zh-CN" dirty="0" smtClean="0"/>
              <a:t>。</a:t>
            </a:r>
            <a:endParaRPr lang="zh-CN" altLang="zh-C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63" y="1628800"/>
            <a:ext cx="8506937" cy="4657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61266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5.   </a:t>
            </a:r>
            <a:r>
              <a:rPr lang="zh-CN" altLang="zh-CN" sz="2000" b="1" dirty="0" smtClean="0"/>
              <a:t>软件</a:t>
            </a:r>
            <a:r>
              <a:rPr lang="zh-CN" altLang="zh-CN" sz="2000" b="1" dirty="0"/>
              <a:t>生命周期</a:t>
            </a:r>
            <a:r>
              <a:rPr lang="zh-CN" altLang="en-US" sz="2000" b="1" dirty="0" smtClean="0"/>
              <a:t>：</a:t>
            </a:r>
            <a:endParaRPr lang="en-US" altLang="zh-CN" sz="2000" b="1" dirty="0" smtClean="0"/>
          </a:p>
          <a:p>
            <a:pPr marL="0" indent="0">
              <a:lnSpc>
                <a:spcPct val="150000"/>
              </a:lnSpc>
              <a:buNone/>
            </a:pPr>
            <a:r>
              <a:rPr lang="zh-CN" altLang="zh-CN" dirty="0"/>
              <a:t>（</a:t>
            </a:r>
            <a:r>
              <a:rPr lang="en-US" altLang="zh-CN" dirty="0"/>
              <a:t>1</a:t>
            </a:r>
            <a:r>
              <a:rPr lang="zh-CN" altLang="zh-CN" dirty="0"/>
              <a:t>）定义：将软件产品从</a:t>
            </a:r>
            <a:r>
              <a:rPr lang="zh-CN" altLang="zh-CN" dirty="0">
                <a:solidFill>
                  <a:srgbClr val="FF0000"/>
                </a:solidFill>
              </a:rPr>
              <a:t>提出</a:t>
            </a:r>
            <a:r>
              <a:rPr lang="zh-CN" altLang="zh-CN" dirty="0"/>
              <a:t>、</a:t>
            </a:r>
            <a:r>
              <a:rPr lang="zh-CN" altLang="zh-CN" dirty="0">
                <a:solidFill>
                  <a:srgbClr val="FF0000"/>
                </a:solidFill>
              </a:rPr>
              <a:t>实现</a:t>
            </a:r>
            <a:r>
              <a:rPr lang="zh-CN" altLang="zh-CN" dirty="0"/>
              <a:t>、</a:t>
            </a:r>
            <a:r>
              <a:rPr lang="zh-CN" altLang="zh-CN" dirty="0" smtClean="0">
                <a:solidFill>
                  <a:srgbClr val="FF0000"/>
                </a:solidFill>
              </a:rPr>
              <a:t>使用</a:t>
            </a:r>
            <a:r>
              <a:rPr lang="zh-CN" altLang="en-US" dirty="0" smtClean="0">
                <a:solidFill>
                  <a:srgbClr val="FF0000"/>
                </a:solidFill>
              </a:rPr>
              <a:t>、</a:t>
            </a:r>
            <a:r>
              <a:rPr lang="zh-CN" altLang="zh-CN" dirty="0" smtClean="0">
                <a:solidFill>
                  <a:srgbClr val="FF0000"/>
                </a:solidFill>
              </a:rPr>
              <a:t>维护</a:t>
            </a:r>
            <a:r>
              <a:rPr lang="zh-CN" altLang="zh-CN" dirty="0"/>
              <a:t>到</a:t>
            </a:r>
            <a:r>
              <a:rPr lang="zh-CN" altLang="zh-CN" dirty="0">
                <a:solidFill>
                  <a:srgbClr val="FF0000"/>
                </a:solidFill>
              </a:rPr>
              <a:t>停止</a:t>
            </a:r>
            <a:r>
              <a:rPr lang="zh-CN" altLang="zh-CN" dirty="0" smtClean="0">
                <a:solidFill>
                  <a:srgbClr val="FF0000"/>
                </a:solidFill>
              </a:rPr>
              <a:t>使用</a:t>
            </a:r>
            <a:r>
              <a:rPr lang="zh-CN" altLang="en-US" dirty="0" smtClean="0">
                <a:solidFill>
                  <a:srgbClr val="FF0000"/>
                </a:solidFill>
              </a:rPr>
              <a:t>或</a:t>
            </a:r>
            <a:r>
              <a:rPr lang="zh-CN" altLang="en-US" dirty="0">
                <a:solidFill>
                  <a:srgbClr val="FF0000"/>
                </a:solidFill>
              </a:rPr>
              <a:t>退役</a:t>
            </a:r>
            <a:r>
              <a:rPr lang="zh-CN" altLang="zh-CN" dirty="0" smtClean="0"/>
              <a:t>的</a:t>
            </a:r>
            <a:r>
              <a:rPr lang="zh-CN" altLang="zh-CN" dirty="0"/>
              <a:t>过程称为软件生命周期。</a:t>
            </a:r>
          </a:p>
          <a:p>
            <a:pPr marL="0" indent="0">
              <a:lnSpc>
                <a:spcPct val="150000"/>
              </a:lnSpc>
              <a:buNone/>
            </a:pPr>
            <a:r>
              <a:rPr lang="zh-CN" altLang="zh-CN" dirty="0"/>
              <a:t>（</a:t>
            </a:r>
            <a:r>
              <a:rPr lang="en-US" altLang="zh-CN" dirty="0"/>
              <a:t>2</a:t>
            </a:r>
            <a:r>
              <a:rPr lang="zh-CN" altLang="zh-CN" dirty="0"/>
              <a:t>）软件生命周期一般划分为定义、开发和维护</a:t>
            </a:r>
            <a:r>
              <a:rPr lang="en-US" altLang="zh-CN" dirty="0"/>
              <a:t>3</a:t>
            </a:r>
            <a:r>
              <a:rPr lang="zh-CN" altLang="zh-CN" dirty="0"/>
              <a:t>个阶段：</a:t>
            </a:r>
          </a:p>
          <a:p>
            <a:pPr marL="0" indent="0">
              <a:lnSpc>
                <a:spcPct val="150000"/>
              </a:lnSpc>
              <a:buNone/>
            </a:pPr>
            <a:r>
              <a:rPr lang="zh-CN" altLang="zh-CN" dirty="0"/>
              <a:t>定义阶段：可行性研究、需求分析</a:t>
            </a:r>
            <a:r>
              <a:rPr lang="en-US" altLang="zh-CN" dirty="0"/>
              <a:t>2</a:t>
            </a:r>
            <a:r>
              <a:rPr lang="zh-CN" altLang="zh-CN" dirty="0"/>
              <a:t>个</a:t>
            </a:r>
            <a:r>
              <a:rPr lang="zh-CN" altLang="zh-CN" dirty="0" smtClean="0"/>
              <a:t>阶段</a:t>
            </a:r>
            <a:r>
              <a:rPr lang="zh-CN" altLang="en-US" dirty="0" smtClean="0"/>
              <a:t>。</a:t>
            </a:r>
            <a:endParaRPr lang="zh-CN" altLang="zh-CN" dirty="0"/>
          </a:p>
          <a:p>
            <a:pPr marL="0" indent="0">
              <a:lnSpc>
                <a:spcPct val="150000"/>
              </a:lnSpc>
              <a:buNone/>
            </a:pPr>
            <a:r>
              <a:rPr lang="zh-CN" altLang="zh-CN" dirty="0"/>
              <a:t>开发阶段：概要设计、详细设计、编码实现和测试</a:t>
            </a:r>
            <a:r>
              <a:rPr lang="en-US" altLang="zh-CN" dirty="0"/>
              <a:t>4</a:t>
            </a:r>
            <a:r>
              <a:rPr lang="zh-CN" altLang="zh-CN" dirty="0"/>
              <a:t>个</a:t>
            </a:r>
            <a:r>
              <a:rPr lang="zh-CN" altLang="zh-CN" dirty="0" smtClean="0"/>
              <a:t>阶段</a:t>
            </a:r>
            <a:r>
              <a:rPr lang="zh-CN" altLang="en-US" dirty="0" smtClean="0"/>
              <a:t>。</a:t>
            </a:r>
            <a:endParaRPr lang="zh-CN" altLang="zh-CN" dirty="0"/>
          </a:p>
          <a:p>
            <a:pPr marL="0" indent="0">
              <a:lnSpc>
                <a:spcPct val="150000"/>
              </a:lnSpc>
              <a:buNone/>
            </a:pPr>
            <a:r>
              <a:rPr lang="zh-CN" altLang="zh-CN" dirty="0"/>
              <a:t>维护阶段：使用、维护、退役阶段</a:t>
            </a:r>
            <a:r>
              <a:rPr lang="zh-CN" altLang="zh-CN" dirty="0" smtClean="0"/>
              <a:t>。</a:t>
            </a:r>
            <a:endParaRPr lang="en-US" altLang="zh-CN" dirty="0" smtClean="0"/>
          </a:p>
          <a:p>
            <a:pPr marL="0" indent="0">
              <a:lnSpc>
                <a:spcPct val="150000"/>
              </a:lnSpc>
              <a:buNone/>
            </a:pPr>
            <a:r>
              <a:rPr lang="zh-CN" altLang="en-US" dirty="0" smtClean="0"/>
              <a:t>详解：</a:t>
            </a:r>
            <a:endParaRPr lang="en-US" altLang="zh-CN" dirty="0" smtClean="0"/>
          </a:p>
          <a:p>
            <a:pPr marL="0" indent="0">
              <a:lnSpc>
                <a:spcPct val="150000"/>
              </a:lnSpc>
              <a:buNone/>
            </a:pPr>
            <a:r>
              <a:rPr lang="en-US" altLang="zh-CN" dirty="0"/>
              <a:t>a. </a:t>
            </a:r>
            <a:r>
              <a:rPr lang="zh-CN" altLang="zh-CN" dirty="0"/>
              <a:t>软件定义阶段：包括制定计划和需求分析。</a:t>
            </a:r>
          </a:p>
          <a:p>
            <a:pPr marL="0" indent="0">
              <a:lnSpc>
                <a:spcPct val="150000"/>
              </a:lnSpc>
              <a:buNone/>
            </a:pPr>
            <a:r>
              <a:rPr lang="zh-CN" altLang="zh-CN" dirty="0"/>
              <a:t>制定计划：确定总目标；可行性研究；探讨解决方案；制定开发计划。</a:t>
            </a:r>
          </a:p>
          <a:p>
            <a:pPr marL="0" indent="0">
              <a:lnSpc>
                <a:spcPct val="150000"/>
              </a:lnSpc>
              <a:buNone/>
            </a:pPr>
            <a:r>
              <a:rPr lang="zh-CN" altLang="zh-CN" dirty="0"/>
              <a:t>需求分析：对待开发软件提出的需求进行分析并给出详细的定义。</a:t>
            </a:r>
          </a:p>
        </p:txBody>
      </p:sp>
    </p:spTree>
    <p:extLst>
      <p:ext uri="{BB962C8B-B14F-4D97-AF65-F5344CB8AC3E}">
        <p14:creationId xmlns:p14="http://schemas.microsoft.com/office/powerpoint/2010/main" val="23073164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zh-CN" altLang="zh-CN" dirty="0"/>
              <a:t>需求分析方法有：</a:t>
            </a:r>
            <a:r>
              <a:rPr lang="en-US" altLang="zh-CN" dirty="0"/>
              <a:t>1</a:t>
            </a:r>
            <a:r>
              <a:rPr lang="zh-CN" altLang="zh-CN" dirty="0"/>
              <a:t>）结构化需求分析方法；</a:t>
            </a:r>
            <a:r>
              <a:rPr lang="en-US" altLang="zh-CN" dirty="0"/>
              <a:t>2</a:t>
            </a:r>
            <a:r>
              <a:rPr lang="zh-CN" altLang="zh-CN" dirty="0"/>
              <a:t>）面向对象的分析方法。</a:t>
            </a:r>
          </a:p>
          <a:p>
            <a:pPr marL="0" indent="0">
              <a:lnSpc>
                <a:spcPct val="150000"/>
              </a:lnSpc>
              <a:buNone/>
            </a:pPr>
            <a:r>
              <a:rPr lang="zh-CN" altLang="zh-CN" dirty="0"/>
              <a:t>需求分析的任务就是导出目标系统的逻辑模型，解决“做什么”的问题。</a:t>
            </a:r>
          </a:p>
          <a:p>
            <a:pPr marL="0" indent="0">
              <a:lnSpc>
                <a:spcPct val="150000"/>
              </a:lnSpc>
              <a:buNone/>
            </a:pPr>
            <a:r>
              <a:rPr lang="zh-CN" altLang="zh-CN" dirty="0"/>
              <a:t>需求分析一般分为需求获取、需求分析、编写需求规格说明书和需求评审四个步骤进行</a:t>
            </a:r>
            <a:r>
              <a:rPr lang="zh-CN" altLang="en-US" dirty="0"/>
              <a:t>。</a:t>
            </a:r>
            <a:endParaRPr lang="en-US" altLang="zh-CN" dirty="0"/>
          </a:p>
          <a:p>
            <a:pPr marL="0" indent="0">
              <a:lnSpc>
                <a:spcPct val="150000"/>
              </a:lnSpc>
              <a:buNone/>
            </a:pPr>
            <a:r>
              <a:rPr lang="en-US" altLang="zh-CN" dirty="0"/>
              <a:t>b. </a:t>
            </a:r>
            <a:r>
              <a:rPr lang="zh-CN" altLang="zh-CN" dirty="0"/>
              <a:t>软件开发阶段：</a:t>
            </a:r>
          </a:p>
          <a:p>
            <a:pPr marL="0" indent="0">
              <a:lnSpc>
                <a:spcPct val="150000"/>
              </a:lnSpc>
              <a:buNone/>
            </a:pPr>
            <a:r>
              <a:rPr lang="zh-CN" altLang="zh-CN" dirty="0"/>
              <a:t>软件设计：分为概要设计和详细设计两个部分。</a:t>
            </a:r>
          </a:p>
          <a:p>
            <a:pPr marL="0" indent="0">
              <a:lnSpc>
                <a:spcPct val="150000"/>
              </a:lnSpc>
              <a:buNone/>
            </a:pPr>
            <a:r>
              <a:rPr lang="zh-CN" altLang="zh-CN" dirty="0"/>
              <a:t>软件实现：把软件设计转换成计算机可以接受的程序代码。</a:t>
            </a:r>
          </a:p>
          <a:p>
            <a:pPr marL="0" indent="0">
              <a:lnSpc>
                <a:spcPct val="150000"/>
              </a:lnSpc>
              <a:buNone/>
            </a:pPr>
            <a:r>
              <a:rPr lang="zh-CN" altLang="zh-CN" dirty="0"/>
              <a:t>软件测试：在设计</a:t>
            </a:r>
            <a:r>
              <a:rPr lang="zh-CN" altLang="zh-CN" dirty="0" smtClean="0"/>
              <a:t>测试用例的基础上检验软件的各个组成部分。</a:t>
            </a:r>
            <a:endParaRPr lang="en-US" altLang="zh-CN" dirty="0" smtClean="0"/>
          </a:p>
          <a:p>
            <a:pPr marL="0" indent="0">
              <a:lnSpc>
                <a:spcPct val="150000"/>
              </a:lnSpc>
              <a:buNone/>
            </a:pPr>
            <a:r>
              <a:rPr lang="en-US" altLang="zh-CN" dirty="0"/>
              <a:t>c. </a:t>
            </a:r>
            <a:r>
              <a:rPr lang="zh-CN" altLang="zh-CN" dirty="0"/>
              <a:t>软件运行维护阶段：软件投入运行，并在使用中不断地维护，进行必要的扩充和删改。</a:t>
            </a:r>
          </a:p>
          <a:p>
            <a:pPr marL="0" indent="0">
              <a:lnSpc>
                <a:spcPct val="150000"/>
              </a:lnSpc>
              <a:buNone/>
            </a:pPr>
            <a:r>
              <a:rPr lang="zh-CN" altLang="zh-CN" dirty="0"/>
              <a:t>注：软件生命周期中所花费最多的阶段是软件运行维护阶段。</a:t>
            </a:r>
          </a:p>
          <a:p>
            <a:pPr marL="0" indent="0">
              <a:lnSpc>
                <a:spcPct val="150000"/>
              </a:lnSpc>
              <a:buNone/>
            </a:pPr>
            <a:endParaRPr lang="en-US" altLang="zh-CN" dirty="0" smtClean="0"/>
          </a:p>
          <a:p>
            <a:pPr marL="0" indent="0">
              <a:lnSpc>
                <a:spcPct val="150000"/>
              </a:lnSpc>
              <a:buNone/>
            </a:pPr>
            <a:endParaRPr lang="zh-CN" altLang="zh-CN" dirty="0"/>
          </a:p>
        </p:txBody>
      </p:sp>
    </p:spTree>
    <p:extLst>
      <p:ext uri="{BB962C8B-B14F-4D97-AF65-F5344CB8AC3E}">
        <p14:creationId xmlns:p14="http://schemas.microsoft.com/office/powerpoint/2010/main" val="20959648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6.   </a:t>
            </a:r>
            <a:r>
              <a:rPr lang="zh-CN" altLang="zh-CN" sz="2000" b="1" dirty="0" smtClean="0"/>
              <a:t>软件</a:t>
            </a:r>
            <a:r>
              <a:rPr lang="zh-CN" altLang="en-US" sz="2000" b="1" dirty="0" smtClean="0"/>
              <a:t>工程原则：</a:t>
            </a:r>
            <a:endParaRPr lang="en-US" altLang="zh-CN" sz="2000" b="1" dirty="0" smtClean="0"/>
          </a:p>
          <a:p>
            <a:pPr marL="0" indent="0">
              <a:lnSpc>
                <a:spcPct val="150000"/>
              </a:lnSpc>
              <a:buNone/>
            </a:pPr>
            <a:r>
              <a:rPr lang="zh-CN" altLang="zh-CN" dirty="0"/>
              <a:t>软件工程原则：抽象、信息隐蔽、模块化、局部化、确定性、一致性、完备性和可验证</a:t>
            </a:r>
            <a:r>
              <a:rPr lang="zh-CN" altLang="zh-CN" dirty="0" smtClean="0"/>
              <a:t>性</a:t>
            </a:r>
            <a:r>
              <a:rPr lang="zh-CN" altLang="en-US" dirty="0" smtClean="0"/>
              <a:t>。</a:t>
            </a:r>
            <a:endParaRPr lang="en-US" altLang="zh-CN" dirty="0"/>
          </a:p>
        </p:txBody>
      </p:sp>
    </p:spTree>
    <p:extLst>
      <p:ext uri="{BB962C8B-B14F-4D97-AF65-F5344CB8AC3E}">
        <p14:creationId xmlns:p14="http://schemas.microsoft.com/office/powerpoint/2010/main" val="884067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7.   </a:t>
            </a:r>
            <a:r>
              <a:rPr lang="zh-CN" altLang="en-US" sz="2000" b="1" dirty="0" smtClean="0"/>
              <a:t>软件工程过程：</a:t>
            </a:r>
            <a:endParaRPr lang="en-US" altLang="zh-CN" sz="2000" b="1" dirty="0" smtClean="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42" y="1916832"/>
            <a:ext cx="8998692" cy="4199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54323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7.   </a:t>
            </a:r>
            <a:r>
              <a:rPr lang="zh-CN" altLang="en-US" sz="2000" b="1" dirty="0" smtClean="0"/>
              <a:t>软件工程过程：</a:t>
            </a:r>
            <a:endParaRPr lang="en-US" altLang="zh-CN" sz="2000" b="1"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99" y="1916832"/>
            <a:ext cx="9040124" cy="3895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42377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8.   </a:t>
            </a:r>
            <a:r>
              <a:rPr lang="zh-CN" altLang="en-US" sz="2000" b="1" dirty="0" smtClean="0"/>
              <a:t>软件工程方法：</a:t>
            </a:r>
            <a:endParaRPr lang="en-US" altLang="zh-CN" sz="2000" b="1"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 y="2216246"/>
            <a:ext cx="8939336" cy="3365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06048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smtClean="0"/>
              <a:t>二、软件工程概述</a:t>
            </a:r>
            <a:r>
              <a:rPr lang="zh-CN" altLang="en-US" sz="3200" dirty="0"/>
              <a:t/>
            </a:r>
            <a:br>
              <a:rPr lang="zh-CN" altLang="en-US" sz="3200" dirty="0"/>
            </a:br>
            <a:endParaRPr lang="zh-CN" altLang="en-US" dirty="0"/>
          </a:p>
        </p:txBody>
      </p:sp>
      <p:sp>
        <p:nvSpPr>
          <p:cNvPr id="3" name="内容占位符 2"/>
          <p:cNvSpPr>
            <a:spLocks noGrp="1"/>
          </p:cNvSpPr>
          <p:nvPr>
            <p:ph idx="1"/>
          </p:nvPr>
        </p:nvSpPr>
        <p:spPr>
          <a:xfrm>
            <a:off x="457200" y="1268760"/>
            <a:ext cx="8229600" cy="5328592"/>
          </a:xfrm>
        </p:spPr>
        <p:txBody>
          <a:bodyPr/>
          <a:lstStyle/>
          <a:p>
            <a:pPr marL="0" indent="0">
              <a:lnSpc>
                <a:spcPct val="150000"/>
              </a:lnSpc>
              <a:buNone/>
            </a:pPr>
            <a:r>
              <a:rPr lang="en-US" altLang="zh-CN" sz="2000" b="1" dirty="0" smtClean="0"/>
              <a:t>9.   </a:t>
            </a:r>
            <a:r>
              <a:rPr lang="zh-CN" altLang="en-US" sz="2000" b="1" dirty="0" smtClean="0"/>
              <a:t>软件工程工具：</a:t>
            </a:r>
            <a:endParaRPr lang="en-US" altLang="zh-CN" sz="2000" b="1" dirty="0" smtClean="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 y="1988841"/>
            <a:ext cx="9082651"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31364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1</a:t>
            </a:r>
            <a:r>
              <a:rPr lang="zh-CN" altLang="zh-CN" b="1" dirty="0" smtClean="0"/>
              <a:t>．</a:t>
            </a:r>
            <a:r>
              <a:rPr lang="zh-CN" altLang="en-US" b="1" dirty="0" smtClean="0"/>
              <a:t>通常，一个软件要经历以下过程：</a:t>
            </a:r>
            <a:endParaRPr lang="en-US" altLang="zh-CN" b="1" dirty="0" smtClean="0"/>
          </a:p>
          <a:p>
            <a:pPr>
              <a:buFont typeface="Wingdings" panose="05000000000000000000" pitchFamily="2" charset="2"/>
              <a:buChar char="Ø"/>
            </a:pPr>
            <a:r>
              <a:rPr lang="zh-CN" altLang="en-US" dirty="0" smtClean="0"/>
              <a:t>需求</a:t>
            </a:r>
            <a:endParaRPr lang="en-US" altLang="zh-CN" dirty="0" smtClean="0"/>
          </a:p>
          <a:p>
            <a:pPr>
              <a:buFont typeface="Wingdings" panose="05000000000000000000" pitchFamily="2" charset="2"/>
              <a:buChar char="Ø"/>
            </a:pPr>
            <a:r>
              <a:rPr lang="zh-CN" altLang="en-US" dirty="0" smtClean="0"/>
              <a:t>分析</a:t>
            </a:r>
            <a:endParaRPr lang="en-US" altLang="zh-CN" dirty="0" smtClean="0"/>
          </a:p>
          <a:p>
            <a:pPr>
              <a:buFont typeface="Wingdings" panose="05000000000000000000" pitchFamily="2" charset="2"/>
              <a:buChar char="Ø"/>
            </a:pPr>
            <a:r>
              <a:rPr lang="zh-CN" altLang="en-US" dirty="0" smtClean="0"/>
              <a:t>设计</a:t>
            </a:r>
            <a:endParaRPr lang="en-US" altLang="zh-CN" dirty="0" smtClean="0"/>
          </a:p>
          <a:p>
            <a:pPr>
              <a:buFont typeface="Wingdings" panose="05000000000000000000" pitchFamily="2" charset="2"/>
              <a:buChar char="Ø"/>
            </a:pPr>
            <a:r>
              <a:rPr lang="zh-CN" altLang="en-US" dirty="0"/>
              <a:t>实现</a:t>
            </a:r>
            <a:endParaRPr lang="en-US" altLang="zh-CN" dirty="0" smtClean="0"/>
          </a:p>
          <a:p>
            <a:pPr>
              <a:buFont typeface="Wingdings" panose="05000000000000000000" pitchFamily="2" charset="2"/>
              <a:buChar char="Ø"/>
            </a:pPr>
            <a:r>
              <a:rPr lang="zh-CN" altLang="en-US" dirty="0" smtClean="0"/>
              <a:t>集成</a:t>
            </a:r>
            <a:endParaRPr lang="en-US" altLang="zh-CN" dirty="0" smtClean="0"/>
          </a:p>
          <a:p>
            <a:pPr>
              <a:buFont typeface="Wingdings" panose="05000000000000000000" pitchFamily="2" charset="2"/>
              <a:buChar char="Ø"/>
            </a:pPr>
            <a:r>
              <a:rPr lang="zh-CN" altLang="en-US" dirty="0" smtClean="0"/>
              <a:t>维护</a:t>
            </a:r>
            <a:endParaRPr lang="en-US" altLang="zh-CN" dirty="0" smtClean="0"/>
          </a:p>
          <a:p>
            <a:pPr>
              <a:buFont typeface="Wingdings" panose="05000000000000000000" pitchFamily="2" charset="2"/>
              <a:buChar char="Ø"/>
            </a:pPr>
            <a:r>
              <a:rPr lang="zh-CN" altLang="en-US" dirty="0" smtClean="0"/>
              <a:t>退役</a:t>
            </a:r>
            <a:endParaRPr lang="en-US" altLang="zh-CN" dirty="0" smtClean="0"/>
          </a:p>
          <a:p>
            <a:pPr marL="0" indent="0">
              <a:buNone/>
            </a:pPr>
            <a:r>
              <a:rPr lang="zh-CN" altLang="en-US" dirty="0" smtClean="0"/>
              <a:t>        以上阶段，哪个最重要呢？</a:t>
            </a:r>
            <a:endParaRPr lang="en-US" altLang="zh-CN" dirty="0" smtClean="0"/>
          </a:p>
          <a:p>
            <a:pPr marL="0" indent="0">
              <a:buNone/>
            </a:pPr>
            <a:r>
              <a:rPr lang="zh-CN" altLang="en-US" dirty="0" smtClean="0"/>
              <a:t>        显然，需求是目标软件产品的根和源。如果需求不准确或是错误的，无论如何也不可能开发出满足客户需求的软件产品，也就是说，需求对软件产品的最终成功起着至关重要的作用。</a:t>
            </a:r>
            <a:endParaRPr lang="zh-CN" altLang="zh-CN" dirty="0"/>
          </a:p>
        </p:txBody>
      </p:sp>
    </p:spTree>
    <p:extLst>
      <p:ext uri="{BB962C8B-B14F-4D97-AF65-F5344CB8AC3E}">
        <p14:creationId xmlns:p14="http://schemas.microsoft.com/office/powerpoint/2010/main" val="38816068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2</a:t>
            </a:r>
            <a:r>
              <a:rPr lang="zh-CN" altLang="zh-CN" b="1" dirty="0" smtClean="0"/>
              <a:t>．</a:t>
            </a:r>
            <a:r>
              <a:rPr lang="zh-CN" altLang="en-US" b="1" dirty="0" smtClean="0"/>
              <a:t>有的人说，需求的任务就是要确定客户想要什么，</a:t>
            </a:r>
            <a:r>
              <a:rPr lang="zh-CN" altLang="en-US" b="1" dirty="0"/>
              <a:t>这是一个错误的</a:t>
            </a:r>
            <a:r>
              <a:rPr lang="zh-CN" altLang="en-US" b="1" dirty="0" smtClean="0"/>
              <a:t>概念。</a:t>
            </a:r>
            <a:endParaRPr lang="en-US" altLang="zh-CN" b="1" dirty="0" smtClean="0"/>
          </a:p>
          <a:p>
            <a:pPr marL="0" indent="0">
              <a:buNone/>
            </a:pPr>
            <a:r>
              <a:rPr lang="zh-CN" altLang="en-US" b="1" dirty="0" smtClean="0"/>
              <a:t>正确的概念：需求的真正目标是确定客户到底需要什么？</a:t>
            </a:r>
            <a:endParaRPr lang="en-US" altLang="zh-CN" b="1" dirty="0" smtClean="0"/>
          </a:p>
          <a:p>
            <a:pPr marL="0" indent="0">
              <a:buNone/>
            </a:pPr>
            <a:r>
              <a:rPr lang="zh-CN" altLang="en-US" b="1" dirty="0" smtClean="0"/>
              <a:t>客户想要什么和需要什么是完全不同的概念。</a:t>
            </a:r>
            <a:endParaRPr lang="en-US" altLang="zh-CN" b="1" dirty="0" smtClean="0"/>
          </a:p>
          <a:p>
            <a:pPr marL="0" indent="0">
              <a:buNone/>
            </a:pPr>
            <a:endParaRPr lang="en-US" altLang="zh-CN" b="1" dirty="0" smtClean="0"/>
          </a:p>
        </p:txBody>
      </p:sp>
    </p:spTree>
    <p:extLst>
      <p:ext uri="{BB962C8B-B14F-4D97-AF65-F5344CB8AC3E}">
        <p14:creationId xmlns:p14="http://schemas.microsoft.com/office/powerpoint/2010/main" val="38932229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3</a:t>
            </a:r>
            <a:r>
              <a:rPr lang="zh-CN" altLang="zh-CN" b="1" dirty="0" smtClean="0"/>
              <a:t>．</a:t>
            </a:r>
            <a:r>
              <a:rPr lang="zh-CN" altLang="en-US" b="1" dirty="0" smtClean="0"/>
              <a:t>根据</a:t>
            </a:r>
            <a:r>
              <a:rPr lang="zh-CN" altLang="en-US" b="1" dirty="0" smtClean="0"/>
              <a:t>获取和确定软件需求的能力和水平，分为</a:t>
            </a:r>
            <a:r>
              <a:rPr lang="en-US" altLang="zh-CN" b="1" dirty="0" smtClean="0"/>
              <a:t>3</a:t>
            </a:r>
            <a:r>
              <a:rPr lang="zh-CN" altLang="en-US" b="1" dirty="0" smtClean="0"/>
              <a:t>个层次：</a:t>
            </a:r>
            <a:endParaRPr lang="en-US" altLang="zh-CN" b="1" dirty="0" smtClean="0"/>
          </a:p>
          <a:p>
            <a:pPr>
              <a:buFont typeface="Wingdings" panose="05000000000000000000" pitchFamily="2" charset="2"/>
              <a:buChar char="Ø"/>
            </a:pPr>
            <a:r>
              <a:rPr lang="zh-CN" altLang="en-US" b="1" dirty="0" smtClean="0"/>
              <a:t>被动型（初级形式）</a:t>
            </a:r>
            <a:r>
              <a:rPr lang="en-US" altLang="zh-CN" b="1" dirty="0" smtClean="0"/>
              <a:t>------</a:t>
            </a:r>
            <a:r>
              <a:rPr lang="zh-CN" altLang="en-US" b="1" dirty="0" smtClean="0"/>
              <a:t>客户方牵着开发方的鼻子走，开发方陷于非常被动的境地，客户要什么就给什么，需求做到这个层次，软件产品及开发方成功的可能性非常小。</a:t>
            </a:r>
            <a:endParaRPr lang="en-US" altLang="zh-CN" b="1" dirty="0" smtClean="0"/>
          </a:p>
          <a:p>
            <a:pPr>
              <a:buFont typeface="Wingdings" panose="05000000000000000000" pitchFamily="2" charset="2"/>
              <a:buChar char="Ø"/>
            </a:pPr>
            <a:r>
              <a:rPr lang="zh-CN" altLang="en-US" b="1" dirty="0" smtClean="0"/>
              <a:t>主动型</a:t>
            </a:r>
            <a:r>
              <a:rPr lang="en-US" altLang="zh-CN" b="1" dirty="0" smtClean="0"/>
              <a:t>------</a:t>
            </a:r>
            <a:r>
              <a:rPr lang="zh-CN" altLang="en-US" b="1" dirty="0" smtClean="0"/>
              <a:t>开发方</a:t>
            </a:r>
            <a:r>
              <a:rPr lang="zh-CN" altLang="en-US" b="1" dirty="0"/>
              <a:t>牵</a:t>
            </a:r>
            <a:r>
              <a:rPr lang="zh-CN" altLang="en-US" b="1" dirty="0" smtClean="0"/>
              <a:t>着客户方</a:t>
            </a:r>
            <a:r>
              <a:rPr lang="zh-CN" altLang="en-US" b="1" dirty="0"/>
              <a:t>的鼻子走，开发</a:t>
            </a:r>
            <a:r>
              <a:rPr lang="zh-CN" altLang="en-US" b="1" dirty="0" smtClean="0"/>
              <a:t>方能帮助客户发掘和确定目标软件系统的需求，开发方始终处于非常主动的地位，如果需求</a:t>
            </a:r>
            <a:r>
              <a:rPr lang="zh-CN" altLang="en-US" b="1" dirty="0"/>
              <a:t>做到这个层次，软件产品及开发方成功的可能性</a:t>
            </a:r>
            <a:r>
              <a:rPr lang="zh-CN" altLang="en-US" b="1" dirty="0" smtClean="0"/>
              <a:t>非常大，通常，成功的软件团队企业都能达到这个层次。</a:t>
            </a:r>
            <a:endParaRPr lang="en-US" altLang="zh-CN" b="1" dirty="0" smtClean="0"/>
          </a:p>
          <a:p>
            <a:pPr>
              <a:buFont typeface="Wingdings" panose="05000000000000000000" pitchFamily="2" charset="2"/>
              <a:buChar char="Ø"/>
            </a:pPr>
            <a:r>
              <a:rPr lang="zh-CN" altLang="en-US" b="1" dirty="0"/>
              <a:t>引领</a:t>
            </a:r>
            <a:r>
              <a:rPr lang="zh-CN" altLang="en-US" b="1" dirty="0" smtClean="0"/>
              <a:t>型（最高层次）</a:t>
            </a:r>
            <a:r>
              <a:rPr lang="en-US" altLang="zh-CN" b="1" dirty="0" smtClean="0"/>
              <a:t>------</a:t>
            </a:r>
            <a:r>
              <a:rPr lang="zh-CN" altLang="en-US" b="1" dirty="0"/>
              <a:t>开发</a:t>
            </a:r>
            <a:r>
              <a:rPr lang="zh-CN" altLang="en-US" b="1" dirty="0" smtClean="0"/>
              <a:t>方通常在没有确定的客户的情况下，就能发现和预见到潜在的客户群体中的需求，通过市场调查研究等方式确定需求，进而设计开发出软件产品，该产品将迅速占领市场，引领潮流。成功的例子，大家有目共睹，例如，微软的</a:t>
            </a:r>
            <a:r>
              <a:rPr lang="en-US" altLang="zh-CN" b="1" dirty="0" smtClean="0"/>
              <a:t>Windows</a:t>
            </a:r>
            <a:r>
              <a:rPr lang="zh-CN" altLang="en-US" b="1" dirty="0" smtClean="0"/>
              <a:t>和</a:t>
            </a:r>
            <a:r>
              <a:rPr lang="en-US" altLang="zh-CN" b="1" dirty="0" smtClean="0"/>
              <a:t>Office</a:t>
            </a:r>
            <a:r>
              <a:rPr lang="zh-CN" altLang="en-US" b="1" dirty="0" smtClean="0"/>
              <a:t>，引领了图形化操作系统和办公自动化的潮流，谷歌和百度引领了互联网搜索引擎的潮流，</a:t>
            </a:r>
            <a:r>
              <a:rPr lang="en-US" altLang="zh-CN" b="1" dirty="0" smtClean="0"/>
              <a:t>MSN</a:t>
            </a:r>
            <a:r>
              <a:rPr lang="zh-CN" altLang="en-US" b="1" dirty="0" smtClean="0"/>
              <a:t>、微信和</a:t>
            </a:r>
            <a:r>
              <a:rPr lang="en-US" altLang="zh-CN" b="1" dirty="0" smtClean="0"/>
              <a:t>QQ</a:t>
            </a:r>
            <a:r>
              <a:rPr lang="zh-CN" altLang="en-US" b="1" dirty="0" smtClean="0"/>
              <a:t>引领了互联网时代网络社交的潮流等等。做到这个层次，软件产品和软件团队企业将获得极大的成功。</a:t>
            </a:r>
            <a:endParaRPr lang="en-US" altLang="zh-CN" b="1" dirty="0" smtClean="0"/>
          </a:p>
        </p:txBody>
      </p:sp>
    </p:spTree>
    <p:extLst>
      <p:ext uri="{BB962C8B-B14F-4D97-AF65-F5344CB8AC3E}">
        <p14:creationId xmlns:p14="http://schemas.microsoft.com/office/powerpoint/2010/main" val="16659504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4</a:t>
            </a:r>
            <a:r>
              <a:rPr lang="zh-CN" altLang="zh-CN" b="1" dirty="0" smtClean="0"/>
              <a:t>．</a:t>
            </a:r>
            <a:r>
              <a:rPr lang="zh-CN" altLang="en-US" b="1" dirty="0" smtClean="0"/>
              <a:t>如何获取需求</a:t>
            </a:r>
            <a:endParaRPr lang="en-US" altLang="zh-CN" b="1" dirty="0" smtClean="0"/>
          </a:p>
          <a:p>
            <a:pPr marL="0" indent="0">
              <a:buNone/>
            </a:pPr>
            <a:r>
              <a:rPr lang="zh-CN" altLang="en-US" b="1" dirty="0"/>
              <a:t>第一</a:t>
            </a:r>
            <a:r>
              <a:rPr lang="zh-CN" altLang="en-US" b="1" dirty="0" smtClean="0"/>
              <a:t>步，准备阶段</a:t>
            </a:r>
            <a:endParaRPr lang="en-US" altLang="zh-CN" b="1" dirty="0" smtClean="0"/>
          </a:p>
          <a:p>
            <a:pPr marL="0" indent="0">
              <a:buNone/>
            </a:pPr>
            <a:r>
              <a:rPr lang="zh-CN" altLang="en-US" b="1" dirty="0"/>
              <a:t>第二</a:t>
            </a:r>
            <a:r>
              <a:rPr lang="zh-CN" altLang="en-US" b="1" dirty="0" smtClean="0"/>
              <a:t>步，需求的抽取、记录和分析。</a:t>
            </a:r>
            <a:endParaRPr lang="en-US" altLang="zh-CN" b="1" dirty="0" smtClean="0"/>
          </a:p>
          <a:p>
            <a:pPr marL="0" indent="0">
              <a:buNone/>
            </a:pPr>
            <a:r>
              <a:rPr lang="zh-CN" altLang="en-US" b="1" dirty="0" smtClean="0"/>
              <a:t>第三步，完成需求文档。</a:t>
            </a:r>
            <a:endParaRPr lang="en-US" altLang="zh-CN" b="1" dirty="0" smtClean="0"/>
          </a:p>
          <a:p>
            <a:pPr marL="0" indent="0">
              <a:buNone/>
            </a:pPr>
            <a:r>
              <a:rPr lang="zh-CN" altLang="en-US" b="1" dirty="0" smtClean="0"/>
              <a:t>第四步，需求的确认。</a:t>
            </a:r>
            <a:endParaRPr lang="en-US" altLang="zh-CN" b="1" dirty="0" smtClean="0"/>
          </a:p>
          <a:p>
            <a:pPr marL="0" indent="0">
              <a:buNone/>
            </a:pPr>
            <a:endParaRPr lang="en-US" altLang="zh-CN" b="1" dirty="0" smtClean="0"/>
          </a:p>
        </p:txBody>
      </p:sp>
    </p:spTree>
    <p:extLst>
      <p:ext uri="{BB962C8B-B14F-4D97-AF65-F5344CB8AC3E}">
        <p14:creationId xmlns:p14="http://schemas.microsoft.com/office/powerpoint/2010/main" val="7906503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en-US" b="1" dirty="0" smtClean="0"/>
              <a:t>第一步，准备阶段</a:t>
            </a:r>
            <a:endParaRPr lang="en-US" altLang="zh-CN" b="1" dirty="0" smtClean="0"/>
          </a:p>
          <a:p>
            <a:pPr marL="0" indent="0">
              <a:buNone/>
            </a:pPr>
            <a:r>
              <a:rPr lang="zh-CN" altLang="en-US" b="1" dirty="0" smtClean="0"/>
              <a:t>包括三项工作：</a:t>
            </a:r>
            <a:endParaRPr lang="en-US" altLang="zh-CN" b="1" dirty="0" smtClean="0"/>
          </a:p>
          <a:p>
            <a:pPr marL="0" indent="0">
              <a:buNone/>
            </a:pPr>
            <a:r>
              <a:rPr lang="zh-CN" altLang="en-US" b="1" dirty="0" smtClean="0"/>
              <a:t>（</a:t>
            </a:r>
            <a:r>
              <a:rPr lang="en-US" altLang="zh-CN" b="1" dirty="0" smtClean="0"/>
              <a:t>1</a:t>
            </a:r>
            <a:r>
              <a:rPr lang="zh-CN" altLang="en-US" b="1" dirty="0" smtClean="0"/>
              <a:t>）确定本次需求调研要获取和收集什么</a:t>
            </a:r>
            <a:endParaRPr lang="en-US" altLang="zh-CN" b="1" dirty="0" smtClean="0"/>
          </a:p>
          <a:p>
            <a:pPr>
              <a:buFont typeface="Wingdings" panose="05000000000000000000" pitchFamily="2" charset="2"/>
              <a:buChar char="Ø"/>
            </a:pPr>
            <a:r>
              <a:rPr lang="zh-CN" altLang="en-US" b="1" dirty="0" smtClean="0"/>
              <a:t>本次调研的内容</a:t>
            </a:r>
            <a:endParaRPr lang="en-US" altLang="zh-CN" b="1" dirty="0" smtClean="0"/>
          </a:p>
          <a:p>
            <a:pPr>
              <a:buFont typeface="Wingdings" panose="05000000000000000000" pitchFamily="2" charset="2"/>
              <a:buChar char="Ø"/>
            </a:pPr>
            <a:r>
              <a:rPr lang="zh-CN" altLang="en-US" b="1" dirty="0" smtClean="0"/>
              <a:t>事先列出问题清单，通常，用户没有耐心、细致的回答问题，所以，题目通常做成客户可选择或判断的的形式，以简化用户答题的过程。</a:t>
            </a:r>
            <a:endParaRPr lang="en-US" altLang="zh-CN" b="1" dirty="0" smtClean="0"/>
          </a:p>
          <a:p>
            <a:pPr marL="0" indent="0">
              <a:buNone/>
            </a:pPr>
            <a:r>
              <a:rPr lang="zh-CN" altLang="en-US" b="1" dirty="0" smtClean="0"/>
              <a:t>（</a:t>
            </a:r>
            <a:r>
              <a:rPr lang="en-US" altLang="zh-CN" b="1" dirty="0" smtClean="0"/>
              <a:t>2</a:t>
            </a:r>
            <a:r>
              <a:rPr lang="zh-CN" altLang="en-US" b="1" dirty="0" smtClean="0"/>
              <a:t>）采用哪些方法或手段</a:t>
            </a:r>
            <a:endParaRPr lang="en-US" altLang="zh-CN" b="1" dirty="0" smtClean="0"/>
          </a:p>
          <a:p>
            <a:pPr>
              <a:buFont typeface="Wingdings" panose="05000000000000000000" pitchFamily="2" charset="2"/>
              <a:buChar char="Ø"/>
            </a:pPr>
            <a:r>
              <a:rPr lang="zh-CN" altLang="en-US" b="1" dirty="0" smtClean="0"/>
              <a:t>访谈客户与用户</a:t>
            </a:r>
            <a:endParaRPr lang="en-US" altLang="zh-CN" b="1" dirty="0" smtClean="0"/>
          </a:p>
          <a:p>
            <a:pPr>
              <a:buFont typeface="Wingdings" panose="05000000000000000000" pitchFamily="2" charset="2"/>
              <a:buChar char="Ø"/>
            </a:pPr>
            <a:r>
              <a:rPr lang="zh-CN" altLang="en-US" b="1" dirty="0" smtClean="0"/>
              <a:t>问卷调查</a:t>
            </a:r>
            <a:endParaRPr lang="en-US" altLang="zh-CN" b="1" dirty="0" smtClean="0"/>
          </a:p>
          <a:p>
            <a:pPr>
              <a:buFont typeface="Wingdings" panose="05000000000000000000" pitchFamily="2" charset="2"/>
              <a:buChar char="Ø"/>
            </a:pPr>
            <a:r>
              <a:rPr lang="zh-CN" altLang="en-US" b="1" dirty="0" smtClean="0"/>
              <a:t>对用户过程中所用表格进行分析</a:t>
            </a:r>
            <a:endParaRPr lang="en-US" altLang="zh-CN" b="1" dirty="0" smtClean="0"/>
          </a:p>
          <a:p>
            <a:pPr>
              <a:buFont typeface="Wingdings" panose="05000000000000000000" pitchFamily="2" charset="2"/>
              <a:buChar char="Ø"/>
            </a:pPr>
            <a:r>
              <a:rPr lang="zh-CN" altLang="en-US" b="1" dirty="0" smtClean="0"/>
              <a:t>对业务过程中的录像进行分析</a:t>
            </a:r>
            <a:endParaRPr lang="en-US" altLang="zh-CN" b="1" dirty="0" smtClean="0"/>
          </a:p>
          <a:p>
            <a:pPr>
              <a:buFont typeface="Wingdings" panose="05000000000000000000" pitchFamily="2" charset="2"/>
              <a:buChar char="Ø"/>
            </a:pPr>
            <a:r>
              <a:rPr lang="zh-CN" altLang="en-US" b="1" dirty="0" smtClean="0"/>
              <a:t>情景分析</a:t>
            </a:r>
            <a:endParaRPr lang="en-US" altLang="zh-CN" b="1" dirty="0" smtClean="0"/>
          </a:p>
          <a:p>
            <a:pPr>
              <a:buFont typeface="Wingdings" panose="05000000000000000000" pitchFamily="2" charset="2"/>
              <a:buChar char="Ø"/>
            </a:pPr>
            <a:r>
              <a:rPr lang="zh-CN" altLang="en-US" b="1" dirty="0" smtClean="0"/>
              <a:t>快速原型</a:t>
            </a:r>
            <a:endParaRPr lang="en-US" altLang="zh-CN" b="1" dirty="0" smtClean="0"/>
          </a:p>
        </p:txBody>
      </p:sp>
    </p:spTree>
    <p:extLst>
      <p:ext uri="{BB962C8B-B14F-4D97-AF65-F5344CB8AC3E}">
        <p14:creationId xmlns:p14="http://schemas.microsoft.com/office/powerpoint/2010/main" val="4403366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a:buFont typeface="Wingdings" panose="05000000000000000000" pitchFamily="2" charset="2"/>
              <a:buChar char="Ø"/>
            </a:pPr>
            <a:r>
              <a:rPr lang="zh-CN" altLang="en-US" b="1" dirty="0" smtClean="0"/>
              <a:t>对专家进行访谈</a:t>
            </a:r>
            <a:endParaRPr lang="en-US" altLang="zh-CN" b="1" dirty="0" smtClean="0"/>
          </a:p>
          <a:p>
            <a:pPr>
              <a:buFont typeface="Wingdings" panose="05000000000000000000" pitchFamily="2" charset="2"/>
              <a:buChar char="Ø"/>
            </a:pPr>
            <a:r>
              <a:rPr lang="zh-CN" altLang="en-US" b="1" dirty="0" smtClean="0"/>
              <a:t>分析现有的、类似的软件产品</a:t>
            </a:r>
            <a:endParaRPr lang="en-US" altLang="zh-CN" b="1" dirty="0" smtClean="0"/>
          </a:p>
          <a:p>
            <a:pPr>
              <a:buFont typeface="Wingdings" panose="05000000000000000000" pitchFamily="2" charset="2"/>
              <a:buChar char="Ø"/>
            </a:pPr>
            <a:r>
              <a:rPr lang="zh-CN" altLang="en-US" b="1" dirty="0" smtClean="0"/>
              <a:t>从行业标准和制度中提取需求</a:t>
            </a:r>
            <a:endParaRPr lang="en-US" altLang="zh-CN" b="1" dirty="0" smtClean="0"/>
          </a:p>
          <a:p>
            <a:pPr>
              <a:buFont typeface="Wingdings" panose="05000000000000000000" pitchFamily="2" charset="2"/>
              <a:buChar char="Ø"/>
            </a:pPr>
            <a:r>
              <a:rPr lang="zh-CN" altLang="en-US" b="1" dirty="0" smtClean="0"/>
              <a:t>从互联网上查找信息</a:t>
            </a:r>
            <a:endParaRPr lang="en-US" altLang="zh-CN" b="1" dirty="0" smtClean="0"/>
          </a:p>
          <a:p>
            <a:pPr marL="0" indent="0">
              <a:buNone/>
            </a:pPr>
            <a:r>
              <a:rPr lang="zh-CN" altLang="en-US" b="1" dirty="0" smtClean="0"/>
              <a:t>（</a:t>
            </a:r>
            <a:r>
              <a:rPr lang="en-US" altLang="zh-CN" b="1" dirty="0"/>
              <a:t>3</a:t>
            </a:r>
            <a:r>
              <a:rPr lang="zh-CN" altLang="en-US" b="1" dirty="0" smtClean="0"/>
              <a:t>）时间、地点及参与的人员</a:t>
            </a:r>
            <a:endParaRPr lang="en-US" altLang="zh-CN" b="1" dirty="0" smtClean="0"/>
          </a:p>
          <a:p>
            <a:pPr marL="0" indent="0">
              <a:buNone/>
            </a:pPr>
            <a:endParaRPr lang="en-US" altLang="zh-CN" b="1" dirty="0" smtClean="0"/>
          </a:p>
        </p:txBody>
      </p:sp>
    </p:spTree>
    <p:extLst>
      <p:ext uri="{BB962C8B-B14F-4D97-AF65-F5344CB8AC3E}">
        <p14:creationId xmlns:p14="http://schemas.microsoft.com/office/powerpoint/2010/main" val="42132304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en-US" b="1" dirty="0"/>
              <a:t>第二步，需求的抽取、记录和分析</a:t>
            </a:r>
            <a:r>
              <a:rPr lang="zh-CN" altLang="en-US" b="1" dirty="0" smtClean="0"/>
              <a:t>。</a:t>
            </a:r>
            <a:endParaRPr lang="en-US" altLang="zh-CN" b="1" dirty="0" smtClean="0"/>
          </a:p>
          <a:p>
            <a:pPr marL="0" indent="0">
              <a:buNone/>
            </a:pPr>
            <a:r>
              <a:rPr lang="zh-CN" altLang="en-US" dirty="0"/>
              <a:t> </a:t>
            </a:r>
            <a:r>
              <a:rPr lang="zh-CN" altLang="en-US" dirty="0" smtClean="0"/>
              <a:t>       每次</a:t>
            </a:r>
            <a:r>
              <a:rPr lang="zh-CN" altLang="en-US" dirty="0"/>
              <a:t>调研，开发方都要与客户详细地把每一项业务进行明确、有效的讨论、分析、抽取和确认，并做详细记录，每次到要形成一个调研记录文档。</a:t>
            </a:r>
            <a:endParaRPr lang="en-US" altLang="zh-CN" dirty="0"/>
          </a:p>
          <a:p>
            <a:pPr marL="0" indent="0">
              <a:buNone/>
            </a:pPr>
            <a:endParaRPr lang="en-US" altLang="zh-CN" dirty="0"/>
          </a:p>
        </p:txBody>
      </p:sp>
    </p:spTree>
    <p:extLst>
      <p:ext uri="{BB962C8B-B14F-4D97-AF65-F5344CB8AC3E}">
        <p14:creationId xmlns:p14="http://schemas.microsoft.com/office/powerpoint/2010/main" val="4101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en-US" b="1" dirty="0"/>
              <a:t>第三步，完成需求文档</a:t>
            </a:r>
            <a:r>
              <a:rPr lang="zh-CN" altLang="en-US" b="1" dirty="0" smtClean="0"/>
              <a:t>。</a:t>
            </a:r>
            <a:endParaRPr lang="en-US" altLang="zh-CN" b="1" dirty="0" smtClean="0"/>
          </a:p>
          <a:p>
            <a:pPr marL="0" indent="0">
              <a:buNone/>
            </a:pPr>
            <a:r>
              <a:rPr lang="zh-CN" altLang="en-US" dirty="0" smtClean="0"/>
              <a:t>       基于</a:t>
            </a:r>
            <a:r>
              <a:rPr lang="zh-CN" altLang="en-US" dirty="0"/>
              <a:t>前面的调研记录，分析整理出需求文档，需求文档中包括功能性需求和非功能性需求。</a:t>
            </a:r>
            <a:endParaRPr lang="en-US" altLang="zh-CN" dirty="0"/>
          </a:p>
          <a:p>
            <a:pPr marL="0" indent="0">
              <a:buNone/>
            </a:pPr>
            <a:r>
              <a:rPr lang="zh-CN" altLang="en-US" dirty="0" smtClean="0"/>
              <a:t>      </a:t>
            </a:r>
            <a:r>
              <a:rPr lang="zh-CN" altLang="en-US" b="1" dirty="0" smtClean="0"/>
              <a:t>功能性</a:t>
            </a:r>
            <a:r>
              <a:rPr lang="zh-CN" altLang="en-US" b="1" dirty="0"/>
              <a:t>需求</a:t>
            </a:r>
            <a:r>
              <a:rPr lang="zh-CN" altLang="en-US" dirty="0"/>
              <a:t>指与目标软件的业务功能直接相关的功能。如，</a:t>
            </a:r>
            <a:r>
              <a:rPr lang="en-US" altLang="zh-CN" dirty="0"/>
              <a:t>HM</a:t>
            </a:r>
            <a:r>
              <a:rPr lang="zh-CN" altLang="en-US" dirty="0"/>
              <a:t>系统中的，报表管理，能耗分析等。</a:t>
            </a:r>
            <a:endParaRPr lang="en-US" altLang="zh-CN" dirty="0"/>
          </a:p>
          <a:p>
            <a:pPr marL="0" indent="0">
              <a:buNone/>
            </a:pPr>
            <a:r>
              <a:rPr lang="zh-CN" altLang="en-US" b="1" dirty="0" smtClean="0"/>
              <a:t>      非</a:t>
            </a:r>
            <a:r>
              <a:rPr lang="zh-CN" altLang="en-US" b="1" dirty="0"/>
              <a:t>功能性需求</a:t>
            </a:r>
            <a:r>
              <a:rPr lang="zh-CN" altLang="en-US" dirty="0"/>
              <a:t>指目标软件的性质，例如，可靠性、可维护性、对软件运行环境的要求等</a:t>
            </a:r>
            <a:endParaRPr lang="en-US" altLang="zh-CN" dirty="0"/>
          </a:p>
        </p:txBody>
      </p:sp>
    </p:spTree>
    <p:extLst>
      <p:ext uri="{BB962C8B-B14F-4D97-AF65-F5344CB8AC3E}">
        <p14:creationId xmlns:p14="http://schemas.microsoft.com/office/powerpoint/2010/main" val="41217305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三</a:t>
            </a:r>
            <a:r>
              <a:rPr lang="zh-CN" altLang="en-US" sz="3200" dirty="0" smtClean="0"/>
              <a:t>、</a:t>
            </a:r>
            <a:r>
              <a:rPr lang="zh-CN" altLang="zh-CN" sz="3200" dirty="0" smtClean="0"/>
              <a:t>软件</a:t>
            </a:r>
            <a:r>
              <a:rPr lang="zh-CN" altLang="en-US" sz="3200" dirty="0"/>
              <a:t>需求</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en-US" b="1" dirty="0"/>
              <a:t>第四步，需求的确认</a:t>
            </a:r>
            <a:r>
              <a:rPr lang="zh-CN" altLang="en-US" b="1" dirty="0" smtClean="0"/>
              <a:t>。</a:t>
            </a:r>
            <a:endParaRPr lang="en-US" altLang="zh-CN" b="1" dirty="0" smtClean="0"/>
          </a:p>
          <a:p>
            <a:pPr marL="0" indent="0">
              <a:buNone/>
            </a:pPr>
            <a:r>
              <a:rPr lang="zh-CN" altLang="en-US" dirty="0" smtClean="0"/>
              <a:t>        需求</a:t>
            </a:r>
            <a:r>
              <a:rPr lang="zh-CN" altLang="en-US" dirty="0"/>
              <a:t>文档要得到客户方和开发方的认可，并且客户方和开发方都要进行签字确认。</a:t>
            </a:r>
            <a:endParaRPr lang="en-US" altLang="zh-CN" dirty="0"/>
          </a:p>
          <a:p>
            <a:pPr marL="0" indent="0">
              <a:buNone/>
            </a:pPr>
            <a:endParaRPr lang="en-US" altLang="zh-CN" dirty="0"/>
          </a:p>
          <a:p>
            <a:pPr marL="0" indent="0">
              <a:buNone/>
            </a:pPr>
            <a:r>
              <a:rPr lang="zh-CN" altLang="en-US" dirty="0" smtClean="0"/>
              <a:t>        截止</a:t>
            </a:r>
            <a:r>
              <a:rPr lang="zh-CN" altLang="en-US" dirty="0"/>
              <a:t>到目前，需求工作基本结束。当然，随着分析、设计、实现和集成的开展，一旦分析需求文档中存在问题，还将回溯到需求，改进和完善需求文档。</a:t>
            </a:r>
            <a:endParaRPr lang="en-US" altLang="zh-CN" dirty="0"/>
          </a:p>
        </p:txBody>
      </p:sp>
    </p:spTree>
    <p:extLst>
      <p:ext uri="{BB962C8B-B14F-4D97-AF65-F5344CB8AC3E}">
        <p14:creationId xmlns:p14="http://schemas.microsoft.com/office/powerpoint/2010/main" val="28514743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四</a:t>
            </a:r>
            <a:r>
              <a:rPr lang="zh-CN" altLang="en-US" sz="3200" dirty="0" smtClean="0"/>
              <a:t>、</a:t>
            </a:r>
            <a:r>
              <a:rPr lang="zh-CN" altLang="en-US" sz="3200" dirty="0" smtClean="0"/>
              <a:t>软件开发基本策略</a:t>
            </a:r>
            <a:endParaRPr lang="zh-CN" altLang="en-US" dirty="0"/>
          </a:p>
        </p:txBody>
      </p:sp>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3" y="1556792"/>
            <a:ext cx="8856985" cy="36255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94834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四</a:t>
            </a:r>
            <a:r>
              <a:rPr lang="zh-CN" altLang="en-US" sz="3200" dirty="0" smtClean="0"/>
              <a:t>、</a:t>
            </a:r>
            <a:r>
              <a:rPr lang="zh-CN" altLang="en-US" sz="3200" dirty="0" smtClean="0"/>
              <a:t>软件开发基本策略</a:t>
            </a:r>
            <a:endParaRPr lang="zh-CN" altLang="en-US" dirty="0"/>
          </a:p>
        </p:txBody>
      </p:sp>
      <p:sp>
        <p:nvSpPr>
          <p:cNvPr id="3" name="内容占位符 2"/>
          <p:cNvSpPr>
            <a:spLocks noGrp="1"/>
          </p:cNvSpPr>
          <p:nvPr>
            <p:ph idx="1"/>
          </p:nvPr>
        </p:nvSpPr>
        <p:spPr>
          <a:xfrm>
            <a:off x="457200" y="1196752"/>
            <a:ext cx="8229600" cy="5661248"/>
          </a:xfrm>
        </p:spPr>
        <p:txBody>
          <a:bodyPr/>
          <a:lstStyle/>
          <a:p>
            <a:pPr marL="0" indent="0">
              <a:buNone/>
            </a:pPr>
            <a:r>
              <a:rPr lang="zh-CN" altLang="en-US" sz="2000" b="1" dirty="0">
                <a:latin typeface="微软雅黑" panose="020B0503020204020204" pitchFamily="34" charset="-122"/>
                <a:ea typeface="微软雅黑" panose="020B0503020204020204" pitchFamily="34" charset="-122"/>
              </a:rPr>
              <a:t>软件开发基本策略</a:t>
            </a:r>
            <a:r>
              <a:rPr lang="en-US" altLang="zh-CN" sz="2000" b="1" dirty="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软件复用</a:t>
            </a:r>
            <a:endParaRPr lang="en-US" altLang="zh-CN" sz="2000" b="1" dirty="0" smtClean="0">
              <a:latin typeface="微软雅黑" panose="020B0503020204020204" pitchFamily="34" charset="-122"/>
              <a:ea typeface="微软雅黑" panose="020B0503020204020204" pitchFamily="34" charset="-122"/>
            </a:endParaRPr>
          </a:p>
          <a:p>
            <a:endParaRPr lang="zh-CN" altLang="en-US" b="1"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92" y="1916832"/>
            <a:ext cx="9109607" cy="3830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09455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四</a:t>
            </a:r>
            <a:r>
              <a:rPr lang="zh-CN" altLang="en-US" sz="3200" dirty="0" smtClean="0"/>
              <a:t>、</a:t>
            </a:r>
            <a:r>
              <a:rPr lang="zh-CN" altLang="en-US" sz="3200" dirty="0" smtClean="0"/>
              <a:t>软件开发基本策略</a:t>
            </a:r>
            <a:endParaRPr lang="zh-CN" altLang="en-US" dirty="0"/>
          </a:p>
        </p:txBody>
      </p:sp>
      <p:sp>
        <p:nvSpPr>
          <p:cNvPr id="3" name="内容占位符 2"/>
          <p:cNvSpPr>
            <a:spLocks noGrp="1"/>
          </p:cNvSpPr>
          <p:nvPr>
            <p:ph idx="1"/>
          </p:nvPr>
        </p:nvSpPr>
        <p:spPr>
          <a:xfrm>
            <a:off x="457200" y="1196752"/>
            <a:ext cx="8229600" cy="5661248"/>
          </a:xfrm>
        </p:spPr>
        <p:txBody>
          <a:bodyPr/>
          <a:lstStyle/>
          <a:p>
            <a:pPr marL="0" indent="0">
              <a:buNone/>
            </a:pPr>
            <a:r>
              <a:rPr lang="zh-CN" altLang="en-US" sz="2000" b="1" dirty="0">
                <a:latin typeface="微软雅黑" panose="020B0503020204020204" pitchFamily="34" charset="-122"/>
                <a:ea typeface="微软雅黑" panose="020B0503020204020204" pitchFamily="34" charset="-122"/>
              </a:rPr>
              <a:t>软件开发基本策略</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分而治之</a:t>
            </a:r>
            <a:endParaRPr lang="zh-CN" altLang="en-US" b="1"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13" y="1916832"/>
            <a:ext cx="9061287" cy="3740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8804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四</a:t>
            </a:r>
            <a:r>
              <a:rPr lang="zh-CN" altLang="en-US" sz="3200" dirty="0" smtClean="0"/>
              <a:t>、</a:t>
            </a:r>
            <a:r>
              <a:rPr lang="zh-CN" altLang="en-US" sz="3200" dirty="0" smtClean="0"/>
              <a:t>软件开发基本策略</a:t>
            </a:r>
            <a:endParaRPr lang="zh-CN" altLang="en-US" dirty="0"/>
          </a:p>
        </p:txBody>
      </p:sp>
      <p:sp>
        <p:nvSpPr>
          <p:cNvPr id="3" name="内容占位符 2"/>
          <p:cNvSpPr>
            <a:spLocks noGrp="1"/>
          </p:cNvSpPr>
          <p:nvPr>
            <p:ph idx="1"/>
          </p:nvPr>
        </p:nvSpPr>
        <p:spPr>
          <a:xfrm>
            <a:off x="457200" y="1196752"/>
            <a:ext cx="8229600" cy="5661248"/>
          </a:xfrm>
        </p:spPr>
        <p:txBody>
          <a:bodyPr/>
          <a:lstStyle/>
          <a:p>
            <a:pPr marL="0" indent="0">
              <a:buNone/>
            </a:pPr>
            <a:r>
              <a:rPr lang="zh-CN" altLang="en-US" sz="2000" b="1" dirty="0">
                <a:latin typeface="微软雅黑" panose="020B0503020204020204" pitchFamily="34" charset="-122"/>
                <a:ea typeface="微软雅黑" panose="020B0503020204020204" pitchFamily="34" charset="-122"/>
              </a:rPr>
              <a:t>软件开发基本策略</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逐步演进</a:t>
            </a:r>
            <a:endParaRPr lang="zh-CN" altLang="en-US" b="1"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88840"/>
            <a:ext cx="9144000" cy="3969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359528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四</a:t>
            </a:r>
            <a:r>
              <a:rPr lang="zh-CN" altLang="en-US" sz="3200" dirty="0" smtClean="0"/>
              <a:t>、</a:t>
            </a:r>
            <a:r>
              <a:rPr lang="zh-CN" altLang="en-US" sz="3200" dirty="0" smtClean="0"/>
              <a:t>软件开发基本策略</a:t>
            </a:r>
            <a:endParaRPr lang="zh-CN" altLang="en-US" dirty="0"/>
          </a:p>
        </p:txBody>
      </p:sp>
      <p:sp>
        <p:nvSpPr>
          <p:cNvPr id="3" name="内容占位符 2"/>
          <p:cNvSpPr>
            <a:spLocks noGrp="1"/>
          </p:cNvSpPr>
          <p:nvPr>
            <p:ph idx="1"/>
          </p:nvPr>
        </p:nvSpPr>
        <p:spPr>
          <a:xfrm>
            <a:off x="457200" y="1196752"/>
            <a:ext cx="8229600" cy="5661248"/>
          </a:xfrm>
        </p:spPr>
        <p:txBody>
          <a:bodyPr/>
          <a:lstStyle/>
          <a:p>
            <a:pPr marL="0" indent="0">
              <a:buNone/>
            </a:pPr>
            <a:r>
              <a:rPr lang="zh-CN" altLang="en-US" sz="2000" b="1" dirty="0">
                <a:latin typeface="微软雅黑" panose="020B0503020204020204" pitchFamily="34" charset="-122"/>
                <a:ea typeface="微软雅黑" panose="020B0503020204020204" pitchFamily="34" charset="-122"/>
              </a:rPr>
              <a:t>软件开发基本策略</a:t>
            </a:r>
            <a:r>
              <a:rPr lang="en-US" altLang="zh-CN" sz="2000" b="1" dirty="0" smtClean="0">
                <a:latin typeface="微软雅黑" panose="020B0503020204020204" pitchFamily="34" charset="-122"/>
                <a:ea typeface="微软雅黑" panose="020B0503020204020204" pitchFamily="34" charset="-122"/>
              </a:rPr>
              <a:t>-</a:t>
            </a:r>
            <a:r>
              <a:rPr lang="zh-CN" altLang="en-US" sz="2000" b="1" dirty="0" smtClean="0">
                <a:latin typeface="微软雅黑" panose="020B0503020204020204" pitchFamily="34" charset="-122"/>
                <a:ea typeface="微软雅黑" panose="020B0503020204020204" pitchFamily="34" charset="-122"/>
              </a:rPr>
              <a:t>优化折中</a:t>
            </a:r>
            <a:endParaRPr lang="zh-CN" altLang="en-US"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92723"/>
            <a:ext cx="9036496" cy="3812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09671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1</a:t>
            </a:r>
            <a:r>
              <a:rPr lang="zh-CN" altLang="zh-CN" b="1" dirty="0" smtClean="0"/>
              <a:t>．</a:t>
            </a:r>
            <a:r>
              <a:rPr lang="zh-CN" altLang="en-US" b="1" dirty="0" smtClean="0"/>
              <a:t>软件测试的目的</a:t>
            </a:r>
            <a:endParaRPr lang="en-US" altLang="zh-CN" b="1" dirty="0" smtClean="0"/>
          </a:p>
          <a:p>
            <a:pPr marL="0" indent="0">
              <a:buNone/>
            </a:pPr>
            <a:r>
              <a:rPr lang="en-US" altLang="zh-CN" dirty="0" smtClean="0"/>
              <a:t>       </a:t>
            </a:r>
            <a:r>
              <a:rPr lang="zh-CN" altLang="zh-CN" dirty="0" smtClean="0"/>
              <a:t>软件测试</a:t>
            </a:r>
            <a:r>
              <a:rPr lang="zh-CN" altLang="zh-CN" dirty="0"/>
              <a:t>就是保证软件质量的重要手段，其主要过程涵盖了整个软件生命周期的过程，包括需求定义阶段的需求测试、编码阶段的单元测试、集成测试以及后期的确认测试、系统测试、验证软件是否合格、能否交付给用户使用。</a:t>
            </a:r>
          </a:p>
          <a:p>
            <a:pPr marL="0" indent="0">
              <a:buNone/>
            </a:pPr>
            <a:r>
              <a:rPr lang="en-US" altLang="zh-CN" dirty="0" smtClean="0"/>
              <a:t>       </a:t>
            </a:r>
            <a:r>
              <a:rPr lang="zh-CN" altLang="zh-CN" dirty="0" smtClean="0"/>
              <a:t>软件测试</a:t>
            </a:r>
            <a:r>
              <a:rPr lang="zh-CN" altLang="zh-CN" dirty="0"/>
              <a:t>就是使用人工或自动手段来运行或测定某个系统的过程，其目的在于检验它是否满足规定的需求或是弄清预期结果与实际结果之间的差别</a:t>
            </a:r>
            <a:r>
              <a:rPr lang="zh-CN" altLang="zh-CN" dirty="0" smtClean="0"/>
              <a:t>。</a:t>
            </a:r>
            <a:endParaRPr lang="en-US" altLang="zh-CN" dirty="0" smtClean="0"/>
          </a:p>
          <a:p>
            <a:pPr marL="0" indent="0">
              <a:buNone/>
            </a:pPr>
            <a:r>
              <a:rPr lang="en-US" altLang="zh-CN" dirty="0"/>
              <a:t> </a:t>
            </a:r>
            <a:r>
              <a:rPr lang="en-US" altLang="zh-CN" dirty="0" smtClean="0"/>
              <a:t>      </a:t>
            </a:r>
            <a:r>
              <a:rPr lang="zh-CN" altLang="en-US" dirty="0" smtClean="0"/>
              <a:t>软件测试应贯穿于整个软件过程，只有当软件退役后测试工作才应该停止。</a:t>
            </a:r>
            <a:endParaRPr lang="zh-CN" altLang="zh-CN" dirty="0"/>
          </a:p>
        </p:txBody>
      </p:sp>
    </p:spTree>
    <p:extLst>
      <p:ext uri="{BB962C8B-B14F-4D97-AF65-F5344CB8AC3E}">
        <p14:creationId xmlns:p14="http://schemas.microsoft.com/office/powerpoint/2010/main" val="15332535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a:t>2</a:t>
            </a:r>
            <a:r>
              <a:rPr lang="zh-CN" altLang="zh-CN" b="1" dirty="0" smtClean="0"/>
              <a:t>．</a:t>
            </a:r>
            <a:r>
              <a:rPr lang="zh-CN" altLang="en-US" b="1" dirty="0" smtClean="0"/>
              <a:t>软件测试的原则</a:t>
            </a:r>
            <a:endParaRPr lang="en-US" altLang="zh-CN" b="1" dirty="0" smtClean="0"/>
          </a:p>
          <a:p>
            <a:pPr marL="0" indent="0">
              <a:buNone/>
            </a:pPr>
            <a:r>
              <a:rPr lang="en-US" altLang="zh-CN" dirty="0"/>
              <a:t>1</a:t>
            </a:r>
            <a:r>
              <a:rPr lang="zh-CN" altLang="zh-CN" dirty="0"/>
              <a:t>）所有测试都应追溯到</a:t>
            </a:r>
            <a:r>
              <a:rPr lang="zh-CN" altLang="zh-CN" dirty="0" smtClean="0"/>
              <a:t>需求</a:t>
            </a:r>
            <a:r>
              <a:rPr lang="zh-CN" altLang="en-US" dirty="0" smtClean="0"/>
              <a:t>；</a:t>
            </a:r>
            <a:endParaRPr lang="zh-CN" altLang="zh-CN" dirty="0"/>
          </a:p>
          <a:p>
            <a:pPr marL="0" indent="0">
              <a:buNone/>
            </a:pPr>
            <a:r>
              <a:rPr lang="en-US" altLang="zh-CN" dirty="0"/>
              <a:t>2</a:t>
            </a:r>
            <a:r>
              <a:rPr lang="zh-CN" altLang="zh-CN" dirty="0"/>
              <a:t>）严格执行测试计划，排除测试的</a:t>
            </a:r>
            <a:r>
              <a:rPr lang="zh-CN" altLang="zh-CN" dirty="0" smtClean="0"/>
              <a:t>随意性</a:t>
            </a:r>
            <a:r>
              <a:rPr lang="zh-CN" altLang="en-US" dirty="0" smtClean="0"/>
              <a:t>；</a:t>
            </a:r>
            <a:endParaRPr lang="zh-CN" altLang="zh-CN" dirty="0"/>
          </a:p>
          <a:p>
            <a:pPr marL="0" indent="0">
              <a:buNone/>
            </a:pPr>
            <a:r>
              <a:rPr lang="en-US" altLang="zh-CN" dirty="0"/>
              <a:t>3</a:t>
            </a:r>
            <a:r>
              <a:rPr lang="zh-CN" altLang="zh-CN" dirty="0"/>
              <a:t>）避免由软件开发人员测试自己的程序，充分注意测试中的群集性</a:t>
            </a:r>
            <a:r>
              <a:rPr lang="zh-CN" altLang="zh-CN" dirty="0" smtClean="0"/>
              <a:t>现象</a:t>
            </a:r>
            <a:r>
              <a:rPr lang="zh-CN" altLang="en-US" dirty="0" smtClean="0"/>
              <a:t>；</a:t>
            </a:r>
            <a:endParaRPr lang="zh-CN" altLang="zh-CN" dirty="0"/>
          </a:p>
          <a:p>
            <a:pPr marL="0" indent="0">
              <a:buNone/>
            </a:pPr>
            <a:r>
              <a:rPr lang="en-US" altLang="zh-CN" dirty="0"/>
              <a:t>4</a:t>
            </a:r>
            <a:r>
              <a:rPr lang="zh-CN" altLang="zh-CN" dirty="0"/>
              <a:t>）除了很小的程序外，“彻底”的穷举测试是不可能</a:t>
            </a:r>
            <a:r>
              <a:rPr lang="zh-CN" altLang="zh-CN" dirty="0" smtClean="0"/>
              <a:t>的</a:t>
            </a:r>
            <a:r>
              <a:rPr lang="zh-CN" altLang="en-US" dirty="0"/>
              <a:t>；</a:t>
            </a:r>
            <a:endParaRPr lang="zh-CN" altLang="zh-CN" dirty="0"/>
          </a:p>
          <a:p>
            <a:pPr marL="0" indent="0">
              <a:buNone/>
            </a:pPr>
            <a:r>
              <a:rPr lang="en-US" altLang="zh-CN" dirty="0"/>
              <a:t>5</a:t>
            </a:r>
            <a:r>
              <a:rPr lang="zh-CN" altLang="zh-CN" dirty="0"/>
              <a:t>）妥善保存测试计划、测试用例、出错统计和最终的分析报告，为维护提供</a:t>
            </a:r>
            <a:r>
              <a:rPr lang="zh-CN" altLang="zh-CN" dirty="0" smtClean="0"/>
              <a:t>方便</a:t>
            </a:r>
            <a:r>
              <a:rPr lang="zh-CN" altLang="en-US" dirty="0"/>
              <a:t>；</a:t>
            </a:r>
            <a:endParaRPr lang="zh-CN" altLang="zh-CN" dirty="0"/>
          </a:p>
          <a:p>
            <a:pPr marL="0" indent="0">
              <a:buNone/>
            </a:pPr>
            <a:r>
              <a:rPr lang="en-US" altLang="zh-CN" dirty="0" smtClean="0"/>
              <a:t>       </a:t>
            </a:r>
            <a:r>
              <a:rPr lang="zh-CN" altLang="zh-CN" dirty="0" smtClean="0"/>
              <a:t>软件测试</a:t>
            </a:r>
            <a:r>
              <a:rPr lang="zh-CN" altLang="zh-CN" dirty="0"/>
              <a:t>的每一次测试都需要准备好一些测试数据，与被测程序一起输入到计算机中执行；</a:t>
            </a:r>
          </a:p>
          <a:p>
            <a:pPr marL="0" indent="0">
              <a:buNone/>
            </a:pPr>
            <a:r>
              <a:rPr lang="en-US" altLang="zh-CN" dirty="0" smtClean="0"/>
              <a:t>       </a:t>
            </a:r>
            <a:r>
              <a:rPr lang="zh-CN" altLang="zh-CN" dirty="0" smtClean="0"/>
              <a:t>一般</a:t>
            </a:r>
            <a:r>
              <a:rPr lang="zh-CN" altLang="zh-CN" dirty="0"/>
              <a:t>把程序执行一次需要的一组测试数据和该组测试数据可以得出怎样的输出结果</a:t>
            </a:r>
            <a:r>
              <a:rPr lang="en-US" altLang="zh-CN" dirty="0"/>
              <a:t>(</a:t>
            </a:r>
            <a:r>
              <a:rPr lang="zh-CN" altLang="zh-CN" dirty="0"/>
              <a:t>期望结果</a:t>
            </a:r>
            <a:r>
              <a:rPr lang="en-US" altLang="zh-CN" dirty="0"/>
              <a:t>)</a:t>
            </a:r>
            <a:r>
              <a:rPr lang="zh-CN" altLang="zh-CN" dirty="0"/>
              <a:t>称为一个</a:t>
            </a:r>
            <a:r>
              <a:rPr lang="en-US" altLang="zh-CN" dirty="0"/>
              <a:t>“</a:t>
            </a:r>
            <a:r>
              <a:rPr lang="zh-CN" altLang="zh-CN" dirty="0"/>
              <a:t>测试用例</a:t>
            </a:r>
            <a:r>
              <a:rPr lang="en-US" altLang="zh-CN" dirty="0"/>
              <a:t>”</a:t>
            </a:r>
            <a:r>
              <a:rPr lang="zh-CN" altLang="zh-CN" dirty="0"/>
              <a:t>，每一个测试用例产生一个相应的</a:t>
            </a:r>
            <a:r>
              <a:rPr lang="en-US" altLang="zh-CN" dirty="0"/>
              <a:t>“</a:t>
            </a:r>
            <a:r>
              <a:rPr lang="zh-CN" altLang="zh-CN" dirty="0"/>
              <a:t>测试结果</a:t>
            </a:r>
            <a:r>
              <a:rPr lang="en-US" altLang="zh-CN" dirty="0"/>
              <a:t>”</a:t>
            </a:r>
            <a:r>
              <a:rPr lang="zh-CN" altLang="zh-CN" dirty="0"/>
              <a:t>，如果它与</a:t>
            </a:r>
            <a:r>
              <a:rPr lang="en-US" altLang="zh-CN" dirty="0"/>
              <a:t>“</a:t>
            </a:r>
            <a:r>
              <a:rPr lang="zh-CN" altLang="zh-CN" dirty="0"/>
              <a:t>期望结果</a:t>
            </a:r>
            <a:r>
              <a:rPr lang="en-US" altLang="zh-CN" dirty="0"/>
              <a:t>”</a:t>
            </a:r>
            <a:r>
              <a:rPr lang="zh-CN" altLang="zh-CN" dirty="0"/>
              <a:t>不相符合，说明程序中存在错误，需要改正错误。 </a:t>
            </a:r>
          </a:p>
          <a:p>
            <a:pPr marL="0" indent="0">
              <a:buNone/>
            </a:pPr>
            <a:r>
              <a:rPr lang="en-US" altLang="zh-CN" dirty="0" smtClean="0"/>
              <a:t>       </a:t>
            </a:r>
            <a:r>
              <a:rPr lang="zh-CN" altLang="zh-CN" dirty="0" smtClean="0"/>
              <a:t>测试</a:t>
            </a:r>
            <a:r>
              <a:rPr lang="zh-CN" altLang="zh-CN" dirty="0"/>
              <a:t>是对软件规格说明、设计和编码的最后的复审，所以软件测试贯穿在整个软件开发期的全过程</a:t>
            </a:r>
            <a:r>
              <a:rPr lang="zh-CN" altLang="zh-CN" dirty="0" smtClean="0"/>
              <a:t>。</a:t>
            </a:r>
            <a:endParaRPr lang="zh-CN" altLang="zh-CN" dirty="0"/>
          </a:p>
        </p:txBody>
      </p:sp>
    </p:spTree>
    <p:extLst>
      <p:ext uri="{BB962C8B-B14F-4D97-AF65-F5344CB8AC3E}">
        <p14:creationId xmlns:p14="http://schemas.microsoft.com/office/powerpoint/2010/main" val="22705736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a:t>3</a:t>
            </a:r>
            <a:r>
              <a:rPr lang="zh-CN" altLang="zh-CN" b="1" dirty="0" smtClean="0"/>
              <a:t>．</a:t>
            </a:r>
            <a:r>
              <a:rPr lang="zh-CN" altLang="en-US" b="1" dirty="0" smtClean="0"/>
              <a:t>软件测试的类型</a:t>
            </a:r>
            <a:endParaRPr lang="en-US" altLang="zh-CN" b="1" dirty="0" smtClean="0"/>
          </a:p>
          <a:p>
            <a:pPr marL="0" indent="0">
              <a:buNone/>
            </a:pPr>
            <a:r>
              <a:rPr lang="en-US" altLang="zh-CN" dirty="0" smtClean="0"/>
              <a:t>     </a:t>
            </a:r>
            <a:r>
              <a:rPr lang="zh-CN" altLang="en-US" dirty="0" smtClean="0"/>
              <a:t>软件测试有两种类型：</a:t>
            </a:r>
            <a:endParaRPr lang="en-US" altLang="zh-CN" dirty="0" smtClean="0"/>
          </a:p>
          <a:p>
            <a:pPr marL="0" indent="0">
              <a:buNone/>
            </a:pPr>
            <a:r>
              <a:rPr lang="en-US" altLang="zh-CN" dirty="0"/>
              <a:t> </a:t>
            </a:r>
            <a:r>
              <a:rPr lang="en-US" altLang="zh-CN" dirty="0" smtClean="0"/>
              <a:t>    </a:t>
            </a:r>
            <a:r>
              <a:rPr lang="zh-CN" altLang="en-US" dirty="0" smtClean="0"/>
              <a:t>（</a:t>
            </a:r>
            <a:r>
              <a:rPr lang="zh-CN" altLang="en-US" dirty="0"/>
              <a:t>一</a:t>
            </a:r>
            <a:r>
              <a:rPr lang="zh-CN" altLang="en-US" dirty="0" smtClean="0"/>
              <a:t>）基于执行的测试</a:t>
            </a:r>
            <a:endParaRPr lang="en-US" altLang="zh-CN" dirty="0" smtClean="0"/>
          </a:p>
          <a:p>
            <a:pPr marL="0" indent="0">
              <a:buNone/>
            </a:pPr>
            <a:r>
              <a:rPr lang="zh-CN" altLang="en-US" dirty="0" smtClean="0"/>
              <a:t>       基于执行的测试：</a:t>
            </a:r>
            <a:r>
              <a:rPr lang="zh-CN" altLang="en-US" dirty="0"/>
              <a:t>测试</a:t>
            </a:r>
            <a:r>
              <a:rPr lang="zh-CN" altLang="en-US" dirty="0" smtClean="0"/>
              <a:t>软件的行为特性。</a:t>
            </a:r>
            <a:endParaRPr lang="en-US" altLang="zh-CN" dirty="0" smtClean="0"/>
          </a:p>
          <a:p>
            <a:pPr marL="0" indent="0">
              <a:buNone/>
            </a:pPr>
            <a:r>
              <a:rPr lang="en-US" altLang="zh-CN" dirty="0" smtClean="0"/>
              <a:t>       </a:t>
            </a:r>
            <a:r>
              <a:rPr lang="zh-CN" altLang="en-US" dirty="0" smtClean="0"/>
              <a:t>其测试对象：</a:t>
            </a:r>
            <a:r>
              <a:rPr lang="en-US" altLang="zh-CN" dirty="0" smtClean="0"/>
              <a:t>code</a:t>
            </a:r>
          </a:p>
          <a:p>
            <a:pPr marL="0" indent="0">
              <a:buNone/>
            </a:pPr>
            <a:r>
              <a:rPr lang="en-US" altLang="zh-CN" dirty="0"/>
              <a:t> </a:t>
            </a:r>
            <a:r>
              <a:rPr lang="en-US" altLang="zh-CN" dirty="0" smtClean="0"/>
              <a:t>       </a:t>
            </a:r>
            <a:r>
              <a:rPr lang="zh-CN" altLang="en-US" dirty="0" smtClean="0"/>
              <a:t>有一种荒谬的说法：测试是为了证明软件没有缺陷。</a:t>
            </a:r>
            <a:endParaRPr lang="en-US" altLang="zh-CN" dirty="0"/>
          </a:p>
          <a:p>
            <a:pPr marL="0" indent="0">
              <a:buNone/>
            </a:pPr>
            <a:r>
              <a:rPr lang="en-US" altLang="zh-CN" dirty="0" smtClean="0"/>
              <a:t>        </a:t>
            </a:r>
            <a:r>
              <a:rPr lang="zh-CN" altLang="en-US" dirty="0" smtClean="0"/>
              <a:t>一个成功的测试是发现了软件的缺陷。</a:t>
            </a:r>
            <a:endParaRPr lang="en-US" altLang="zh-CN" dirty="0" smtClean="0"/>
          </a:p>
          <a:p>
            <a:pPr marL="0" indent="0">
              <a:buNone/>
            </a:pPr>
            <a:r>
              <a:rPr lang="en-US" altLang="zh-CN" dirty="0" smtClean="0"/>
              <a:t>        </a:t>
            </a:r>
            <a:r>
              <a:rPr lang="zh-CN" altLang="en-US" dirty="0" smtClean="0"/>
              <a:t>测试的行为特性包括：正确性、实用性、可靠性、健壮性和性能。</a:t>
            </a:r>
            <a:endParaRPr lang="en-US" altLang="zh-CN" dirty="0" smtClean="0"/>
          </a:p>
          <a:p>
            <a:pPr marL="0" indent="0">
              <a:buNone/>
            </a:pPr>
            <a:r>
              <a:rPr lang="en-US" altLang="zh-CN" dirty="0"/>
              <a:t> </a:t>
            </a:r>
            <a:r>
              <a:rPr lang="en-US" altLang="zh-CN" dirty="0" smtClean="0"/>
              <a:t>    </a:t>
            </a:r>
            <a:r>
              <a:rPr lang="zh-CN" altLang="en-US" dirty="0" smtClean="0"/>
              <a:t>（</a:t>
            </a:r>
            <a:r>
              <a:rPr lang="zh-CN" altLang="en-US" dirty="0"/>
              <a:t>二</a:t>
            </a:r>
            <a:r>
              <a:rPr lang="zh-CN" altLang="en-US" dirty="0" smtClean="0"/>
              <a:t>）基于非执行的测试</a:t>
            </a:r>
            <a:endParaRPr lang="en-US" altLang="zh-CN" dirty="0" smtClean="0"/>
          </a:p>
          <a:p>
            <a:pPr marL="0" indent="0">
              <a:buNone/>
            </a:pPr>
            <a:r>
              <a:rPr lang="en-US" altLang="zh-CN" dirty="0"/>
              <a:t> </a:t>
            </a:r>
            <a:r>
              <a:rPr lang="en-US" altLang="zh-CN" dirty="0" smtClean="0"/>
              <a:t>             </a:t>
            </a:r>
            <a:r>
              <a:rPr lang="zh-CN" altLang="en-US" dirty="0" smtClean="0"/>
              <a:t>基于非执行的测试：测试软件而不运行测试用例。</a:t>
            </a:r>
            <a:endParaRPr lang="en-US" altLang="zh-CN" dirty="0" smtClean="0"/>
          </a:p>
          <a:p>
            <a:pPr marL="0" indent="0">
              <a:buNone/>
            </a:pPr>
            <a:r>
              <a:rPr lang="zh-CN" altLang="en-US" dirty="0" smtClean="0"/>
              <a:t>              其测试对象：</a:t>
            </a:r>
            <a:r>
              <a:rPr lang="en-US" altLang="zh-CN" dirty="0" smtClean="0"/>
              <a:t>code</a:t>
            </a:r>
            <a:r>
              <a:rPr lang="zh-CN" altLang="en-US" dirty="0" smtClean="0"/>
              <a:t>、</a:t>
            </a:r>
            <a:r>
              <a:rPr lang="en-US" altLang="zh-CN" dirty="0" smtClean="0"/>
              <a:t>documents</a:t>
            </a:r>
            <a:r>
              <a:rPr lang="zh-CN" altLang="en-US" dirty="0" smtClean="0"/>
              <a:t>。</a:t>
            </a:r>
            <a:endParaRPr lang="en-US" altLang="zh-CN" dirty="0" smtClean="0"/>
          </a:p>
          <a:p>
            <a:pPr marL="0" indent="0">
              <a:buNone/>
            </a:pPr>
            <a:r>
              <a:rPr lang="zh-CN" altLang="en-US" dirty="0" smtClean="0"/>
              <a:t>              非</a:t>
            </a:r>
            <a:r>
              <a:rPr lang="zh-CN" altLang="en-US" dirty="0"/>
              <a:t>执行的</a:t>
            </a:r>
            <a:r>
              <a:rPr lang="zh-CN" altLang="en-US" dirty="0" smtClean="0"/>
              <a:t>测试的方法：</a:t>
            </a:r>
            <a:r>
              <a:rPr lang="zh-CN" altLang="en-US" dirty="0"/>
              <a:t>评审</a:t>
            </a:r>
            <a:endParaRPr lang="en-US" altLang="zh-CN" dirty="0" smtClean="0"/>
          </a:p>
          <a:p>
            <a:pPr marL="0" indent="0">
              <a:buNone/>
            </a:pPr>
            <a:r>
              <a:rPr lang="zh-CN" altLang="en-US" dirty="0" smtClean="0"/>
              <a:t>              评审：走查和审查</a:t>
            </a:r>
            <a:endParaRPr lang="en-US" altLang="zh-CN" dirty="0" smtClean="0"/>
          </a:p>
          <a:p>
            <a:pPr marL="0" indent="0">
              <a:buNone/>
            </a:pPr>
            <a:r>
              <a:rPr lang="en-US" altLang="zh-CN" dirty="0"/>
              <a:t> </a:t>
            </a:r>
            <a:r>
              <a:rPr lang="en-US" altLang="zh-CN" dirty="0" smtClean="0"/>
              <a:t>              </a:t>
            </a:r>
          </a:p>
          <a:p>
            <a:pPr marL="0" indent="0">
              <a:buNone/>
            </a:pPr>
            <a:r>
              <a:rPr lang="en-US" altLang="zh-CN" dirty="0"/>
              <a:t> </a:t>
            </a:r>
            <a:r>
              <a:rPr lang="en-US" altLang="zh-CN" dirty="0" smtClean="0"/>
              <a:t>             </a:t>
            </a:r>
            <a:endParaRPr lang="en-US" altLang="zh-CN" dirty="0"/>
          </a:p>
          <a:p>
            <a:pPr marL="0" indent="0">
              <a:buNone/>
            </a:pPr>
            <a:endParaRPr lang="zh-CN" altLang="zh-CN" dirty="0"/>
          </a:p>
        </p:txBody>
      </p:sp>
    </p:spTree>
    <p:extLst>
      <p:ext uri="{BB962C8B-B14F-4D97-AF65-F5344CB8AC3E}">
        <p14:creationId xmlns:p14="http://schemas.microsoft.com/office/powerpoint/2010/main" val="7389775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a:t>4</a:t>
            </a:r>
            <a:r>
              <a:rPr lang="zh-CN" altLang="zh-CN" b="1" dirty="0" smtClean="0"/>
              <a:t>．</a:t>
            </a:r>
            <a:r>
              <a:rPr lang="zh-CN" altLang="en-US" b="1" dirty="0" smtClean="0"/>
              <a:t>测试用例设计</a:t>
            </a:r>
            <a:endParaRPr lang="en-US" altLang="zh-CN" b="1" dirty="0" smtClean="0"/>
          </a:p>
          <a:p>
            <a:pPr marL="0" indent="0">
              <a:buNone/>
            </a:pPr>
            <a:r>
              <a:rPr lang="zh-CN" altLang="zh-CN" dirty="0"/>
              <a:t>测试用例是由测试数据和期望结果组成。设计测试用例的目的就是用尽可能少的测试数据，达到尽可能大的程序覆盖面，发现尽可能多的软件错误和问题 </a:t>
            </a:r>
            <a:r>
              <a:rPr lang="zh-CN" altLang="en-US" dirty="0" smtClean="0"/>
              <a:t>。</a:t>
            </a:r>
            <a:endParaRPr lang="zh-CN" altLang="zh-CN" dirty="0"/>
          </a:p>
          <a:p>
            <a:pPr marL="0" indent="0">
              <a:buNone/>
            </a:pPr>
            <a:r>
              <a:rPr lang="zh-CN" altLang="zh-CN" dirty="0"/>
              <a:t>用白盒法设计测试用例常用以下几种技术：</a:t>
            </a:r>
          </a:p>
          <a:p>
            <a:pPr marL="0" indent="0">
              <a:buNone/>
            </a:pPr>
            <a:r>
              <a:rPr lang="zh-CN" altLang="zh-CN" dirty="0"/>
              <a:t>① 语句覆盖</a:t>
            </a:r>
          </a:p>
          <a:p>
            <a:pPr marL="0" indent="0">
              <a:buNone/>
            </a:pPr>
            <a:r>
              <a:rPr lang="zh-CN" altLang="zh-CN" dirty="0"/>
              <a:t>② 判定覆盖</a:t>
            </a:r>
          </a:p>
          <a:p>
            <a:pPr marL="0" indent="0">
              <a:buNone/>
            </a:pPr>
            <a:r>
              <a:rPr lang="zh-CN" altLang="zh-CN" dirty="0"/>
              <a:t>③ 条件覆盖</a:t>
            </a:r>
          </a:p>
          <a:p>
            <a:pPr marL="0" indent="0">
              <a:buNone/>
            </a:pPr>
            <a:r>
              <a:rPr lang="zh-CN" altLang="zh-CN" dirty="0"/>
              <a:t>④ 判定／条件覆盖</a:t>
            </a:r>
          </a:p>
          <a:p>
            <a:pPr marL="0" indent="0">
              <a:buNone/>
            </a:pPr>
            <a:r>
              <a:rPr lang="zh-CN" altLang="zh-CN" dirty="0"/>
              <a:t>⑤ 条件组合覆盖</a:t>
            </a:r>
          </a:p>
          <a:p>
            <a:pPr marL="0" indent="0">
              <a:buNone/>
            </a:pPr>
            <a:r>
              <a:rPr lang="zh-CN" altLang="zh-CN" dirty="0"/>
              <a:t>⑥ 路径覆盖</a:t>
            </a:r>
          </a:p>
        </p:txBody>
      </p:sp>
    </p:spTree>
    <p:extLst>
      <p:ext uri="{BB962C8B-B14F-4D97-AF65-F5344CB8AC3E}">
        <p14:creationId xmlns:p14="http://schemas.microsoft.com/office/powerpoint/2010/main" val="23699282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zh-CN" b="1" dirty="0" smtClean="0"/>
              <a:t>用</a:t>
            </a:r>
            <a:r>
              <a:rPr lang="zh-CN" altLang="zh-CN" b="1" dirty="0"/>
              <a:t>黑盒法设计测试用例常用以下几种技术：</a:t>
            </a:r>
            <a:endParaRPr lang="zh-CN" altLang="zh-CN" dirty="0"/>
          </a:p>
          <a:p>
            <a:pPr marL="0" indent="0">
              <a:buNone/>
            </a:pPr>
            <a:r>
              <a:rPr lang="zh-CN" altLang="zh-CN" dirty="0"/>
              <a:t>① 等价类划分法</a:t>
            </a:r>
          </a:p>
          <a:p>
            <a:pPr marL="0" indent="0">
              <a:buNone/>
            </a:pPr>
            <a:r>
              <a:rPr lang="zh-CN" altLang="zh-CN" dirty="0"/>
              <a:t>② 边界值分析法</a:t>
            </a:r>
          </a:p>
          <a:p>
            <a:pPr marL="0" indent="0">
              <a:buNone/>
            </a:pPr>
            <a:r>
              <a:rPr lang="zh-CN" altLang="zh-CN" dirty="0"/>
              <a:t>③ 错误推测法</a:t>
            </a:r>
          </a:p>
          <a:p>
            <a:pPr marL="0" indent="0">
              <a:buNone/>
            </a:pPr>
            <a:r>
              <a:rPr lang="zh-CN" altLang="zh-CN" dirty="0"/>
              <a:t>④ 因果图法</a:t>
            </a:r>
          </a:p>
        </p:txBody>
      </p:sp>
    </p:spTree>
    <p:extLst>
      <p:ext uri="{BB962C8B-B14F-4D97-AF65-F5344CB8AC3E}">
        <p14:creationId xmlns:p14="http://schemas.microsoft.com/office/powerpoint/2010/main" val="851183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en-US" altLang="zh-CN" b="1" dirty="0" smtClean="0"/>
              <a:t>5</a:t>
            </a:r>
            <a:r>
              <a:rPr lang="zh-CN" altLang="zh-CN" b="1" dirty="0" smtClean="0"/>
              <a:t>．</a:t>
            </a:r>
            <a:r>
              <a:rPr lang="zh-CN" altLang="en-US" b="1" dirty="0" smtClean="0"/>
              <a:t>软件测试的实施</a:t>
            </a:r>
            <a:endParaRPr lang="en-US" altLang="zh-CN" b="1" dirty="0" smtClean="0"/>
          </a:p>
          <a:p>
            <a:pPr marL="0" indent="0">
              <a:buNone/>
            </a:pPr>
            <a:r>
              <a:rPr lang="zh-CN" altLang="zh-CN" dirty="0"/>
              <a:t>① 单元测试：是对每一个编制好的模块进行测试，其目的在于发现和排除各模块内部可能存在的差错及详细设计中产生的错误。进行单元测试时，根据程序的内部结构设计测试用例，主要采用白盒测试</a:t>
            </a:r>
            <a:r>
              <a:rPr lang="zh-CN" altLang="zh-CN" dirty="0" smtClean="0"/>
              <a:t>法</a:t>
            </a:r>
            <a:r>
              <a:rPr lang="zh-CN" altLang="en-US" dirty="0" smtClean="0"/>
              <a:t>。</a:t>
            </a:r>
            <a:endParaRPr lang="en-US" altLang="zh-CN" dirty="0"/>
          </a:p>
          <a:p>
            <a:pPr marL="0" indent="0">
              <a:buNone/>
            </a:pPr>
            <a:r>
              <a:rPr lang="zh-CN" altLang="zh-CN" dirty="0"/>
              <a:t>② 集成测试。是在单元测试的基础上，将所有模块按照设计要求组装成为系统而进行的测试，它的任务是检查模块间的接口和通信、各子功能的组合能否达到预期要求的功能、全程数据结构是否有问题等。集成测试主要发现设计阶段产生的错误，通常采用黑盒测试法 </a:t>
            </a:r>
            <a:r>
              <a:rPr lang="zh-CN" altLang="en-US" dirty="0" smtClean="0"/>
              <a:t>。</a:t>
            </a:r>
            <a:endParaRPr lang="en-US" altLang="zh-CN" dirty="0"/>
          </a:p>
          <a:p>
            <a:pPr marL="0" indent="0">
              <a:buNone/>
            </a:pPr>
            <a:r>
              <a:rPr lang="zh-CN" altLang="zh-CN" dirty="0"/>
              <a:t>集成测试时，将各个模块组装成系统的方法有：</a:t>
            </a:r>
          </a:p>
          <a:p>
            <a:pPr marL="0" indent="0">
              <a:buNone/>
            </a:pPr>
            <a:r>
              <a:rPr lang="en-US" altLang="zh-CN" dirty="0" smtClean="0"/>
              <a:t>       </a:t>
            </a:r>
            <a:r>
              <a:rPr lang="zh-CN" altLang="zh-CN" b="1" dirty="0" smtClean="0"/>
              <a:t>非增</a:t>
            </a:r>
            <a:r>
              <a:rPr lang="zh-CN" altLang="zh-CN" b="1" dirty="0"/>
              <a:t>量组装方式</a:t>
            </a:r>
            <a:r>
              <a:rPr lang="zh-CN" altLang="zh-CN" dirty="0"/>
              <a:t>是先分别对每个模块进行单元测试，再把所有模块按设计要求组装在一起进行测试，最终得到所要求的</a:t>
            </a:r>
            <a:r>
              <a:rPr lang="zh-CN" altLang="zh-CN" dirty="0" smtClean="0"/>
              <a:t>软件</a:t>
            </a:r>
            <a:r>
              <a:rPr lang="zh-CN" altLang="en-US" dirty="0" smtClean="0"/>
              <a:t>。</a:t>
            </a:r>
            <a:endParaRPr lang="zh-CN" altLang="zh-CN" dirty="0"/>
          </a:p>
          <a:p>
            <a:pPr marL="0" indent="0">
              <a:buNone/>
            </a:pPr>
            <a:r>
              <a:rPr lang="en-US" altLang="zh-CN" dirty="0" smtClean="0"/>
              <a:t>       </a:t>
            </a:r>
            <a:r>
              <a:rPr lang="zh-CN" altLang="zh-CN" b="1" dirty="0" smtClean="0"/>
              <a:t>增量</a:t>
            </a:r>
            <a:r>
              <a:rPr lang="zh-CN" altLang="zh-CN" b="1" dirty="0"/>
              <a:t>组装方式</a:t>
            </a:r>
            <a:r>
              <a:rPr lang="zh-CN" altLang="zh-CN" dirty="0"/>
              <a:t>是把下一个要测试的模块同已经测试好的那些模块结合起来进行测试，测试完以后再把下一个应该测试的模块结合进来</a:t>
            </a:r>
            <a:r>
              <a:rPr lang="zh-CN" altLang="zh-CN" dirty="0" smtClean="0"/>
              <a:t>测试</a:t>
            </a:r>
            <a:r>
              <a:rPr lang="zh-CN" altLang="en-US" dirty="0"/>
              <a:t>。</a:t>
            </a:r>
            <a:endParaRPr lang="zh-CN" altLang="zh-CN" dirty="0"/>
          </a:p>
        </p:txBody>
      </p:sp>
    </p:spTree>
    <p:extLst>
      <p:ext uri="{BB962C8B-B14F-4D97-AF65-F5344CB8AC3E}">
        <p14:creationId xmlns:p14="http://schemas.microsoft.com/office/powerpoint/2010/main" val="2285103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sz="3200" dirty="0"/>
              <a:t>五</a:t>
            </a:r>
            <a:r>
              <a:rPr lang="zh-CN" altLang="en-US" sz="3200" dirty="0" smtClean="0"/>
              <a:t>、</a:t>
            </a:r>
            <a:r>
              <a:rPr lang="zh-CN" altLang="zh-CN" sz="3200" dirty="0"/>
              <a:t>软件测试</a:t>
            </a:r>
            <a:endParaRPr lang="zh-CN" altLang="en-US" sz="3200" dirty="0"/>
          </a:p>
        </p:txBody>
      </p:sp>
      <p:sp>
        <p:nvSpPr>
          <p:cNvPr id="3" name="内容占位符 2"/>
          <p:cNvSpPr>
            <a:spLocks noGrp="1"/>
          </p:cNvSpPr>
          <p:nvPr>
            <p:ph idx="1"/>
          </p:nvPr>
        </p:nvSpPr>
        <p:spPr>
          <a:xfrm>
            <a:off x="457200" y="1268760"/>
            <a:ext cx="8229600" cy="5328592"/>
          </a:xfrm>
        </p:spPr>
        <p:txBody>
          <a:bodyPr/>
          <a:lstStyle/>
          <a:p>
            <a:pPr marL="0" indent="0">
              <a:buNone/>
            </a:pPr>
            <a:r>
              <a:rPr lang="zh-CN" altLang="zh-CN" dirty="0"/>
              <a:t>③ 确认测试。确认测试是在集成测试通过后，在用户的参与下进行确认测试。这时通常使用实际数据进行测试，以验证系统是否能满足用户的实际需要。它的任务就是以需求规格说明书作为依据来验证软件的性能、功能及其他特征是否与用户的要求一致，通常采用黑盒</a:t>
            </a:r>
            <a:r>
              <a:rPr lang="zh-CN" altLang="zh-CN" dirty="0" smtClean="0"/>
              <a:t>测试</a:t>
            </a:r>
            <a:r>
              <a:rPr lang="zh-CN" altLang="en-US" dirty="0" smtClean="0"/>
              <a:t>。</a:t>
            </a:r>
            <a:endParaRPr lang="en-US" altLang="zh-CN" dirty="0"/>
          </a:p>
          <a:p>
            <a:pPr marL="0" indent="0">
              <a:buNone/>
            </a:pPr>
            <a:r>
              <a:rPr lang="zh-CN" altLang="zh-CN" dirty="0"/>
              <a:t>④ 系统测试。系统测试是在更大范围内进行的测试。系统测试是把通过确认测试后的软件与计算机硬件、外设、某些支持软件、数据和人员等结合在一起，在实际运行环境下，对计算机系统进行的一系列集成测试和确认</a:t>
            </a:r>
            <a:r>
              <a:rPr lang="zh-CN" altLang="zh-CN" dirty="0" smtClean="0"/>
              <a:t>测试</a:t>
            </a:r>
            <a:r>
              <a:rPr lang="zh-CN" altLang="en-US" dirty="0" smtClean="0"/>
              <a:t>。</a:t>
            </a:r>
            <a:endParaRPr lang="zh-CN" altLang="zh-CN" dirty="0"/>
          </a:p>
        </p:txBody>
      </p:sp>
    </p:spTree>
    <p:extLst>
      <p:ext uri="{BB962C8B-B14F-4D97-AF65-F5344CB8AC3E}">
        <p14:creationId xmlns:p14="http://schemas.microsoft.com/office/powerpoint/2010/main" val="250223183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1335873" y="1857364"/>
            <a:ext cx="6472254" cy="65403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zh-CN" altLang="en-US" sz="4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6" name="1 Título"/>
          <p:cNvSpPr txBox="1">
            <a:spLocks/>
          </p:cNvSpPr>
          <p:nvPr/>
        </p:nvSpPr>
        <p:spPr>
          <a:xfrm>
            <a:off x="2579004" y="1873250"/>
            <a:ext cx="4993392" cy="863600"/>
          </a:xfrm>
          <a:prstGeom prst="rect">
            <a:avLst/>
          </a:prstGeom>
        </p:spPr>
        <p:txBody>
          <a:bodyPr anchor="ct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fontAlgn="auto">
              <a:lnSpc>
                <a:spcPts val="5763"/>
              </a:lnSpc>
              <a:spcBef>
                <a:spcPts val="0"/>
              </a:spcBef>
              <a:spcAft>
                <a:spcPts val="0"/>
              </a:spcAft>
              <a:defRPr/>
            </a:pPr>
            <a:r>
              <a:rPr lang="es-HN" sz="4900" b="1" dirty="0" smtClean="0">
                <a:solidFill>
                  <a:srgbClr val="404040"/>
                </a:solidFill>
                <a:latin typeface="Tahoma" pitchFamily="34" charset="0"/>
                <a:ea typeface="Tahoma" pitchFamily="34" charset="0"/>
                <a:cs typeface="Tahoma" pitchFamily="34" charset="0"/>
              </a:rPr>
              <a:t>THANK</a:t>
            </a:r>
            <a:r>
              <a:rPr lang="es-HN" sz="4900" dirty="0" smtClean="0">
                <a:solidFill>
                  <a:srgbClr val="404040"/>
                </a:solidFill>
                <a:latin typeface="Tahoma" pitchFamily="34" charset="0"/>
                <a:ea typeface="Tahoma" pitchFamily="34" charset="0"/>
                <a:cs typeface="Tahoma" pitchFamily="34" charset="0"/>
              </a:rPr>
              <a:t> </a:t>
            </a:r>
            <a:r>
              <a:rPr lang="es-HN" sz="4900" b="1" dirty="0" smtClean="0">
                <a:solidFill>
                  <a:srgbClr val="F98D27"/>
                </a:solidFill>
                <a:latin typeface="Tahoma" pitchFamily="34" charset="0"/>
                <a:ea typeface="Tahoma" pitchFamily="34" charset="0"/>
                <a:cs typeface="Tahoma" pitchFamily="34" charset="0"/>
              </a:rPr>
              <a:t>YOU</a:t>
            </a:r>
            <a:r>
              <a:rPr lang="zh-CN" altLang="en-US" sz="4900" b="1" dirty="0" smtClean="0">
                <a:solidFill>
                  <a:srgbClr val="F98D27"/>
                </a:solidFill>
                <a:latin typeface="Tahoma" pitchFamily="34" charset="0"/>
                <a:ea typeface="+mn-ea"/>
                <a:cs typeface="Tahoma" pitchFamily="34" charset="0"/>
              </a:rPr>
              <a:t>！</a:t>
            </a:r>
            <a:endParaRPr lang="es-HN" sz="4900" b="1" dirty="0">
              <a:solidFill>
                <a:srgbClr val="F98D27"/>
              </a:solidFill>
              <a:latin typeface="Tahoma" pitchFamily="34" charset="0"/>
              <a:ea typeface="Tahoma" pitchFamily="34" charset="0"/>
              <a:cs typeface="Tahoma" pitchFamily="34" charset="0"/>
            </a:endParaRPr>
          </a:p>
        </p:txBody>
      </p:sp>
      <p:sp>
        <p:nvSpPr>
          <p:cNvPr id="7" name="1 Título"/>
          <p:cNvSpPr txBox="1">
            <a:spLocks/>
          </p:cNvSpPr>
          <p:nvPr/>
        </p:nvSpPr>
        <p:spPr bwMode="auto">
          <a:xfrm>
            <a:off x="2609168" y="2736850"/>
            <a:ext cx="4105275"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lnSpc>
                <a:spcPts val="5763"/>
              </a:lnSpc>
            </a:pPr>
            <a:r>
              <a:rPr lang="zh-CN" altLang="en-US" sz="6600" b="1" dirty="0">
                <a:solidFill>
                  <a:srgbClr val="404040"/>
                </a:solidFill>
                <a:latin typeface="华文细黑" pitchFamily="2" charset="-122"/>
                <a:ea typeface="华文细黑" pitchFamily="2" charset="-122"/>
              </a:rPr>
              <a:t>谢 谢</a:t>
            </a:r>
            <a:endParaRPr lang="es-HN" sz="6600" b="1" dirty="0">
              <a:solidFill>
                <a:srgbClr val="F98D27"/>
              </a:solidFill>
              <a:latin typeface="华文细黑" pitchFamily="2" charset="-122"/>
              <a:ea typeface="华文细黑" pitchFamily="2" charset="-122"/>
            </a:endParaRPr>
          </a:p>
        </p:txBody>
      </p:sp>
      <p:sp>
        <p:nvSpPr>
          <p:cNvPr id="8" name="TextBox 10"/>
          <p:cNvSpPr txBox="1">
            <a:spLocks noChangeArrowheads="1"/>
          </p:cNvSpPr>
          <p:nvPr/>
        </p:nvSpPr>
        <p:spPr bwMode="auto">
          <a:xfrm>
            <a:off x="1415366" y="5596282"/>
            <a:ext cx="64817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1100" dirty="0">
                <a:solidFill>
                  <a:srgbClr val="FCFCFC"/>
                </a:solidFill>
                <a:latin typeface="Tahoma" pitchFamily="34" charset="0"/>
                <a:ea typeface="Tahoma" pitchFamily="34" charset="0"/>
                <a:cs typeface="Tahoma" pitchFamily="34" charset="0"/>
              </a:rPr>
              <a:t>Tell: </a:t>
            </a:r>
            <a:r>
              <a:rPr lang="en-US" altLang="zh-CN" sz="1100" dirty="0" smtClean="0">
                <a:solidFill>
                  <a:srgbClr val="FCFCFC"/>
                </a:solidFill>
                <a:latin typeface="Tahoma" pitchFamily="34" charset="0"/>
                <a:ea typeface="Tahoma" pitchFamily="34" charset="0"/>
                <a:cs typeface="Tahoma" pitchFamily="34" charset="0"/>
              </a:rPr>
              <a:t>010-5639 0000  |  Web</a:t>
            </a:r>
            <a:r>
              <a:rPr lang="en-US" altLang="zh-CN" sz="1100" dirty="0">
                <a:solidFill>
                  <a:srgbClr val="FCFCFC"/>
                </a:solidFill>
                <a:latin typeface="Tahoma" pitchFamily="34" charset="0"/>
                <a:ea typeface="Tahoma" pitchFamily="34" charset="0"/>
                <a:cs typeface="Tahoma" pitchFamily="34" charset="0"/>
              </a:rPr>
              <a:t>: </a:t>
            </a:r>
            <a:r>
              <a:rPr lang="en-US" altLang="zh-CN" sz="1100" dirty="0" smtClean="0">
                <a:solidFill>
                  <a:srgbClr val="FCFCFC"/>
                </a:solidFill>
                <a:latin typeface="Tahoma" pitchFamily="34" charset="0"/>
                <a:ea typeface="Tahoma" pitchFamily="34" charset="0"/>
                <a:cs typeface="Tahoma" pitchFamily="34" charset="0"/>
              </a:rPr>
              <a:t>www.accuenergy.com.cn  |  </a:t>
            </a:r>
            <a:r>
              <a:rPr lang="en-US" altLang="zh-CN" sz="1100" dirty="0">
                <a:solidFill>
                  <a:srgbClr val="FCFCFC"/>
                </a:solidFill>
                <a:latin typeface="Tahoma" pitchFamily="34" charset="0"/>
                <a:ea typeface="Tahoma" pitchFamily="34" charset="0"/>
                <a:cs typeface="Tahoma" pitchFamily="34" charset="0"/>
              </a:rPr>
              <a:t>Email: </a:t>
            </a:r>
            <a:r>
              <a:rPr lang="en-US" altLang="zh-CN" sz="1100" dirty="0" smtClean="0">
                <a:solidFill>
                  <a:srgbClr val="FCFCFC"/>
                </a:solidFill>
                <a:latin typeface="Tahoma" pitchFamily="34" charset="0"/>
                <a:ea typeface="Tahoma" pitchFamily="34" charset="0"/>
                <a:cs typeface="Tahoma" pitchFamily="34" charset="0"/>
              </a:rPr>
              <a:t>marketing@accuenergy.com.cn</a:t>
            </a:r>
            <a:endParaRPr lang="en-US" altLang="zh-CN" sz="1100" dirty="0">
              <a:solidFill>
                <a:srgbClr val="FCFCFC"/>
              </a:solidFill>
              <a:latin typeface="Tahoma" pitchFamily="34" charset="0"/>
              <a:ea typeface="Tahoma" pitchFamily="34" charset="0"/>
              <a:cs typeface="Tahoma" pitchFamily="34" charset="0"/>
            </a:endParaRPr>
          </a:p>
        </p:txBody>
      </p:sp>
      <p:sp>
        <p:nvSpPr>
          <p:cNvPr id="9" name="1 Título"/>
          <p:cNvSpPr txBox="1">
            <a:spLocks/>
          </p:cNvSpPr>
          <p:nvPr/>
        </p:nvSpPr>
        <p:spPr bwMode="auto">
          <a:xfrm>
            <a:off x="2579004" y="5091457"/>
            <a:ext cx="41068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sz="2000" b="1" dirty="0">
                <a:solidFill>
                  <a:srgbClr val="FCFCFC"/>
                </a:solidFill>
                <a:latin typeface="华文细黑" pitchFamily="2" charset="-122"/>
                <a:ea typeface="华文细黑" pitchFamily="2" charset="-122"/>
              </a:rPr>
              <a:t>北京爱博精电科技有限公司</a:t>
            </a:r>
            <a:endParaRPr lang="es-HN" sz="2000" b="1" dirty="0">
              <a:solidFill>
                <a:srgbClr val="FCFCFC"/>
              </a:solidFill>
              <a:latin typeface="华文细黑" pitchFamily="2" charset="-122"/>
              <a:ea typeface="华文细黑" pitchFamily="2" charset="-122"/>
            </a:endParaRP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VI手册工作汇报20140807.pptx" id="{6C47E5A1-BF87-4663-8EE5-FC932CCBA290}" vid="{0B534153-435B-455F-B50B-03121D04BDD4}"/>
    </a:ext>
  </a:extLst>
</a:theme>
</file>

<file path=ppt/theme/theme3.xml><?xml version="1.0" encoding="utf-8"?>
<a:theme xmlns:a="http://schemas.openxmlformats.org/drawingml/2006/main" name="默认设计模板">
  <a:themeElements>
    <a:clrScheme name="气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经典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txDef>
      <a:spPr/>
      <a:bodyPr wrap="square" rtlCol="0">
        <a:spAutoFit/>
      </a:bodyPr>
      <a:lstStyle>
        <a:defPPr>
          <a:defRPr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defRPr>
        </a:defPPr>
      </a:lstStyle>
      <a:style>
        <a:lnRef idx="2">
          <a:schemeClr val="dk1"/>
        </a:lnRef>
        <a:fillRef idx="1">
          <a:schemeClr val="lt1"/>
        </a:fillRef>
        <a:effectRef idx="0">
          <a:schemeClr val="dk1"/>
        </a:effectRef>
        <a:fontRef idx="minor">
          <a:schemeClr val="dk1"/>
        </a:fontRef>
      </a:style>
    </a:txDef>
  </a:objectDefaults>
  <a:extraClrSchemeLst/>
  <a:extLst>
    <a:ext uri="{05A4C25C-085E-4340-85A3-A5531E510DB2}">
      <thm15:themeFamily xmlns:thm15="http://schemas.microsoft.com/office/thememl/2012/main" xmlns="" name="VI手册工作汇报20140807.pptx" id="{6C47E5A1-BF87-4663-8EE5-FC932CCBA290}" vid="{3211AE59-5CCE-46C6-89E0-607D164AE60A}"/>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VI手册工作汇报20140807.pptx" id="{6C47E5A1-BF87-4663-8EE5-FC932CCBA290}" vid="{9065C612-E87F-4ED5-943D-7E5A4E03EA4F}"/>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5683</TotalTime>
  <Pages>0</Pages>
  <Words>2715</Words>
  <Characters>0</Characters>
  <Application>Microsoft Office PowerPoint</Application>
  <DocSecurity>0</DocSecurity>
  <PresentationFormat>全屏显示(4:3)</PresentationFormat>
  <Lines>0</Lines>
  <Paragraphs>243</Paragraphs>
  <Slides>44</Slides>
  <Notes>32</Notes>
  <HiddenSlides>0</HiddenSlides>
  <MMClips>0</MMClips>
  <ScaleCrop>false</ScaleCrop>
  <HeadingPairs>
    <vt:vector size="4" baseType="variant">
      <vt:variant>
        <vt:lpstr>主题</vt:lpstr>
      </vt:variant>
      <vt:variant>
        <vt:i4>4</vt:i4>
      </vt:variant>
      <vt:variant>
        <vt:lpstr>幻灯片标题</vt:lpstr>
      </vt:variant>
      <vt:variant>
        <vt:i4>44</vt:i4>
      </vt:variant>
    </vt:vector>
  </HeadingPairs>
  <TitlesOfParts>
    <vt:vector size="48" baseType="lpstr">
      <vt:lpstr>自定义设计方案</vt:lpstr>
      <vt:lpstr>自定义设计</vt:lpstr>
      <vt:lpstr>默认设计模板</vt:lpstr>
      <vt:lpstr>1_自定义设计方案</vt:lpstr>
      <vt:lpstr>PowerPoint 演示文稿</vt:lpstr>
      <vt:lpstr>目录</vt:lpstr>
      <vt:lpstr>一、软件工程的产生和发展</vt:lpstr>
      <vt:lpstr>一、软件工程的产生和发展</vt:lpstr>
      <vt:lpstr>一、软件工程的产生和发展</vt:lpstr>
      <vt:lpstr>一、软件工程的产生和发展</vt:lpstr>
      <vt:lpstr>一、软件工程的产生和发展</vt:lpstr>
      <vt:lpstr>一、软件工程的产生和发展</vt:lpstr>
      <vt:lpstr>一、软件工程的产生和发展</vt:lpstr>
      <vt:lpstr>一、软件工程的产生和发展</vt:lpstr>
      <vt:lpstr>二、软件工程概述 </vt:lpstr>
      <vt:lpstr>二、软件工程概述 </vt:lpstr>
      <vt:lpstr>二、软件工程概述</vt:lpstr>
      <vt:lpstr>二、软件工程概述 </vt:lpstr>
      <vt:lpstr>二、软件工程概述</vt:lpstr>
      <vt:lpstr>二、软件工程概述 </vt:lpstr>
      <vt:lpstr>二、软件工程概述 </vt:lpstr>
      <vt:lpstr>二、软件工程概述 </vt:lpstr>
      <vt:lpstr>二、软件工程概述 </vt:lpstr>
      <vt:lpstr>二、软件工程概述 </vt:lpstr>
      <vt:lpstr>二、软件工程概述 </vt:lpstr>
      <vt:lpstr>二、软件工程概述 </vt:lpstr>
      <vt:lpstr>三、软件需求</vt:lpstr>
      <vt:lpstr>三、软件需求</vt:lpstr>
      <vt:lpstr>三、软件需求</vt:lpstr>
      <vt:lpstr>三、软件需求</vt:lpstr>
      <vt:lpstr>三、软件需求</vt:lpstr>
      <vt:lpstr>三、软件需求</vt:lpstr>
      <vt:lpstr>三、软件需求</vt:lpstr>
      <vt:lpstr>三、软件需求</vt:lpstr>
      <vt:lpstr>三、软件需求</vt:lpstr>
      <vt:lpstr>四、软件开发基本策略</vt:lpstr>
      <vt:lpstr>四、软件开发基本策略</vt:lpstr>
      <vt:lpstr>四、软件开发基本策略</vt:lpstr>
      <vt:lpstr>四、软件开发基本策略</vt:lpstr>
      <vt:lpstr>四、软件开发基本策略</vt:lpstr>
      <vt:lpstr>五、软件测试</vt:lpstr>
      <vt:lpstr>五、软件测试</vt:lpstr>
      <vt:lpstr>五、软件测试</vt:lpstr>
      <vt:lpstr>五、软件测试</vt:lpstr>
      <vt:lpstr>五、软件测试</vt:lpstr>
      <vt:lpstr>五、软件测试</vt:lpstr>
      <vt:lpstr>五、软件测试</vt:lpstr>
      <vt:lpstr>PowerPoint 演示文稿</vt:lpstr>
    </vt:vector>
  </TitlesOfParts>
  <Manager/>
  <Company/>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请在此处填写作品信息（此页非设计页）</dc:title>
  <dc:subject/>
  <dc:creator>Administrator</dc:creator>
  <cp:keywords/>
  <dc:description/>
  <cp:lastModifiedBy>YF</cp:lastModifiedBy>
  <cp:revision>290</cp:revision>
  <dcterms:created xsi:type="dcterms:W3CDTF">2012-09-21T01:22:00Z</dcterms:created>
  <dcterms:modified xsi:type="dcterms:W3CDTF">2017-04-27T02:05:35Z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2052-8.1.0.3483</vt:lpwstr>
  </property>
</Properties>
</file>