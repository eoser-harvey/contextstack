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59"/>
  </p:notesMasterIdLst>
  <p:sldIdLst>
    <p:sldId id="256" r:id="rId3"/>
    <p:sldId id="407" r:id="rId4"/>
    <p:sldId id="408" r:id="rId5"/>
    <p:sldId id="386" r:id="rId6"/>
    <p:sldId id="311" r:id="rId7"/>
    <p:sldId id="383" r:id="rId8"/>
    <p:sldId id="385" r:id="rId9"/>
    <p:sldId id="384" r:id="rId10"/>
    <p:sldId id="387" r:id="rId11"/>
    <p:sldId id="409" r:id="rId12"/>
    <p:sldId id="410" r:id="rId13"/>
    <p:sldId id="411" r:id="rId14"/>
    <p:sldId id="412" r:id="rId15"/>
    <p:sldId id="413" r:id="rId16"/>
    <p:sldId id="414" r:id="rId17"/>
    <p:sldId id="382" r:id="rId18"/>
    <p:sldId id="377" r:id="rId19"/>
    <p:sldId id="378" r:id="rId20"/>
    <p:sldId id="379" r:id="rId21"/>
    <p:sldId id="374" r:id="rId22"/>
    <p:sldId id="375" r:id="rId23"/>
    <p:sldId id="415" r:id="rId24"/>
    <p:sldId id="376" r:id="rId25"/>
    <p:sldId id="380" r:id="rId26"/>
    <p:sldId id="395" r:id="rId27"/>
    <p:sldId id="397" r:id="rId28"/>
    <p:sldId id="398" r:id="rId29"/>
    <p:sldId id="396" r:id="rId30"/>
    <p:sldId id="399" r:id="rId31"/>
    <p:sldId id="400" r:id="rId32"/>
    <p:sldId id="401" r:id="rId33"/>
    <p:sldId id="402" r:id="rId34"/>
    <p:sldId id="403" r:id="rId35"/>
    <p:sldId id="405" r:id="rId36"/>
    <p:sldId id="406" r:id="rId37"/>
    <p:sldId id="404" r:id="rId38"/>
    <p:sldId id="381" r:id="rId39"/>
    <p:sldId id="373" r:id="rId40"/>
    <p:sldId id="368" r:id="rId41"/>
    <p:sldId id="369" r:id="rId42"/>
    <p:sldId id="370" r:id="rId43"/>
    <p:sldId id="371" r:id="rId44"/>
    <p:sldId id="367" r:id="rId45"/>
    <p:sldId id="389" r:id="rId46"/>
    <p:sldId id="390" r:id="rId47"/>
    <p:sldId id="391" r:id="rId48"/>
    <p:sldId id="392" r:id="rId49"/>
    <p:sldId id="393" r:id="rId50"/>
    <p:sldId id="394" r:id="rId51"/>
    <p:sldId id="342" r:id="rId52"/>
    <p:sldId id="372" r:id="rId53"/>
    <p:sldId id="343" r:id="rId54"/>
    <p:sldId id="305" r:id="rId55"/>
    <p:sldId id="388" r:id="rId56"/>
    <p:sldId id="268" r:id="rId57"/>
    <p:sldId id="266" r:id="rId58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380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最重要是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AI  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有很多种细分，还有大猩猩投资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 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比特币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未来一定会遇到暴跌下来，这是客观规律， 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2017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年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山寨的归山寨，价值捕获归价值捕获。 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2E325-DF5B-201B-F365-41847EB47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5F8B579-034B-FE73-3BEE-100C56939C7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1225E3-9C98-964C-CDA7-B7628C2940B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71BC8DC-8B20-FB7A-5353-CC9850575B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4F2E94C-8E28-D6E6-B335-A1A5111BAA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2EF8C-C038-5080-F675-0D4BA9CED43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C759CA-0CB4-B487-70D6-48DCCCE2C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19927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8E973-CA46-D24E-21B1-18F61C755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8673233-B00E-27F3-29A4-911A00A2B0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059F3D-4AB2-E7C0-EF6B-1F8024AA465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9825503-DD99-5683-F6E7-AA29BB5E9B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1BEC75F-1014-8CED-41B0-A9A0A396D2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73E7B-76A6-5B87-6124-9ED917075BB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F6679A-BD8F-6CD1-2864-2892C4C086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634996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9BA95-3CCD-1D4D-131C-13F1586B8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25CCDD7-9E41-A72A-D1FA-FBA777EB5BC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DB8F59-46F1-81B7-6E50-DD5540B76B0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1F713C3-31CD-E357-264D-C8D3960A7F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055C06E-A5D9-27FF-AD53-5BA58BB32C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7A885-AABC-5F6D-102F-D9E328DC758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77E64-3416-3B28-FF14-1F046441A3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39120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3251B-EABC-EB20-45F2-8793A21BD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D991AFD-1F7F-6097-1130-677C9A3E04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966372-1513-8F6C-1E98-A65D8076F09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1A04E22-63F4-16FF-F024-BA94C2926F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CE9C915-7CC7-0EE9-BC9E-8C49409271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1F1546-211D-9146-7DBE-E013AE41DB5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5D981-C7F8-2F9C-B681-C3B0DD4FBF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007291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27826-90EE-C476-226A-79C6CD6E0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7446F5-6FF3-15EE-32F5-4B212A5C373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E0A4D4-208D-8C1E-EAEA-2621F724131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2D53875-24A3-371C-E41A-D3C2B6B948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CF91A22-64C6-C31C-76AF-8C1DA6780B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9F40E-2E5C-8CFB-6929-A79E20CEBC0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E6BF3-32A7-E818-F4BC-17366DFBB3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352571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6E91E-EA37-A841-81B4-AA52B87AB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E79A2A-CABC-6B8B-13D4-058DA4F8C91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FBFA99-F970-3701-7B3C-1948080D4EB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D949CEF-0ACF-6EB2-496A-FE04E8BDF4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CFF0D3B-9FE3-9A1D-0338-2D88C05726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4730A0-FCAA-7532-0B51-165FAD5A77B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51687-A842-C160-7750-025F74742B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020568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085D5-9C51-8BFB-7987-3D5619AA9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E3DD87C-0DCF-E0B4-E454-8A85F916DF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7FE713-70BF-F276-FBBA-4EF56C9E171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0BD61D2-FD72-A67C-E7E2-E6C5C7678D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FA09203-076B-004D-C3F6-72A6DB5DF9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179B80-C2C4-D6BA-81A6-9B25BDEFCD7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BD5B4-DF71-4E6C-2854-19D3CAF041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51734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F18AB-72AC-F6F3-D944-B191D1595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D7283C-FD53-27F0-625A-FF84831DC2D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2C00D-9CF7-989E-7864-10560CCCD63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6BF06E0-F617-923A-CBEA-365D76DC86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CE75924-1BC3-3A42-98B8-434117B6F7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B3897-158E-F426-6E8F-65387DEDF4B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20041F-72DD-9038-E53D-E716047956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623163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7A18B-0E1F-874A-43FB-40B0499BC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57FA490-5176-CE42-31C5-653E23F7F9E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22BA3B-41FD-4E3B-54D7-8CC0994F451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DBF77AB-B4B5-DC40-EDC1-1A29652723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C82D7E2-5AB9-E8C6-6FD4-61A82488E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94102A-41C1-BD5D-1368-B989A8D5246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82541-38FB-163E-2377-51447F5515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41453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EFBCD-AC27-64FD-32C3-B5628613C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D13C080-884D-047B-8F42-9AE96005BB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9BF7B8-7E2A-B92E-0BCB-13159AE5597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BD7A863-114E-0231-2F5D-611F132A56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4E5EDF2-0F13-12A5-7D07-BFF38AAA81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先从辣眼睛的开始， 恒生科技，趋势在哪里？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A2CAE1-F6CE-6190-3869-7967BF7EE15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FAFE4-5E9A-E8AC-40A1-CC3F0894DD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020829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7FBA7-EDA0-67D9-A6B7-EFBD812FF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05D5914-62D6-51BB-1999-557479B4113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24CA57-7124-B48A-6653-2508723011E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5F3625B-3663-4D81-B319-538E9F03DB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E10E9C2-5221-DC74-8DFE-8B588F37C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先从辣眼睛的开始， 恒生科技，趋势在哪里？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076466-B6FC-CEBB-64D3-EC71174231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9D050-378B-02B9-083A-95CE1D1607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804246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51F22-FD86-1E57-F85B-6197C9915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BDE6AA-DB05-A3DF-5F66-E6ACD25A64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7403F9-1AA5-28C8-CF66-18DE7AF8F4F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718EA23-5344-A78D-6DE8-6549BA3CA0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D0908DA-CFEE-40DA-369A-E0608536C3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先从辣眼睛的开始， 恒生科技，趋势在哪里？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59C31-C103-CF88-51D2-EDFFFE9E148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3DFE4A-4EC1-4916-3E30-92E0E94E5B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264570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4D642-FF84-37F7-CE80-A75B28ABA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3A98E42-3764-1414-5E33-639282EC70B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262DB0-9AFB-B631-6A2C-E14C1800384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187D571-40AE-B21A-D6BD-51C15C9D06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EA76057-5701-3AD0-C846-06CC1B4DD3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先从辣眼睛的开始， 恒生科技，趋势在哪里？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9DF80-E2A6-BA4F-C57B-1945D83454F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BDEEA2-C481-57E5-38F1-08EF681D44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113965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D1D1F-AD9E-5F50-49A1-AF556806B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99F364D-A380-5C38-A5BE-B1AC5A25373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C09770-021C-CCAB-508E-4585BB43A65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0B26BD9-E7FB-AE83-0660-4C6DBF23D7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1B3FB9B-1559-1AAA-C93E-639140453B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先从辣眼睛的开始， 恒生科技，趋势在哪里？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9A3867-E73B-188B-4B90-45F33ED7612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D219CE-27F6-915E-E55F-DBDAB90E6C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18315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4AD9C-B9DD-B7D9-3D00-ADB7268DC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EECE13-D87C-D1E7-9C0A-6DD1E7A585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246F38-5070-9C3A-31CE-2B3CBDE05AE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0CFCBB8-BF7B-706E-810C-A79BB1C005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902A6C0-5569-5BCD-A439-2BE7B3B4C0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CC7AE-71FE-07AB-215F-B9C9A8C652C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3B1381-BB14-674C-7389-0D8CE22C85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591500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E6F5F-BC14-8D79-5DF0-5AAC50BDF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5A125F7-F5E7-010A-8496-B8E910F83C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281A37-2EAF-F333-F1D2-74B334B2FAA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AC7F707-D67F-11BC-BB6F-B8217DC095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D44ACD9-0E93-A8A5-D858-31C87747FA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D01D15-2182-DC20-42A8-ADF55CCECA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01364-9D20-8D4A-EBDF-358FFE3AB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593208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CF8DB-662B-C5E5-3680-BD78B1A1E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934697-1351-F5C8-C12D-9E58886699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2F0BAC-AE36-2365-3AE8-6B11EB0A933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BC2260E-95B1-C34D-1A5F-64FA59649B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DA492A8-0650-A941-1006-FF2C5FD9F0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A09F69-120B-A17A-6B3A-2428F98BF28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6C1C7-DDB3-A5AC-B3F0-D0798F4FD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557881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85EDF-98BD-82C1-FF7B-15961F174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CD48DFA-CA17-B858-466A-BC5EDAF118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2BF891-EA0E-07F1-4723-AC8A7D907A3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BEF007D-6629-827D-5A7E-E37E599457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ECD2CA0-949D-B6A9-6F06-5A2736E661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CC41C-852C-8C79-D84C-7633CD55108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BF12D-63D9-940C-10D5-03DFEF81DA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685713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45117-02CB-B134-D4A4-828FFA789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37D07E3-62E5-857A-F007-1F9CD7CD68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84C592-D444-35DC-DC53-A63D6FBB3D0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ACCDD7F-31CC-656A-FE9D-774547D66C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8948939-CE4B-4153-871C-5E2E3F8057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DB7ABD-B494-2AE8-A6CE-785E3231320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461C5-42AD-10A0-93F2-177D0EAF6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721601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D8D33-2B0E-5651-7679-F3D02B81B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E017050-2E48-7FF5-A0F5-CD0ED10717A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9AA852-A8A4-C0A1-3741-82188638AB7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1CC35B1-99FF-C027-FA1E-267B592564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F10491D-84E7-9A5D-AC1B-D478B56E0B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E39371-B813-8EBA-809A-263DB114B05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C4168-FDC7-5183-66C5-2C10D9D068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55631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3F284-EA69-54FA-C75F-949AA923C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659F10-AD1B-3192-E544-579DF6864C8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2DA5C0-6F4E-98F9-B157-6801E604E59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D1F8C0B-AD38-B6DF-1DF6-C89C60C3E7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2719602-8B4B-2CC8-4F86-853E211AA6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BCC0E4-FA18-C54D-B0CD-E4F5BEA5522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B382D-D181-1B1B-FDC9-1C7967B309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33314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43B92-767A-5CA0-8352-E802EF830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895AE39-3A5C-5924-99DD-728E416DF9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BE899B-A4FD-8FB7-E990-B2249067CB7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254ABB9-2094-CF52-AD32-209A98F5D5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BE41A3D-5E89-86AF-97ED-FA26E1A587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F470F0-FFFC-7245-FA61-9E387F5D075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E6D775-8EE4-8908-A660-30C1DB2166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896362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871FE-58B2-D97E-CCCF-D177B6104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95B15B2-E6F6-C4F9-101D-0A71462D14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C1260D-E592-BD82-830D-4C0B819E0DF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AB9EEA3-E616-CFB6-B781-06E8D4FFF9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658BB71-2E27-3526-C0B7-B484765DE9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A0AF22-F4C7-BD44-8F4B-5D09708C781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4442F4-F365-C879-3F10-1F031F5733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415514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277AF-FD51-0D76-2E2C-85CE1A126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E5F7699-7F32-4E48-DB50-85929CE9788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CE9ED6-2171-C4EE-4F40-8DABA1E1049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691CF71-F23E-938C-3537-3F3EAA9380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1E6F06B-BB37-04F1-A537-81715AF4D5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4F2DC-9A8C-C174-14F7-B9F82B932AD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5ECF07-5E83-F86D-211A-A2E29FEDB1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5578640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5E104-782B-71A0-60F9-DFC3A7403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A116FDC-1E60-95EA-BADE-62F560C2DEA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1B2E91-7E5A-DE95-558A-ED5B0805762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A2600CD-91F0-C895-3530-51507A2459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E7D2E40-16F2-CF23-82C4-7E93AC93B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00FDF-830B-AA46-D434-E954B383E99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592DE-2220-1B5D-26BA-DFA901A52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17114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CDD49-3E84-B318-3BF8-83F992261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94892BA-B085-A5B1-4754-DE3B5B5210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068C4-E899-6379-3D38-04830B15673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124CB98-04BA-73C0-04A4-F5EA1F589F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934D4BF-59E6-528D-EF04-78441AD6B8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45B65-657D-8C5C-5C41-3CDB9867B9F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5D1FA5-8599-BBBD-290D-0299C26512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335047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65120-43A9-D204-CFFC-D3A8123B9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DD5D02-B591-3988-A387-64B04FDB57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A5CCDF-B346-D2EC-14A5-061D20C6EB2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BDCCFC6-088C-9DB7-3F5F-4DC9A6126D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6E4FFB2-F07B-34B9-D6A2-2E8A3A324B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70DA6-F860-C05F-F307-EB310F4FBED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221F6-30AA-B2DC-38AF-3D4820837A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743289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DAD51-0ADF-35B1-0BE1-58BD34318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040A9EC-B7CD-B259-D9D7-2DDEB7230C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7DB2AF-BDC7-312D-DB75-3C43E1120DC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19AA711-A3FE-BCC5-3875-E02013817E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22060C8-76F1-AD31-1B29-3EFDEB2119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0512E7-B9D9-7A45-A8A6-94ADA295587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78080F-BF9F-657A-1B2A-49C9A7697F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172439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E6D87-13A4-4EF5-8447-DDC52FB41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4E87FF-B489-4F3F-6FF6-466CEA1CD45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3D447B-DAA1-5614-7DB7-8797A715ABB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CEACBF5-591C-8B7E-04DD-AC7DBC6F4C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E1B219E-8B53-7314-43DF-63FEEF6AA4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29E994-D71F-02B9-FF69-6FD4C7AE5A6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60EA22-5781-BB55-F1AC-5B8E4E519E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1738327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DADFA-D421-72E9-9B36-C4704B20B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52462C1-295B-AD23-22D7-4E4D861FDB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E33B3D-87ED-2DBE-1912-B063B80C4E7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D596EA4-965D-1480-5CFC-5913CE1296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D5A0570-B4F3-40F7-44F1-081AC5F5B5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2C2329-F263-A7F5-D144-E961B79844F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F87573-B6F0-2254-253E-8B83185091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706629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28F3F-7436-808E-2DB4-CC7C73D15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122D96-CB8E-930E-8876-24314D86DF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268669-52CB-4501-F5B5-BBC6145DB2A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B5B9FC6-4777-7B98-9C35-19B774F328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C4779B4-D10E-4848-9A22-3C3C1B40E9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CD5ADF-D50D-07E3-7587-17987309E0B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29C1B-94C6-E3FC-9BB0-57C0DCCF0C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778753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FB592-ADDC-F5F0-A83C-8FADE2484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D9AE0E7-6B8F-DEBC-2334-E3E1A504A9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5ED2EB-06E9-2C22-D901-8E8B7781DBF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5FF228C-B7B0-EE5E-9C68-A5E69607D1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0F2BFB4-1D2C-8FD4-FF09-F25379BC1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88D7A9-1C78-1EB7-81F2-649DD9995B5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6D5C0B-4A05-7D6A-D1D9-7E9FE3D135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6744259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E394B-7192-83A3-4DEC-7C361B15F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292199-9C9C-BAF2-05A4-312BB03087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3B3CD9-F855-4098-4BD2-93CB4899220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E18D8FC-FF58-FD0B-EE2A-523280523C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9F6B25B-C497-9587-E599-B5E0C5FBA2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E35C4-668E-EC8B-7985-6B68BDF1874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BDF40B-42C5-372D-3AB0-2F78323C63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6193905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4B1A1-7203-FE03-953A-AEDD0752B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3288EE5-3B31-79CB-BBDF-DF9B35987B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42118A-3A47-8620-4EB9-052A0D147C9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03F3920-F4A6-BEFB-C278-7CA9CDA2FD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102A866-7257-DE4E-4E7D-3C81AAF766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8BDBE6-158F-2AEE-1629-3BABCD73DF2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A5621-635A-9938-190B-B8C756CE06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109008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65FEB-894E-0723-6951-2BB3D52DE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17501D3-C97A-16DF-1D41-EDDC4CDF80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BECA58-87A8-26EE-5C54-3DB8337E03D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2725191-D04B-06CF-4F8F-6E5765B7FA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A979A49-5301-83F0-93BD-2473A64867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A4001-B382-C556-2C0E-5C883012403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8A15C-B13C-D76B-0C45-7C8C127BD6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5852291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43B92-767A-5CA0-8352-E802EF830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895AE39-3A5C-5924-99DD-728E416DF9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BE899B-A4FD-8FB7-E990-B2249067CB7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254ABB9-2094-CF52-AD32-209A98F5D5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BE41A3D-5E89-86AF-97ED-FA26E1A587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F470F0-FFFC-7245-FA61-9E387F5D075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E6D775-8EE4-8908-A660-30C1DB2166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8963623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65887-9539-2D05-C101-BF6B09E09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1F9B780-B1FF-0FAB-1623-EAE48F25D9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57D5EE-A8BC-98A7-1F7A-D68565D18DC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93B80E1-9944-800F-93B7-97FF4DE7FD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F1FC4D9-C5B9-90E8-FD78-159305AEE2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041E2-BBDD-720D-2AA7-ADF35C96799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47DAEA-9187-9251-FDDD-EFD58E5937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14574465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38771-DD43-6064-B1F6-6D95C42EB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F73612D-E374-4E8A-9F13-4705A33596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C2121E-8BC4-2189-DF9A-3C0C7B07D42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5624568-05BF-355C-4CC8-115C4B3C4E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FA3A09C-A26A-9A17-B1D7-578FD13220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792900-6BCC-5E9B-2D06-C56AF47FACF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D595C-B612-0775-3B22-07C6B6D515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2701394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BDF63-73EB-FDFE-3B3D-5E9E0A1DB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791FB8-6843-621C-1A8B-548D4488CC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4F6725-7EEA-EC6A-6F2E-663FC30C24F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C536094-9FC0-1353-5BFF-AE97A35C1B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0BE126C-B071-313B-300D-375FD3FA9D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BF83E-7A83-6EFB-4AA4-E6FB421FAC4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42253-3781-BA04-6C3A-9ADC7AF589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5388158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D1037-AC47-B3FB-1A68-37B022039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A6A1E3F-F0E1-F13A-1C58-7F66A2EF85C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A1CA3-CB99-44AD-C5E5-10CCD69F140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FDDBFEA-B660-BBEE-F7F6-C32A75F015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EC56569-8C39-D9FB-6350-203DFCDC89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AF80B8-B53F-B626-3B99-21F6892D4DA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58EA6-A235-562A-50B3-392AE421C0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1499640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19FA7-AE2D-BF65-FFE3-29C849A8E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450A347-6FC4-1D1F-3720-97BE428159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ECC469-B2EA-C855-E954-F85402FC14E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BB8BD1D-4250-1DAF-552C-15E3E1E9AE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7201BCE-6520-E5E7-81D3-DB5B2B38D6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62EBA3-93C3-EC48-3CF6-DF8CA3A6E56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C6940B-95C9-FCEA-EB93-DD10468461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0670755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586FD-AB4E-628A-9363-B5579FFCA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5182068-CE79-0204-BBF4-3EF2600B18F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C294EB-AB92-D4DA-BBE7-04EA29E7112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6202512-22BA-B3C6-74CA-3802962DD7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BE73BB8-8C61-7618-8DEC-BF2D68AF65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DFC9E4-4936-158C-67B1-47ACE3C0280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C02E9C-2E3F-20BB-DB25-0ADEACE17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17403036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8E95C-E253-DC79-D1BF-1FC8A4FDC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8D864B-AFF5-BEF3-DD98-8A0415E1DA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41FDE-BD7D-D65B-49BC-C31FC5F5A2D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32F90A6-5AC7-5FC2-6B5B-6AFEDAF917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076F647-5929-E1A8-A799-2B4EF305BE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13BA1-577F-1471-130B-A1DF20BEA5A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E2051-9DF8-AFF3-0A29-AF54E13A5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3966381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3B1D2-8599-A2C4-54A2-553A0F0D2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8D7A88-7AF0-BFD8-B971-53A4CA5DD2A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4B1C93-6D84-DCAD-CA3B-1F6D57DB4FF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8687027-69DB-8DB1-906F-ADC6E72C83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2FBD8AD-D7D3-DFA1-697D-21FC3089E3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E3EA68-2EFA-E4AF-E863-72DD290F4C4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784451-08EA-7D1F-35EA-C0B5437115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8798143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E4D45-6BCA-6F15-941C-01F94624F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8C0934-F666-09E8-D194-B787AC07C5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3207EB-BB2A-19F4-2DF5-CE9E8E67DCC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5D426C3-89A7-B38C-5D2E-99AD3369DD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C5353A9-57B2-3231-4529-92D925C016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E2399D-EDE5-3914-8E3C-DD4C238176B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D1D8A9-36EB-EEE1-2597-246086BC4C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0165776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60793-5796-0950-2E96-94B751AA6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E621F30-DC37-CD13-75ED-77240C8B564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4C1B65-7CD8-C059-5150-4FEB66D5C9C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B081A04-EA53-0453-8968-6E29B1790C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5202275-0F50-7623-BE40-C9BF7129B1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4ACAC-3045-D972-A2E6-337B5858BD4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00B8D-1A23-7154-E3A7-B4B4219856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3035313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E8C89-E700-CBF1-DF87-F7EDE393C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D654670-5FF2-BDC7-2695-176D3C5F63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BB32ED-2407-93CB-24E6-B0378700CD0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73C0017-060A-5167-5F2B-A2E20AC546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CBCB10C-278E-6E84-07EE-B4381805C2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001FE-B081-4736-F3F4-6972DBEB3FF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BFE36E-E6C3-BCFE-9528-0EACF46A13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6709847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ABB4B-AA18-E53A-2BBC-EDF4336B6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ADAD483-E0DD-6AA4-C936-1C59F7A1893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E69BE0-B9B3-1FE4-EFC5-F4F5C4A3558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09D6F89-AB1F-A72E-5DE0-06FBF2A227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2973DFD-A30B-8665-CE65-200E1DD447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9105E1-2E9F-0A84-811F-B792720DA97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76645-8CDF-CA7C-CF5D-B156EE7DD1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8786147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A47BC-BD9A-C7B2-AF31-5402BA9E9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0F8143B-2573-489D-EFB9-8557957BCC8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B56F54-4AAC-88D9-31DC-BAAA8CC5F9C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C445946-0D27-FB8E-D336-B34526852A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4287D22-F769-7F0C-B1BD-84C329B605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4C70AE-F0C7-4E81-F235-18A2F3DB64A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EA7F7-FF22-980F-6F9E-AAA8B0B26E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8956385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C62A8-B6DB-CA9C-179D-0E994D4E3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92EB2CD-4FD4-A0F7-B810-3EB5B23FDF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F5D1B5-6A01-ADAD-2BCC-FCB36B53B6F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EAC5527-AAB1-0BA5-9BF7-4FF88E5153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55FE110-132A-BD8F-F67E-137D53F88D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先从辣眼睛的开始， 恒生科技，趋势在哪里？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B4A4B7-0372-3EFF-1618-448CD346AED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90BBF-B15E-56DE-EEDA-B886334443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1882924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B0A06-2364-8E9D-6835-68E7C45D3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16CBD1-2048-A0B1-9F56-DC751B780D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C3CFA4-BA11-4591-FC76-0948108832D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2822B1F-65E5-248D-F191-E7371456EA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BCB8CAC-4DB7-0C75-4688-0D74FC808B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上次给的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250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块，已经实现，这次看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300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AFDA99-E2A6-A215-6694-0C946D22FD8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321964-1B1A-1DD7-47C7-494E5B7EF3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1505328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6DC64-666C-EAB5-488C-4D8D9F1A8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8872317-9AF7-D33D-341E-B4319C0431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F09222-00A4-C7C7-3727-01594A13276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7C77DCC-A8D1-62B6-1DDF-762406BB23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43A1465-4A4A-6AD5-4286-F0036674B2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我的分享到此结束，感谢大家的聆听。现在是问答环节，欢迎大家提问交流。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629A7-7F9B-1F96-BFED-E94054BD6FA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44EB1C-B954-AACF-CC38-DAF971FF0F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5881496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D7C98-D10D-2AD9-EA99-797DD8C8D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733B3FB-E19C-CB75-1498-51DDF540C27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69A0B3-A9F1-D636-19EF-0F4EA74557C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0E53AC1-8460-96A5-38DE-4AC2C29E4E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CF4B55E-97F8-2DAD-8C20-9CA6BBAB10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我的分享到此结束，感谢大家的聆听。现在是问答环节，欢迎大家提问交流。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C8B31-16D0-6645-85E9-B183FCDC65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B215D7-3C9D-168E-3A22-D8A578730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0686728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自动驾驶的核心赛道非常清晰。域控制器是智能化的大脑，德赛西威是国内的绝对龙头。激光雷达成为标配，禾赛科技等公司处于领先地位。线控底盘是执行基础。同时，我们也要关注在软件和芯片领域加速追赶的国内企业，以及在智能驾驶技术上领先的整车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4396386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看电动车产业链。当前的投资逻辑已经发生了转变，竞争的焦点正从续航、价格等电动化指标，转向以自动驾驶为核心的智能化体验。2026年是L3级自动驾驶法规落地和量产的关键年份，在这个阶段，核心硬件的投资确定性是最高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109425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57200" y="1778000"/>
            <a:ext cx="8229600" cy="1397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800" b="1" i="0" u="none" strike="noStrike" dirty="0">
                <a:solidFill>
                  <a:srgbClr val="FFD700"/>
                </a:solidFill>
                <a:latin typeface="Songti SC"/>
                <a:ea typeface="Songti SC"/>
                <a:cs typeface="Songti SC"/>
                <a:sym typeface="Songti SC"/>
              </a:rPr>
              <a:t>投资工具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457200" y="3556000"/>
            <a:ext cx="8229600" cy="88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0" i="0" u="none" strike="noStrike" dirty="0">
                <a:solidFill>
                  <a:srgbClr val="E5E7EB"/>
                </a:solidFill>
                <a:latin typeface="Songti SC"/>
                <a:ea typeface="Songti SC"/>
                <a:cs typeface="Songti SC"/>
                <a:sym typeface="Songti SC"/>
              </a:rPr>
              <a:t>2026年8月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0" y="5334000"/>
            <a:ext cx="9144000" cy="762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400" dirty="0">
                <a:solidFill>
                  <a:srgbClr val="FF0000"/>
                </a:solidFill>
              </a:rPr>
              <a:t>躺赢社区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FA319-63AC-DED4-14BD-770296B4B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1838F62-C22A-3870-B799-107FA1768452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各种好消息，坏消息，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同时有好消息，坏消息，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所以，谷歌还能买吗？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存储还能买吗？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芯片半导体，英伟达，特斯拉？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中国科技还行吗</a:t>
            </a:r>
            <a:r>
              <a:rPr lang="en-US" altLang="zh-CN" sz="3200" dirty="0">
                <a:solidFill>
                  <a:srgbClr val="FF0000"/>
                </a:solidFill>
              </a:rPr>
              <a:t>?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7320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777FD-9B67-7C1C-5E92-D80B3935B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3438DA8-D18B-CF93-8A98-209CF5226A39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东升西落，美国要衰退了？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美国欠了这么多国债，要被特朗普玩坏了？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英伟达跟</a:t>
            </a:r>
            <a:r>
              <a:rPr lang="en-US" altLang="zh-CN" sz="3200" dirty="0" err="1">
                <a:solidFill>
                  <a:srgbClr val="FF0000"/>
                </a:solidFill>
              </a:rPr>
              <a:t>neubis</a:t>
            </a:r>
            <a:r>
              <a:rPr lang="en-US" altLang="zh-CN" sz="3200" dirty="0">
                <a:solidFill>
                  <a:srgbClr val="FF0000"/>
                </a:solidFill>
              </a:rPr>
              <a:t> </a:t>
            </a:r>
            <a:r>
              <a:rPr lang="zh-CN" altLang="en-US" sz="3200" dirty="0">
                <a:solidFill>
                  <a:srgbClr val="FF0000"/>
                </a:solidFill>
              </a:rPr>
              <a:t>左手导右手，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在制造泡沫？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462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2D960-1652-3974-E2AC-3B78FEA9A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E0F3221-7E79-A75E-C0B0-0B425CE3E283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3DA8516-3DF7-C1BE-ACE5-EF3CD6044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094" y="0"/>
            <a:ext cx="46598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045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ACA4E-D421-74E8-8A5E-970D915A1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F521DD3-BD65-966E-A068-6A22A4FAFBFC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8CDCEEE-4BA9-441A-DB63-30A3E8DE9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5714"/>
            <a:ext cx="9144000" cy="652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808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E9265-A840-FB70-5762-7D427506F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1C81B26-2E39-3E65-147C-646B6861E61F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8A58E48-50BD-2424-019F-08E4C4464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86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62D9C-1C8A-51CD-E639-C9D9FAEFE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653FDCC-4289-93DC-11A1-7D3E0B372EC6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85994B2-7C94-CC8C-19EE-E5EA823A0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1624" y="0"/>
            <a:ext cx="4640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410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4A9FA-F654-29FA-BDBB-69A80B8E0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193B4EE-F12A-3070-E8A0-0C9DF6590848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FF66F00-C16A-BD64-2404-1F268C3B7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090" y="0"/>
            <a:ext cx="41798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329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F5E94-14CB-A0CC-CA11-A4EE08FE1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6599A86-C53A-8701-B56A-C25911834E82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AE3C462-74CE-4E97-C49B-C0E6433A5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1769" y="0"/>
            <a:ext cx="44404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108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CF313-C927-98D5-98E2-BFA3AF0C6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FC626B9-7234-D2CE-7554-60465DCB38EC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  <a:latin typeface="Songti SC"/>
                <a:ea typeface="Songti SC"/>
                <a:cs typeface="Songti SC"/>
                <a:sym typeface="Songti SC"/>
              </a:rPr>
              <a:t>道氏理论</a:t>
            </a:r>
            <a:endParaRPr lang="en-US" altLang="zh-CN" sz="3200" dirty="0">
              <a:solidFill>
                <a:srgbClr val="FF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  <a:latin typeface="Songti SC"/>
                <a:sym typeface="Songti SC"/>
              </a:rPr>
              <a:t>道琼斯指数发明人，判断市场主要趋势，不预测涨跌点位，只识别趋势方向</a:t>
            </a:r>
            <a:endParaRPr lang="en-US" altLang="zh-CN" sz="3200" dirty="0">
              <a:solidFill>
                <a:srgbClr val="FF0000"/>
              </a:solidFill>
              <a:latin typeface="Songti SC"/>
              <a:sym typeface="Songti SC"/>
            </a:endParaRPr>
          </a:p>
          <a:p>
            <a:pPr indent="0" algn="ctr">
              <a:lnSpc>
                <a:spcPct val="125000"/>
              </a:lnSpc>
              <a:defRPr/>
            </a:pPr>
            <a:endParaRPr lang="en-US" altLang="zh-CN" sz="3200" dirty="0">
              <a:solidFill>
                <a:srgbClr val="FF0000"/>
              </a:solidFill>
              <a:latin typeface="Songti SC"/>
              <a:sym typeface="Songti SC"/>
            </a:endParaRPr>
          </a:p>
          <a:p>
            <a:pPr indent="0" algn="ctr">
              <a:lnSpc>
                <a:spcPct val="125000"/>
              </a:lnSpc>
              <a:defRPr/>
            </a:pPr>
            <a:endParaRPr lang="en-US" altLang="zh-CN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32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31D36-7927-9393-32F3-74A98EF1D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05227A6-209B-E510-765B-0BB4669739F1}"/>
              </a:ext>
            </a:extLst>
          </p:cNvPr>
          <p:cNvSpPr/>
          <p:nvPr/>
        </p:nvSpPr>
        <p:spPr>
          <a:xfrm>
            <a:off x="457200" y="1778000"/>
            <a:ext cx="8229600" cy="1397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CBCE0F1-289D-BD9D-191F-38C2792C6D84}"/>
              </a:ext>
            </a:extLst>
          </p:cNvPr>
          <p:cNvSpPr/>
          <p:nvPr/>
        </p:nvSpPr>
        <p:spPr>
          <a:xfrm>
            <a:off x="457200" y="3556000"/>
            <a:ext cx="8229600" cy="88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3200" b="0" i="0" u="none" strike="noStrike" dirty="0">
                <a:solidFill>
                  <a:srgbClr val="FF0000"/>
                </a:solidFill>
                <a:latin typeface="Songti SC"/>
                <a:ea typeface="Songti SC"/>
                <a:cs typeface="Songti SC"/>
                <a:sym typeface="Songti SC"/>
              </a:rPr>
              <a:t>1.</a:t>
            </a:r>
            <a:r>
              <a:rPr lang="zh-CN" altLang="en-US" sz="3200" b="0" i="0" u="none" strike="noStrike" dirty="0">
                <a:solidFill>
                  <a:srgbClr val="FF0000"/>
                </a:solidFill>
                <a:latin typeface="Songti SC"/>
                <a:ea typeface="Songti SC"/>
                <a:cs typeface="Songti SC"/>
                <a:sym typeface="Songti SC"/>
              </a:rPr>
              <a:t>三大趋势，</a:t>
            </a:r>
            <a:endParaRPr lang="en-US" altLang="zh-CN" sz="3200" b="0" i="0" u="none" strike="noStrike" dirty="0">
              <a:solidFill>
                <a:srgbClr val="FF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  <a:latin typeface="Songti SC"/>
                <a:ea typeface="Songti SC"/>
                <a:cs typeface="Songti SC"/>
                <a:sym typeface="Songti SC"/>
              </a:rPr>
              <a:t>主要趋势：</a:t>
            </a:r>
            <a:r>
              <a:rPr lang="zh-CN" altLang="en-US" sz="3200" b="0" i="0" u="none" strike="noStrike" dirty="0">
                <a:solidFill>
                  <a:srgbClr val="FF0000"/>
                </a:solidFill>
                <a:latin typeface="Songti SC"/>
                <a:ea typeface="Songti SC"/>
                <a:cs typeface="Songti SC"/>
                <a:sym typeface="Songti SC"/>
              </a:rPr>
              <a:t> 牛市，一浪高过一浪，熊市，一浪低过一浪</a:t>
            </a:r>
            <a:endParaRPr lang="en-US" altLang="zh-CN" sz="3200" b="0" i="0" u="none" strike="noStrike" dirty="0">
              <a:solidFill>
                <a:srgbClr val="FF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  <a:latin typeface="Songti SC"/>
                <a:sym typeface="Songti SC"/>
              </a:rPr>
              <a:t>次级趋势： 中期调整，几周</a:t>
            </a:r>
            <a:r>
              <a:rPr lang="en-US" altLang="zh-CN" sz="3200" dirty="0">
                <a:solidFill>
                  <a:srgbClr val="FF0000"/>
                </a:solidFill>
                <a:latin typeface="Songti SC"/>
                <a:sym typeface="Songti SC"/>
              </a:rPr>
              <a:t>-</a:t>
            </a:r>
            <a:r>
              <a:rPr lang="zh-CN" altLang="en-US" sz="3200" dirty="0">
                <a:solidFill>
                  <a:srgbClr val="FF0000"/>
                </a:solidFill>
                <a:latin typeface="Songti SC"/>
                <a:sym typeface="Songti SC"/>
              </a:rPr>
              <a:t>数月，大牛市的大跌回调，熊市的反弹</a:t>
            </a:r>
            <a:endParaRPr lang="en-US" altLang="zh-CN" sz="3200" dirty="0">
              <a:solidFill>
                <a:srgbClr val="FF0000"/>
              </a:solidFill>
              <a:latin typeface="Songti SC"/>
              <a:sym typeface="Songti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  <a:latin typeface="Songti SC"/>
                <a:sym typeface="Songti SC"/>
              </a:rPr>
              <a:t>短期波动： 几周 几天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70CA7F7E-081C-33A1-582D-0DB393700A02}"/>
              </a:ext>
            </a:extLst>
          </p:cNvPr>
          <p:cNvSpPr/>
          <p:nvPr/>
        </p:nvSpPr>
        <p:spPr>
          <a:xfrm>
            <a:off x="0" y="5334000"/>
            <a:ext cx="9144000" cy="762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7450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48D81-1966-535E-01C3-405B1EE49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1CA6BFE-DB6C-B4C7-8B30-92FE6FC8C418}"/>
              </a:ext>
            </a:extLst>
          </p:cNvPr>
          <p:cNvSpPr/>
          <p:nvPr/>
        </p:nvSpPr>
        <p:spPr>
          <a:xfrm>
            <a:off x="457200" y="1778000"/>
            <a:ext cx="8229600" cy="1397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4C2FD83-BA95-EBB1-14C3-8A41F4015AD2}"/>
              </a:ext>
            </a:extLst>
          </p:cNvPr>
          <p:cNvSpPr/>
          <p:nvPr/>
        </p:nvSpPr>
        <p:spPr>
          <a:xfrm>
            <a:off x="457200" y="3556000"/>
            <a:ext cx="8229600" cy="88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3200" b="0" i="0" u="none" strike="noStrike" dirty="0">
                <a:solidFill>
                  <a:srgbClr val="FF0000"/>
                </a:solidFill>
                <a:latin typeface="Songti SC"/>
                <a:ea typeface="Songti SC"/>
                <a:cs typeface="Songti SC"/>
                <a:sym typeface="Songti SC"/>
              </a:rPr>
              <a:t>1.</a:t>
            </a:r>
            <a:r>
              <a:rPr lang="zh-CN" altLang="en-US" sz="3200" b="0" i="0" u="none" strike="noStrike" dirty="0">
                <a:solidFill>
                  <a:srgbClr val="FF0000"/>
                </a:solidFill>
                <a:latin typeface="Songti SC"/>
                <a:ea typeface="Songti SC"/>
                <a:cs typeface="Songti SC"/>
                <a:sym typeface="Songti SC"/>
              </a:rPr>
              <a:t>平均价格包容一切， 消息财报 政策 地缘</a:t>
            </a:r>
            <a:endParaRPr lang="en-US" altLang="zh-CN" sz="3200" b="0" i="0" u="none" strike="noStrike" dirty="0">
              <a:solidFill>
                <a:srgbClr val="FF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en-US" altLang="zh-CN" sz="3200" dirty="0">
                <a:solidFill>
                  <a:srgbClr val="FF0000"/>
                </a:solidFill>
                <a:latin typeface="Songti SC"/>
                <a:sym typeface="Songti SC"/>
              </a:rPr>
              <a:t>2.</a:t>
            </a:r>
            <a:r>
              <a:rPr lang="zh-CN" altLang="en-US" sz="3200" dirty="0">
                <a:solidFill>
                  <a:srgbClr val="FF0000"/>
                </a:solidFill>
                <a:latin typeface="Songti SC"/>
                <a:sym typeface="Songti SC"/>
              </a:rPr>
              <a:t>主要趋势不会轻易反转，趋势一旦形成，延续性极强，反转需要明确信号，不要主观猜测顶底</a:t>
            </a:r>
            <a:endParaRPr lang="en-US" altLang="zh-CN" sz="3200" dirty="0">
              <a:solidFill>
                <a:srgbClr val="FF0000"/>
              </a:solidFill>
              <a:latin typeface="Songti SC"/>
              <a:sym typeface="Songti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en-US" altLang="zh-CN" sz="3200" dirty="0">
                <a:solidFill>
                  <a:srgbClr val="FF0000"/>
                </a:solidFill>
                <a:latin typeface="Songti SC"/>
                <a:sym typeface="Songti SC"/>
              </a:rPr>
              <a:t>3. </a:t>
            </a:r>
            <a:r>
              <a:rPr lang="zh-CN" altLang="en-US" sz="3200" dirty="0">
                <a:solidFill>
                  <a:srgbClr val="FF0000"/>
                </a:solidFill>
                <a:latin typeface="Songti SC"/>
                <a:sym typeface="Songti SC"/>
              </a:rPr>
              <a:t>牛市确认，指数创出新高，回调低点高于前一波回调低点</a:t>
            </a:r>
            <a:endParaRPr lang="en-US" altLang="zh-CN" sz="3200" dirty="0">
              <a:solidFill>
                <a:srgbClr val="FF0000"/>
              </a:solidFill>
              <a:latin typeface="Songti SC"/>
              <a:sym typeface="Songti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  <a:latin typeface="Songti SC"/>
                <a:sym typeface="Songti SC"/>
              </a:rPr>
              <a:t>熊市确认，指数创出新低，反弹高点小于前一波反弹高点</a:t>
            </a:r>
            <a:endParaRPr lang="en-US" altLang="zh-CN" sz="3200" dirty="0">
              <a:solidFill>
                <a:srgbClr val="FF0000"/>
              </a:solidFill>
              <a:latin typeface="Songti SC"/>
              <a:sym typeface="Songti SC"/>
            </a:endParaRPr>
          </a:p>
          <a:p>
            <a:pPr indent="0" algn="ctr">
              <a:lnSpc>
                <a:spcPct val="125000"/>
              </a:lnSpc>
              <a:defRPr/>
            </a:pP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864A8F96-1735-958B-EF4D-47B40983639F}"/>
              </a:ext>
            </a:extLst>
          </p:cNvPr>
          <p:cNvSpPr/>
          <p:nvPr/>
        </p:nvSpPr>
        <p:spPr>
          <a:xfrm>
            <a:off x="0" y="5334000"/>
            <a:ext cx="9144000" cy="762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341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442B6-FACA-98F6-DA20-0FD9803A0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23AA0C0-89E3-F2C9-D8D1-8919FCB26408}"/>
              </a:ext>
            </a:extLst>
          </p:cNvPr>
          <p:cNvSpPr/>
          <p:nvPr/>
        </p:nvSpPr>
        <p:spPr>
          <a:xfrm>
            <a:off x="457200" y="1778000"/>
            <a:ext cx="8229600" cy="1397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200E2A8-F605-CBA7-6CEE-9545AB08B232}"/>
              </a:ext>
            </a:extLst>
          </p:cNvPr>
          <p:cNvSpPr/>
          <p:nvPr/>
        </p:nvSpPr>
        <p:spPr>
          <a:xfrm>
            <a:off x="457200" y="3556000"/>
            <a:ext cx="8229600" cy="88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3200" b="0" i="0" u="none" strike="noStrike" dirty="0">
                <a:solidFill>
                  <a:srgbClr val="FF0000"/>
                </a:solidFill>
                <a:latin typeface="Songti SC"/>
                <a:ea typeface="Songti SC"/>
                <a:cs typeface="Songti SC"/>
                <a:sym typeface="Songti SC"/>
              </a:rPr>
              <a:t>4. </a:t>
            </a:r>
            <a:r>
              <a:rPr lang="zh-CN" altLang="en-US" sz="3200" b="0" i="0" u="none" strike="noStrike" dirty="0">
                <a:solidFill>
                  <a:srgbClr val="FF0000"/>
                </a:solidFill>
                <a:latin typeface="Songti SC"/>
                <a:ea typeface="Songti SC"/>
                <a:cs typeface="Songti SC"/>
                <a:sym typeface="Songti SC"/>
              </a:rPr>
              <a:t>成交量验证，大涨放量，回调缩量健康，如果上涨缩量，下跌放量，趋势虚弱</a:t>
            </a:r>
            <a:endParaRPr lang="en-US" altLang="zh-CN" sz="3200" b="0" i="0" u="none" strike="noStrike" dirty="0">
              <a:solidFill>
                <a:srgbClr val="FF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en-US" sz="3200" dirty="0">
                <a:solidFill>
                  <a:srgbClr val="FF0000"/>
                </a:solidFill>
                <a:latin typeface="Songti SC"/>
                <a:sym typeface="Songti SC"/>
              </a:rPr>
              <a:t>5. </a:t>
            </a:r>
            <a:r>
              <a:rPr lang="zh-CN" altLang="en-US" sz="3200" dirty="0">
                <a:solidFill>
                  <a:srgbClr val="FF0000"/>
                </a:solidFill>
                <a:latin typeface="Songti SC"/>
                <a:sym typeface="Songti SC"/>
              </a:rPr>
              <a:t>趋势持续到出现明确反转信号，不要提前抄底，逃顶，拒绝左侧判断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B29C091B-AFF9-71C1-DF19-4487E0D6A09D}"/>
              </a:ext>
            </a:extLst>
          </p:cNvPr>
          <p:cNvSpPr/>
          <p:nvPr/>
        </p:nvSpPr>
        <p:spPr>
          <a:xfrm>
            <a:off x="0" y="5334000"/>
            <a:ext cx="9144000" cy="762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0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D01E9-3B4D-1482-1577-86B7B85A2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88AD6D7-6631-6A23-D777-9354F360D2A5}"/>
              </a:ext>
            </a:extLst>
          </p:cNvPr>
          <p:cNvSpPr/>
          <p:nvPr/>
        </p:nvSpPr>
        <p:spPr>
          <a:xfrm>
            <a:off x="457200" y="1778000"/>
            <a:ext cx="8229600" cy="1397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98D7260-573E-7630-9D2A-FAD257938A62}"/>
              </a:ext>
            </a:extLst>
          </p:cNvPr>
          <p:cNvSpPr/>
          <p:nvPr/>
        </p:nvSpPr>
        <p:spPr>
          <a:xfrm>
            <a:off x="670560" y="3545840"/>
            <a:ext cx="8229600" cy="88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b="0" i="0" u="none" strike="noStrike" dirty="0">
                <a:solidFill>
                  <a:srgbClr val="FF0000"/>
                </a:solidFill>
                <a:latin typeface="Songti SC"/>
                <a:ea typeface="Songti SC"/>
                <a:cs typeface="Songti SC"/>
                <a:sym typeface="Songti SC"/>
              </a:rPr>
              <a:t>道氏定大方向， 斐波那契找回调关键支撑压力</a:t>
            </a:r>
            <a:r>
              <a:rPr lang="en-US" altLang="zh-CN" sz="3200" dirty="0">
                <a:solidFill>
                  <a:srgbClr val="FF0000"/>
                </a:solidFill>
                <a:latin typeface="Songti SC"/>
                <a:ea typeface="Songti SC"/>
                <a:cs typeface="Songti SC"/>
                <a:sym typeface="Songti SC"/>
              </a:rPr>
              <a:t>ema20 MA20 </a:t>
            </a:r>
            <a:r>
              <a:rPr lang="zh-CN" altLang="en-US" sz="3200" dirty="0">
                <a:solidFill>
                  <a:srgbClr val="FF0000"/>
                </a:solidFill>
                <a:latin typeface="Songti SC"/>
                <a:ea typeface="Songti SC"/>
                <a:cs typeface="Songti SC"/>
                <a:sym typeface="Songti SC"/>
              </a:rPr>
              <a:t>作为入场，离场过滤器</a:t>
            </a:r>
            <a:endParaRPr lang="en-US" altLang="zh-CN" sz="3200" b="0" i="0" u="none" strike="noStrike" dirty="0">
              <a:solidFill>
                <a:srgbClr val="FF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7B0ABF58-8C0F-E64C-0C2D-633AA920521E}"/>
              </a:ext>
            </a:extLst>
          </p:cNvPr>
          <p:cNvSpPr/>
          <p:nvPr/>
        </p:nvSpPr>
        <p:spPr>
          <a:xfrm>
            <a:off x="0" y="5334000"/>
            <a:ext cx="9144000" cy="762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0650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762CC-FAD9-86CE-6F2B-EBFA44DD6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2705A9E-06F4-0F5F-84D9-F0DC356DA348}"/>
              </a:ext>
            </a:extLst>
          </p:cNvPr>
          <p:cNvSpPr/>
          <p:nvPr/>
        </p:nvSpPr>
        <p:spPr>
          <a:xfrm>
            <a:off x="457200" y="1778000"/>
            <a:ext cx="8229600" cy="1397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72FEC09-848B-4A9F-2478-05176DFF0BBA}"/>
              </a:ext>
            </a:extLst>
          </p:cNvPr>
          <p:cNvSpPr/>
          <p:nvPr/>
        </p:nvSpPr>
        <p:spPr>
          <a:xfrm>
            <a:off x="670560" y="3545840"/>
            <a:ext cx="8229600" cy="88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  <a:latin typeface="Songti SC"/>
                <a:ea typeface="Songti SC"/>
                <a:cs typeface="Songti SC"/>
                <a:sym typeface="Songti SC"/>
              </a:rPr>
              <a:t>短板：滞后性，反转信号出现时，行情走了一段，买不到最低，卖不到最高</a:t>
            </a:r>
            <a:endParaRPr lang="en-US" altLang="zh-CN" sz="3200" dirty="0">
              <a:solidFill>
                <a:srgbClr val="FF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b="0" i="0" u="none" strike="noStrike" dirty="0">
                <a:solidFill>
                  <a:srgbClr val="FF0000"/>
                </a:solidFill>
                <a:latin typeface="Songti SC"/>
                <a:ea typeface="Songti SC"/>
                <a:cs typeface="Songti SC"/>
                <a:sym typeface="Songti SC"/>
              </a:rPr>
              <a:t>只适合趋势行情，震荡市频繁出现假信号</a:t>
            </a:r>
            <a:endParaRPr lang="en-US" altLang="zh-CN" sz="3200" b="0" i="0" u="none" strike="noStrike" dirty="0">
              <a:solidFill>
                <a:srgbClr val="FF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  <a:latin typeface="Songti SC"/>
                <a:ea typeface="Songti SC"/>
                <a:cs typeface="Songti SC"/>
                <a:sym typeface="Songti SC"/>
              </a:rPr>
              <a:t>无法测算目标价格（搭配斐波那契）</a:t>
            </a:r>
            <a:endParaRPr lang="en-US" altLang="zh-CN" sz="3200" b="0" i="0" u="none" strike="noStrike" dirty="0">
              <a:solidFill>
                <a:srgbClr val="FF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096BB9E3-8C3D-E384-A528-B97631F8F216}"/>
              </a:ext>
            </a:extLst>
          </p:cNvPr>
          <p:cNvSpPr/>
          <p:nvPr/>
        </p:nvSpPr>
        <p:spPr>
          <a:xfrm>
            <a:off x="0" y="5334000"/>
            <a:ext cx="9144000" cy="762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165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6A30D-A8F6-CD16-CCDE-505F626FF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6B85DA1-CC3C-FA43-8442-CFAEB5E8E412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道氏理论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市场包含一切信息（政策 业绩 资金 情绪）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看趋势比听消息靠谱</a:t>
            </a:r>
            <a:r>
              <a:rPr lang="en-US" altLang="zh-CN" sz="3200" dirty="0">
                <a:solidFill>
                  <a:srgbClr val="FF0000"/>
                </a:solidFill>
              </a:rPr>
              <a:t>100</a:t>
            </a:r>
            <a:r>
              <a:rPr lang="zh-CN" altLang="en-US" sz="3200" dirty="0">
                <a:solidFill>
                  <a:srgbClr val="FF0000"/>
                </a:solidFill>
              </a:rPr>
              <a:t>倍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价格永远沿趋势运动，车跑起来不会立刻停，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趋势一旦形成有强大的惯性，不会轻易反转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上涨继续涨，下跌继续跌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历史会不断重演（人性不变，贪婪恐惧不变，走势结构会重演，）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做大趋势，忽略小周期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613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C6295-3895-CB23-33AE-E5B958A63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3FB63A0-6C32-AF14-94BC-9D970FD5B150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牛市 熊市，上涨时高点越来越高，下跌时低点越来越低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主要趋势：</a:t>
            </a:r>
            <a:r>
              <a:rPr lang="en-US" altLang="zh-CN" sz="3200" dirty="0">
                <a:solidFill>
                  <a:srgbClr val="FF0000"/>
                </a:solidFill>
              </a:rPr>
              <a:t>1</a:t>
            </a:r>
            <a:r>
              <a:rPr lang="zh-CN" altLang="en-US" sz="3200" dirty="0">
                <a:solidFill>
                  <a:srgbClr val="FF0000"/>
                </a:solidFill>
              </a:rPr>
              <a:t>年以上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次要趋势：中期回调反弹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牛市大跌，熊市大涨（几周几个月洗盘套人）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短暂趋势，持续几天几周，最容易被操纵，最没意义的波动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8503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E90C5-444D-902A-BB2A-E7B92B331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D993219-19A6-0277-083D-E3EDEF0E5585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趋势要确认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成交量验证趋势，上涨时涨放量，跌缩量，无量趋势走不远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震荡不是反转，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趋势直到信号才结束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不跌破关键点位，不算上涨结束，不突破关键高点，不算下跌结束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796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E5B38-6B4F-5AA8-4F45-72DE7374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58AF413-9CDA-71C7-3B2F-487BEDB0DB3E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只做上升趋势，日线图高点低点都在不断抬高，确认趋势，坚定持股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不猜顶，不</a:t>
            </a:r>
            <a:r>
              <a:rPr lang="zh-CN" altLang="en-US" sz="3200">
                <a:solidFill>
                  <a:srgbClr val="FF0000"/>
                </a:solidFill>
              </a:rPr>
              <a:t>抄底，没有明确反转信号前，切勿主观臆测，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大结构为准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599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3581F-79F5-D34F-697D-12F4A86DB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4ED3208-F24D-7967-FE5A-04A0A225FF18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只做上升趋势，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不猜顶，不抄底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大结构为准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37405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08AA8-5BFD-1B9F-3746-264EFF4BC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9580480-5FC1-2958-1924-6BF0E7A19D7E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顺势，轻波动，等待</a:t>
            </a:r>
            <a:endParaRPr lang="en-US" altLang="zh-CN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0780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52DED-CBF6-CB9E-8C34-CE8DA263C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BCCE85C-65DC-2442-84BA-512B7A251976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3200" dirty="0" err="1">
                <a:solidFill>
                  <a:srgbClr val="FF0000"/>
                </a:solidFill>
              </a:rPr>
              <a:t>Tradingview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9935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5CC06-5C3B-B542-2FFF-67A631F96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4B19025-4B42-C638-F14D-66C104237557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小米 泡泡玛特 存储 英伟达 谷歌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en-US" altLang="zh-CN" sz="3200" dirty="0">
                <a:solidFill>
                  <a:srgbClr val="FF0000"/>
                </a:solidFill>
              </a:rPr>
              <a:t>Smh </a:t>
            </a:r>
            <a:r>
              <a:rPr lang="en-US" altLang="zh-CN" sz="3200" dirty="0" err="1">
                <a:solidFill>
                  <a:srgbClr val="FF0000"/>
                </a:solidFill>
              </a:rPr>
              <a:t>qqq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52112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E5733-42F5-F908-3067-42051528A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D833A40-6E1D-14B3-5C3C-8B5DFC0B09D1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锤子找钉子，有适用场景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4340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349E6-E3CA-C550-D396-2BA0CCED7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8575B65-141D-DAFA-5C9C-64D165875043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六大赚钱方法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4423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BEBA-A1CC-52A6-3886-C0F846B58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BB40E2F-F2AF-9BDA-86B8-F856378D5DE7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3200" dirty="0">
                <a:solidFill>
                  <a:srgbClr val="FF0000"/>
                </a:solidFill>
              </a:rPr>
              <a:t>1.</a:t>
            </a:r>
            <a:r>
              <a:rPr lang="zh-CN" altLang="en-US" sz="3200" dirty="0">
                <a:solidFill>
                  <a:srgbClr val="FF0000"/>
                </a:solidFill>
              </a:rPr>
              <a:t>等大跌 买指数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市场砸出大坑，进场买宽基</a:t>
            </a:r>
            <a:r>
              <a:rPr lang="en-US" altLang="zh-CN" sz="3200" dirty="0" err="1">
                <a:solidFill>
                  <a:srgbClr val="FF0000"/>
                </a:solidFill>
              </a:rPr>
              <a:t>etf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不挑个股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33788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FE93A-339C-E908-3A51-A5C73690E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DAA9535-5E18-DA31-FE6E-60DDCF9A1286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3200" dirty="0">
                <a:solidFill>
                  <a:srgbClr val="FF0000"/>
                </a:solidFill>
              </a:rPr>
              <a:t>2.</a:t>
            </a:r>
            <a:r>
              <a:rPr lang="zh-CN" altLang="en-US" sz="3200" dirty="0">
                <a:solidFill>
                  <a:srgbClr val="FF0000"/>
                </a:solidFill>
              </a:rPr>
              <a:t>盯一两支成长股，来回做</a:t>
            </a:r>
            <a:r>
              <a:rPr lang="en-US" altLang="zh-CN" sz="3200" dirty="0">
                <a:solidFill>
                  <a:srgbClr val="FF0000"/>
                </a:solidFill>
              </a:rPr>
              <a:t>T</a:t>
            </a:r>
            <a:r>
              <a:rPr lang="zh-CN" altLang="en-US" sz="3200" dirty="0">
                <a:solidFill>
                  <a:srgbClr val="FF0000"/>
                </a:solidFill>
              </a:rPr>
              <a:t>，永远留现金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把价格</a:t>
            </a:r>
            <a:r>
              <a:rPr lang="en-US" altLang="zh-CN" sz="3200" dirty="0">
                <a:solidFill>
                  <a:srgbClr val="FF0000"/>
                </a:solidFill>
              </a:rPr>
              <a:t>T</a:t>
            </a:r>
            <a:r>
              <a:rPr lang="zh-CN" altLang="en-US" sz="3200" dirty="0">
                <a:solidFill>
                  <a:srgbClr val="FF0000"/>
                </a:solidFill>
              </a:rPr>
              <a:t>成负数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7813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6EAA4-9691-6688-7CB2-786B1E3FB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9576049-FFB6-3740-4056-0975A9ED617B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3200" dirty="0">
                <a:solidFill>
                  <a:srgbClr val="FF0000"/>
                </a:solidFill>
              </a:rPr>
              <a:t>3.</a:t>
            </a:r>
            <a:r>
              <a:rPr lang="zh-CN" altLang="en-US" sz="3200" dirty="0">
                <a:solidFill>
                  <a:srgbClr val="FF0000"/>
                </a:solidFill>
              </a:rPr>
              <a:t>攒钱吃股息，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茅台，银行，伯克希尔类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80948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BEE25-757C-611F-25C6-959B67540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DFA37DE-BFFF-6FDE-AAA6-1A8C7F384238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3200" dirty="0">
                <a:solidFill>
                  <a:srgbClr val="FF0000"/>
                </a:solidFill>
              </a:rPr>
              <a:t>4.</a:t>
            </a:r>
            <a:r>
              <a:rPr lang="zh-CN" altLang="en-US" sz="3200" dirty="0">
                <a:solidFill>
                  <a:srgbClr val="FF0000"/>
                </a:solidFill>
              </a:rPr>
              <a:t>看懂周期，逆势布局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疯狂时离开，恐慌时进来</a:t>
            </a:r>
            <a:endParaRPr lang="en-US" altLang="zh-CN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19134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854BE-A549-9800-A572-F4D844969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B3D6999-5980-D1B5-288A-0647D06EFBAE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3200" dirty="0">
                <a:solidFill>
                  <a:srgbClr val="FF0000"/>
                </a:solidFill>
              </a:rPr>
              <a:t>5.</a:t>
            </a:r>
            <a:r>
              <a:rPr lang="zh-CN" altLang="en-US" sz="3200" dirty="0">
                <a:solidFill>
                  <a:srgbClr val="FF0000"/>
                </a:solidFill>
              </a:rPr>
              <a:t>价值投资，等好公司打折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数月亮，不数星星，</a:t>
            </a:r>
            <a:endParaRPr lang="en-US" altLang="zh-CN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2016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10BE3-520C-65F5-E2A8-3F686EB10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27BF27F-7927-4ADF-9773-95CBDB080417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3200" dirty="0">
                <a:solidFill>
                  <a:srgbClr val="FF0000"/>
                </a:solidFill>
              </a:rPr>
              <a:t>6.</a:t>
            </a:r>
            <a:r>
              <a:rPr lang="zh-CN" altLang="en-US" sz="3200" dirty="0">
                <a:solidFill>
                  <a:srgbClr val="FF0000"/>
                </a:solidFill>
              </a:rPr>
              <a:t>赚企业成长的钱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业绩，护城河，商业模式稳步增长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当年的亚马逊，谷歌</a:t>
            </a:r>
            <a:endParaRPr lang="en-US" altLang="zh-CN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52528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2944B-5D51-62F2-5934-888636ABE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D4E0134-1480-5FDA-2260-080C39E88CFF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每条路都行，重点是磨合一条适合自己的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一直走下去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00329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444E2-1B3B-43F9-4C1A-AB1400FA3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29FB7F4-AB99-C5FA-B9B0-A237D79CBFA4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投资是认识自己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876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99374-FF16-0A98-3178-18476370A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5A73801-974D-4CE1-0810-FB52C1F62C32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投资是认识自己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CBBE585-7CBD-B2DC-C1DB-2AA246B51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465" y="0"/>
            <a:ext cx="66550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8020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33738-ACC8-B2E4-475A-D66C04DA7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33ABBD5-96F6-5289-F0EC-F3DF52455B50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你的能力圈，你的贪婪，恐惧，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执念，幻想，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决策习惯，决策漏洞，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89110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6B266-2B1E-FF41-9BFD-8AAAB0175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5C8D93E-781D-9FAA-BC62-D68CB7711453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抽离出来，用上帝视角看自己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叠加，胜率思维，模块化思维，认知欺骗思维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终局推导思维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认识自己的模式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5042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5CC06-5C3B-B542-2FFF-67A631F96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4B19025-4B42-C638-F14D-66C104237557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跌了就买型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做上升趋势型</a:t>
            </a:r>
            <a:endParaRPr lang="en-US" altLang="zh-CN" sz="320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9494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B93BC-072F-A00F-CBEA-1FBE6BCFB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E22C3FF-8FE9-B4B9-6598-E32AEFFB7ADA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交易心理，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研究自己的弱点，性格弱点，什么情况下容易冲动，什么情况容易认怂，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止损，不仅仅是人生纪律，还有投资纪律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犯同一个错误，</a:t>
            </a:r>
            <a:endParaRPr lang="en-US" altLang="zh-CN" sz="320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>
                <a:solidFill>
                  <a:srgbClr val="FF0000"/>
                </a:solidFill>
              </a:rPr>
              <a:t>认知模型</a:t>
            </a:r>
            <a:r>
              <a:rPr lang="zh-CN" altLang="en-US" sz="3200" dirty="0">
                <a:solidFill>
                  <a:srgbClr val="FF0000"/>
                </a:solidFill>
              </a:rPr>
              <a:t>出错，需要打破，重新来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8214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DD2A5-D70D-2345-5915-4DB84B393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93C98DC-DF6C-4459-F0C7-44E29D442180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顶是尖的，底是平的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en-US" altLang="zh-CN" sz="3200" dirty="0" err="1">
                <a:solidFill>
                  <a:srgbClr val="FF0000"/>
                </a:solidFill>
              </a:rPr>
              <a:t>Btc</a:t>
            </a:r>
            <a:r>
              <a:rPr lang="en-US" altLang="zh-CN" sz="3200" dirty="0">
                <a:solidFill>
                  <a:srgbClr val="FF0000"/>
                </a:solidFill>
              </a:rPr>
              <a:t> </a:t>
            </a:r>
            <a:r>
              <a:rPr lang="zh-CN" altLang="en-US" sz="3200" dirty="0">
                <a:solidFill>
                  <a:srgbClr val="FF0000"/>
                </a:solidFill>
              </a:rPr>
              <a:t>存储 半导体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5235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2B800-D4D4-728D-8EC8-08CB10570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A344E8E-04AB-FB66-6FD3-700F20058C14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概率 </a:t>
            </a:r>
            <a:r>
              <a:rPr lang="en-US" altLang="zh-CN" sz="3200" dirty="0">
                <a:solidFill>
                  <a:srgbClr val="FF0000"/>
                </a:solidFill>
              </a:rPr>
              <a:t>EV </a:t>
            </a: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不确定性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能力圈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34478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378F4-4003-ABFD-060D-49E6DD680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57E99BD-5C50-1136-7450-363357EF106A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新手法则，小量先把系统跑通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上来就身家押上去，必输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8585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BC5CC-4CE3-1B56-C722-4C0CB33F6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E8B3200-F900-D12B-2A83-4B5CCE9A1EE6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做趋势，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6745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4F784-FC45-436D-90BB-3EFF166D9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8A0B3D2-9F5C-D872-E76A-7B9E805F7230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悟道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4355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F362F-805E-B38C-1603-63876D4D7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3593207-8A08-A4A8-8DF1-6D8424A54660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凯利公式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4812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FBDB9-5C2C-EA0A-FA47-F333FE369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6C0145D-81A6-F181-94C2-C31B885F9EC0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均值回归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45526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0CF2B-B099-D4B6-48C2-3594D1720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120F7D1-DBB7-D0BD-0D5D-F2F364F37073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幂次法则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4397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9912F-FE5D-5872-728D-DC9F083A0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570EFC9-9DD3-ACF7-8348-93C042474DE4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贝叶斯定理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5769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2262C-FD1E-9612-01A9-F6E872AC3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C78EBBA-E96A-16D7-2933-38EC5DEBA2D6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博弈论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74286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3445B-0FBB-24DF-065D-4324F193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D6C5E51-BF79-65BF-B195-909ADFA9DEF0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信息熵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3790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C81EF-C9A0-F11D-C0C0-CA9C57BB3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589772F-A5AA-69AB-25DC-B6E80CAAA84C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为什么科技：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大量</a:t>
            </a:r>
            <a:r>
              <a:rPr lang="en-US" altLang="zh-CN" sz="3200" dirty="0">
                <a:solidFill>
                  <a:srgbClr val="FF0000"/>
                </a:solidFill>
              </a:rPr>
              <a:t>10</a:t>
            </a:r>
            <a:r>
              <a:rPr lang="zh-CN" altLang="en-US" sz="3200" dirty="0">
                <a:solidFill>
                  <a:srgbClr val="FF0000"/>
                </a:solidFill>
              </a:rPr>
              <a:t>倍涌现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鱼最多的地方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5C70EEC-C97E-6E9A-7F7C-0B851E58B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202" y="0"/>
            <a:ext cx="44915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815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7E639-C1B6-479A-EDE5-A7AEE2AFE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A437798-A2D7-03BA-0CD0-C1FC81E6BC4E}"/>
              </a:ext>
            </a:extLst>
          </p:cNvPr>
          <p:cNvSpPr/>
          <p:nvPr/>
        </p:nvSpPr>
        <p:spPr>
          <a:xfrm>
            <a:off x="457200" y="1778000"/>
            <a:ext cx="8229600" cy="1397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09BC1FD-9D0F-D174-7F88-A8069C841A16}"/>
              </a:ext>
            </a:extLst>
          </p:cNvPr>
          <p:cNvSpPr/>
          <p:nvPr/>
        </p:nvSpPr>
        <p:spPr>
          <a:xfrm>
            <a:off x="457200" y="3556000"/>
            <a:ext cx="8229600" cy="88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b="0" i="0" u="none" strike="noStrike" dirty="0">
                <a:solidFill>
                  <a:srgbClr val="FF0000"/>
                </a:solidFill>
                <a:latin typeface="Songti SC"/>
                <a:ea typeface="Songti SC"/>
                <a:cs typeface="Songti SC"/>
                <a:sym typeface="Songti SC"/>
              </a:rPr>
              <a:t>比特币 </a:t>
            </a:r>
            <a:r>
              <a:rPr lang="en-US" altLang="zh-CN" sz="3200" b="0" i="0" u="none" strike="noStrike" dirty="0">
                <a:solidFill>
                  <a:srgbClr val="FF0000"/>
                </a:solidFill>
                <a:latin typeface="Songti SC"/>
                <a:ea typeface="Songti SC"/>
                <a:cs typeface="Songti SC"/>
                <a:sym typeface="Songti SC"/>
              </a:rPr>
              <a:t>65</a:t>
            </a:r>
            <a:r>
              <a:rPr lang="zh-CN" altLang="en-US" sz="3200" b="0" i="0" u="none" strike="noStrike" dirty="0">
                <a:solidFill>
                  <a:srgbClr val="FF0000"/>
                </a:solidFill>
                <a:latin typeface="Songti SC"/>
                <a:ea typeface="Songti SC"/>
                <a:cs typeface="Songti SC"/>
                <a:sym typeface="Songti SC"/>
              </a:rPr>
              <a:t>分</a:t>
            </a:r>
            <a:endParaRPr lang="en-US" altLang="zh-CN" sz="3200" b="0" i="0" u="none" strike="noStrike" dirty="0">
              <a:solidFill>
                <a:srgbClr val="FF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en-US" altLang="zh-CN" sz="3200" dirty="0">
                <a:solidFill>
                  <a:srgbClr val="FF0000"/>
                </a:solidFill>
                <a:latin typeface="Songti SC"/>
                <a:sym typeface="Songti SC"/>
              </a:rPr>
              <a:t>Circle </a:t>
            </a:r>
            <a:r>
              <a:rPr lang="en-US" altLang="zh-CN" sz="3200" dirty="0" err="1">
                <a:solidFill>
                  <a:srgbClr val="FF0000"/>
                </a:solidFill>
                <a:latin typeface="Songti SC"/>
                <a:sym typeface="Songti SC"/>
              </a:rPr>
              <a:t>mstr</a:t>
            </a:r>
            <a:r>
              <a:rPr lang="en-US" altLang="zh-CN" sz="3200" dirty="0">
                <a:solidFill>
                  <a:srgbClr val="FF0000"/>
                </a:solidFill>
                <a:latin typeface="Songti SC"/>
                <a:sym typeface="Songti SC"/>
              </a:rPr>
              <a:t> 65</a:t>
            </a:r>
            <a:r>
              <a:rPr lang="zh-CN" altLang="en-US" sz="3200" dirty="0">
                <a:solidFill>
                  <a:srgbClr val="FF0000"/>
                </a:solidFill>
                <a:latin typeface="Songti SC"/>
                <a:sym typeface="Songti SC"/>
              </a:rPr>
              <a:t>分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83B8F7B4-46CA-E84E-AE0E-6412F91A39F5}"/>
              </a:ext>
            </a:extLst>
          </p:cNvPr>
          <p:cNvSpPr/>
          <p:nvPr/>
        </p:nvSpPr>
        <p:spPr>
          <a:xfrm>
            <a:off x="0" y="5334000"/>
            <a:ext cx="9144000" cy="762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3426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86CD4-FFE9-EF68-97BD-72A73F72D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311FF9B-CAAB-D3EE-7657-875A47BB2D31}"/>
              </a:ext>
            </a:extLst>
          </p:cNvPr>
          <p:cNvSpPr/>
          <p:nvPr/>
        </p:nvSpPr>
        <p:spPr>
          <a:xfrm>
            <a:off x="325120" y="2286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风险：</a:t>
            </a:r>
            <a:r>
              <a:rPr lang="en-US" altLang="zh-CN" sz="3200" dirty="0">
                <a:solidFill>
                  <a:srgbClr val="FF0000"/>
                </a:solidFill>
              </a:rPr>
              <a:t>AI </a:t>
            </a:r>
            <a:r>
              <a:rPr lang="zh-CN" altLang="en-US" sz="3200" dirty="0">
                <a:solidFill>
                  <a:srgbClr val="FF0000"/>
                </a:solidFill>
              </a:rPr>
              <a:t>崩塌，新技术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中国突破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需求消失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没有永远涨的资产</a:t>
            </a:r>
            <a:endParaRPr lang="en-US" altLang="zh-CN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24200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25D72-B6B9-64BE-33BC-6BDE745FF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F870807-6A0E-529F-1DC9-06FB7DAF991A}"/>
              </a:ext>
            </a:extLst>
          </p:cNvPr>
          <p:cNvSpPr/>
          <p:nvPr/>
        </p:nvSpPr>
        <p:spPr>
          <a:xfrm>
            <a:off x="0" y="1651000"/>
            <a:ext cx="9144000" cy="1397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5561D70-A73A-7BC6-D023-1F9B3CF9AD1D}"/>
              </a:ext>
            </a:extLst>
          </p:cNvPr>
          <p:cNvSpPr/>
          <p:nvPr/>
        </p:nvSpPr>
        <p:spPr>
          <a:xfrm>
            <a:off x="0" y="3429000"/>
            <a:ext cx="9144000" cy="152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Calibri"/>
                <a:cs typeface="Calibri"/>
                <a:sym typeface="Calibri"/>
              </a:rPr>
              <a:t>美光 英伟达</a:t>
            </a:r>
            <a:endParaRPr lang="en-US" altLang="zh-CN" sz="3200" b="1" dirty="0">
              <a:solidFill>
                <a:srgbClr val="FF0000"/>
              </a:solidFill>
              <a:latin typeface="Calibri"/>
              <a:cs typeface="Calibri"/>
              <a:sym typeface="Calibri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3200">
                <a:solidFill>
                  <a:srgbClr val="FF0000"/>
                </a:solidFill>
              </a:rPr>
              <a:t>处在什么位置？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B27DB114-C861-347B-446A-93F4FF6604F2}"/>
              </a:ext>
            </a:extLst>
          </p:cNvPr>
          <p:cNvSpPr/>
          <p:nvPr/>
        </p:nvSpPr>
        <p:spPr>
          <a:xfrm>
            <a:off x="0" y="5461000"/>
            <a:ext cx="9144000" cy="88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欢迎大家提问交流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5996295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6EC69-AC30-A18D-52D9-55489FD5E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1A1576E-0D68-D353-A5DB-362A7D58B94B}"/>
              </a:ext>
            </a:extLst>
          </p:cNvPr>
          <p:cNvSpPr/>
          <p:nvPr/>
        </p:nvSpPr>
        <p:spPr>
          <a:xfrm>
            <a:off x="0" y="1651000"/>
            <a:ext cx="9144000" cy="1397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5B3AE60-56BB-14BA-7142-F3E82EF83275}"/>
              </a:ext>
            </a:extLst>
          </p:cNvPr>
          <p:cNvSpPr/>
          <p:nvPr/>
        </p:nvSpPr>
        <p:spPr>
          <a:xfrm>
            <a:off x="0" y="3429000"/>
            <a:ext cx="9144000" cy="152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 &amp; A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CBF406E0-10C5-89E3-0742-816CB6C9B615}"/>
              </a:ext>
            </a:extLst>
          </p:cNvPr>
          <p:cNvSpPr/>
          <p:nvPr/>
        </p:nvSpPr>
        <p:spPr>
          <a:xfrm>
            <a:off x="0" y="5461000"/>
            <a:ext cx="9144000" cy="88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欢迎大家提问交流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8562735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57200" y="3810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FFD700"/>
                </a:solidFill>
                <a:latin typeface="微软雅黑"/>
                <a:ea typeface="微软雅黑"/>
                <a:sym typeface="微软雅黑"/>
              </a:rPr>
              <a:t>听到 听懂 听对 做到 分享 迭代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457200" y="1778000"/>
            <a:ext cx="8229600" cy="914400"/>
          </a:xfrm>
          <a:prstGeom prst="roundRect">
            <a:avLst>
              <a:gd name="adj" fmla="val 11111"/>
            </a:avLst>
          </a:prstGeom>
          <a:solidFill>
            <a:srgbClr val="1E1E1E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19812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930400"/>
            <a:ext cx="6731000" cy="609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AI</a:t>
            </a:r>
            <a:r>
              <a:rPr lang="en-US" sz="19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zh-CN" altLang="en-US" sz="1600" b="1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微软雅黑"/>
                <a:sym typeface="Noto Sans SC"/>
              </a:rPr>
              <a:t>进展到哪一步了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3112678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57200" y="2794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FF0000"/>
                </a:solidFill>
                <a:latin typeface="Songti SC"/>
                <a:ea typeface="Songti SC"/>
                <a:cs typeface="Songti SC"/>
                <a:sym typeface="Songti SC"/>
              </a:rPr>
              <a:t>社群使用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71500" y="1905000"/>
            <a:ext cx="2667000" cy="4191000"/>
          </a:xfrm>
          <a:prstGeom prst="roundRect">
            <a:avLst>
              <a:gd name="adj" fmla="val 0"/>
            </a:avLst>
          </a:prstGeom>
          <a:solidFill>
            <a:srgbClr val="1E1E1E">
              <a:alpha val="100000"/>
            </a:srgbClr>
          </a:solidFill>
          <a:ln w="12700" cap="flat" cmpd="sng">
            <a:solidFill>
              <a:srgbClr val="FFD7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98500" y="2159000"/>
            <a:ext cx="2413000" cy="368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zh-CN" altLang="en-US" sz="2000" b="1" dirty="0">
                <a:solidFill>
                  <a:srgbClr val="FFD700"/>
                </a:solidFill>
                <a:latin typeface="微软雅黑"/>
                <a:ea typeface="微软雅黑"/>
                <a:sym typeface="微软雅黑"/>
              </a:rPr>
              <a:t>趋势指南</a:t>
            </a:r>
            <a:endParaRPr lang="en-US" sz="1100" dirty="0"/>
          </a:p>
          <a:p>
            <a:pPr indent="0" algn="ctr">
              <a:lnSpc>
                <a:spcPct val="125000"/>
              </a:lnSpc>
              <a:spcBef>
                <a:spcPts val="2500"/>
              </a:spcBef>
            </a:pPr>
            <a:r>
              <a:rPr lang="zh-CN" altLang="en-US" sz="1600" b="0" i="0" u="none" strike="noStrike" dirty="0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价值</a:t>
            </a:r>
            <a:endParaRPr lang="en-US" altLang="zh-CN" sz="1600" b="0" i="0" u="none" strike="noStrike" dirty="0">
              <a:solidFill>
                <a:srgbClr val="E6E6E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spcBef>
                <a:spcPts val="2500"/>
              </a:spcBef>
            </a:pPr>
            <a:r>
              <a:rPr lang="zh-CN" altLang="en-US" sz="1600" dirty="0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价格</a:t>
            </a:r>
            <a:endParaRPr lang="en-US" altLang="zh-CN" sz="1600" dirty="0">
              <a:solidFill>
                <a:srgbClr val="E6E6E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spcBef>
                <a:spcPts val="2500"/>
              </a:spcBef>
            </a:pPr>
            <a:r>
              <a:rPr lang="zh-CN" altLang="en-US" sz="1600" b="0" i="0" u="none" strike="noStrike" dirty="0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趋势</a:t>
            </a:r>
            <a:endParaRPr lang="en-US" altLang="zh-CN" sz="1600" b="0" i="0" u="none" strike="noStrike" dirty="0">
              <a:solidFill>
                <a:srgbClr val="E6E6E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spcBef>
                <a:spcPts val="2500"/>
              </a:spcBef>
            </a:pPr>
            <a:r>
              <a:rPr lang="zh-CN" altLang="en-US" sz="1600" dirty="0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仓位</a:t>
            </a:r>
            <a:endParaRPr lang="en-US" sz="1600" b="0" i="0" u="none" strike="noStrike" dirty="0">
              <a:solidFill>
                <a:srgbClr val="E6E6E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3556000" y="1905000"/>
            <a:ext cx="2667000" cy="4191000"/>
          </a:xfrm>
          <a:prstGeom prst="roundRect">
            <a:avLst>
              <a:gd name="adj" fmla="val 0"/>
            </a:avLst>
          </a:prstGeom>
          <a:solidFill>
            <a:srgbClr val="1E1E1E">
              <a:alpha val="100000"/>
            </a:srgbClr>
          </a:solidFill>
          <a:ln w="12700" cap="flat" cmpd="sng">
            <a:solidFill>
              <a:srgbClr val="FFD7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3683000" y="2159000"/>
            <a:ext cx="2413000" cy="368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zh-CN" altLang="en-US" sz="2000" b="1" dirty="0">
                <a:solidFill>
                  <a:srgbClr val="FFD700"/>
                </a:solidFill>
                <a:latin typeface="微软雅黑"/>
                <a:ea typeface="微软雅黑"/>
                <a:cs typeface="微软雅黑"/>
                <a:sym typeface="微软雅黑"/>
              </a:rPr>
              <a:t>投资认知，系统框架</a:t>
            </a:r>
            <a:endParaRPr lang="en-US" sz="1100" dirty="0"/>
          </a:p>
          <a:p>
            <a:pPr indent="0" algn="ctr">
              <a:lnSpc>
                <a:spcPct val="125000"/>
              </a:lnSpc>
              <a:spcBef>
                <a:spcPts val="2500"/>
              </a:spcBef>
            </a:pPr>
            <a:r>
              <a:rPr lang="zh-CN" altLang="en-US" sz="1600" b="0" i="0" u="none" strike="noStrike" dirty="0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大猩猩投资</a:t>
            </a:r>
            <a:endParaRPr lang="en-US" altLang="zh-CN" sz="1600" b="0" i="0" u="none" strike="noStrike" dirty="0">
              <a:solidFill>
                <a:srgbClr val="E6E6E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spcBef>
                <a:spcPts val="2500"/>
              </a:spcBef>
            </a:pPr>
            <a:r>
              <a:rPr lang="zh-CN" altLang="en-US" sz="1600" dirty="0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主流叙事</a:t>
            </a:r>
            <a:endParaRPr lang="en-US" altLang="zh-CN" sz="1600" dirty="0">
              <a:solidFill>
                <a:srgbClr val="E6E6E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spcBef>
                <a:spcPts val="2500"/>
              </a:spcBef>
            </a:pPr>
            <a:r>
              <a:rPr lang="zh-CN" altLang="en-US" sz="1600" dirty="0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时间</a:t>
            </a:r>
            <a:endParaRPr lang="en-US" altLang="zh-CN" sz="1600" dirty="0">
              <a:solidFill>
                <a:srgbClr val="E6E6E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spcBef>
                <a:spcPts val="2500"/>
              </a:spcBef>
            </a:pPr>
            <a:r>
              <a:rPr lang="zh-CN" altLang="en-US" sz="1600" b="0" i="0" u="none" strike="noStrike" dirty="0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迭代</a:t>
            </a:r>
            <a:endParaRPr lang="en-US" sz="1600" b="0" i="0" u="none" strike="noStrike" dirty="0">
              <a:solidFill>
                <a:srgbClr val="E6E6E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540500" y="1905000"/>
            <a:ext cx="2667000" cy="4191000"/>
          </a:xfrm>
          <a:prstGeom prst="roundRect">
            <a:avLst>
              <a:gd name="adj" fmla="val 0"/>
            </a:avLst>
          </a:prstGeom>
          <a:solidFill>
            <a:srgbClr val="1E1E1E">
              <a:alpha val="100000"/>
            </a:srgbClr>
          </a:solidFill>
          <a:ln w="12700" cap="flat" cmpd="sng">
            <a:solidFill>
              <a:srgbClr val="FFD7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667500" y="2159000"/>
            <a:ext cx="2413000" cy="368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zh-CN" altLang="en-US" sz="2000" b="1" dirty="0">
                <a:solidFill>
                  <a:srgbClr val="FFD700"/>
                </a:solidFill>
                <a:latin typeface="微软雅黑"/>
                <a:ea typeface="微软雅黑"/>
                <a:sym typeface="微软雅黑"/>
              </a:rPr>
              <a:t>风险提示</a:t>
            </a:r>
            <a:endParaRPr lang="en-US" sz="1100" dirty="0"/>
          </a:p>
          <a:p>
            <a:pPr indent="0" algn="ctr">
              <a:lnSpc>
                <a:spcPct val="125000"/>
              </a:lnSpc>
              <a:spcBef>
                <a:spcPts val="2500"/>
              </a:spcBef>
            </a:pPr>
            <a:r>
              <a:rPr lang="zh-CN" altLang="en-US" sz="1600" b="0" i="0" u="none" strike="noStrike" dirty="0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心态</a:t>
            </a:r>
            <a:endParaRPr lang="en-US" altLang="zh-CN" sz="1600" b="0" i="0" u="none" strike="noStrike" dirty="0">
              <a:solidFill>
                <a:srgbClr val="E6E6E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spcBef>
                <a:spcPts val="2500"/>
              </a:spcBef>
            </a:pPr>
            <a:r>
              <a:rPr lang="zh-CN" altLang="en-US" sz="1600" dirty="0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认知</a:t>
            </a:r>
            <a:r>
              <a:rPr lang="en-US" altLang="zh-CN" sz="1600" dirty="0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(18</a:t>
            </a:r>
            <a:r>
              <a:rPr lang="zh-CN" altLang="en-US" sz="1600" dirty="0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年</a:t>
            </a:r>
            <a:r>
              <a:rPr lang="en-US" altLang="zh-CN" sz="1600" dirty="0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</a:p>
          <a:p>
            <a:pPr indent="0" algn="ctr">
              <a:lnSpc>
                <a:spcPct val="125000"/>
              </a:lnSpc>
              <a:spcBef>
                <a:spcPts val="2500"/>
              </a:spcBef>
            </a:pPr>
            <a:r>
              <a:rPr lang="zh-CN" altLang="en-US" sz="1600" b="0" i="0" u="none" strike="noStrike" dirty="0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拼持仓心态</a:t>
            </a:r>
            <a:endParaRPr lang="en-US" altLang="zh-CN" sz="1600" b="0" i="0" u="none" strike="noStrike" dirty="0">
              <a:solidFill>
                <a:srgbClr val="E6E6E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spcBef>
                <a:spcPts val="2500"/>
              </a:spcBef>
            </a:pPr>
            <a:r>
              <a:rPr lang="zh-CN" altLang="en-US" sz="1600" dirty="0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配置</a:t>
            </a:r>
            <a:endParaRPr lang="en-US" sz="1600" b="0" i="0" u="none" strike="noStrike" dirty="0">
              <a:solidFill>
                <a:srgbClr val="E6E6E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3987552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23314</TotalTime>
  <Words>1298</Words>
  <Application>Microsoft Office PowerPoint</Application>
  <PresentationFormat>全屏显示(4:3)</PresentationFormat>
  <Paragraphs>265</Paragraphs>
  <Slides>56</Slides>
  <Notes>56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56</vt:i4>
      </vt:variant>
    </vt:vector>
  </HeadingPairs>
  <TitlesOfParts>
    <vt:vector size="63" baseType="lpstr">
      <vt:lpstr>Noto Sans SC</vt:lpstr>
      <vt:lpstr>Songti SC</vt:lpstr>
      <vt:lpstr>微软雅黑</vt:lpstr>
      <vt:lpstr>Arial</vt:lpstr>
      <vt:lpstr>Calibri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67233</dc:creator>
  <cp:lastModifiedBy>baoming zhao</cp:lastModifiedBy>
  <cp:revision>348</cp:revision>
  <dcterms:modified xsi:type="dcterms:W3CDTF">2026-08-08T06:50:44Z</dcterms:modified>
</cp:coreProperties>
</file>